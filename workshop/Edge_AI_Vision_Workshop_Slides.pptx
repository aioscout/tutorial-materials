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WORKSHOP · EDGE AI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8595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classification on a microcontroller.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3566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lesson trains an image classifier without programming and runs it live on the ESP32-P4, using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road-sign recognition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 the worked example. The project session that follows applies the same workflow to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 recognizer (0–9)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120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45-MIN LESSON + 90-MIN PROJECT · ESP32-P4 · CNN · TENSORFLOW LITE MICRO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PLAN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structure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11057839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721461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Lesson (this deck)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Concepts of edge-AI image classification, followed by a live road-sign training demonstration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(lab manual)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Teams build a digit recognizer: collect, train, deploy, evaluate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team's model is evaluated on 10 unseen digits written by another team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82296" marB="82296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937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PREREQUISITE — PRE-LAB MANUAL COMPLETED: SOFTWARE INSTALLED AND SELF-CHECK PASSED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recognition on the playfield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AIoScout playfield, the robot car encounters road signs: turn left, turn right, stop. A line follower can track a line — but interpreting what a sign says requires a different kind of program.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central problem of this workshop: distinguishing a left arrow from a right arrow, reliably and in real time, on a processor with kilobytes of memory.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49440" y="146304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60934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VS. DECISION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50608" y="184708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 answer "how far"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50608" y="219456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Ultrasonic and IR sensors measure the world, but they cannot read symbols. Camera images carry more information — and are harder to interpret.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388620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403250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AI RUNS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50608" y="427024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car, not the cloud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50608" y="461772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network and no round trip: the camera and the decision operate on one chip. This is edge AI.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vs. learning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6035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conventional program follows rules written by a programmer. Rules for "this pixel pattern is a left arrow" must cover every distance, angle, lighting condition, and shadow — an impractical task by hand.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inverts this arrangement: labeled examples — images with the correct answer attached — are provided, and the computer derives the rules itself. This process is training.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a confidence per class — "sign: 92% · wall: 5% · floor: 3%".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949440" y="146304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1F1F0"/>
          </a:solidFill>
          <a:ln w="12700">
            <a:solidFill>
              <a:srgbClr val="F1F1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60934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PROGRAMMING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50608" y="184708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+ data → answers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50608" y="219456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for LEDs and motors; inadequate for variable real-world images.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388620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1F1F0"/>
          </a:solidFill>
          <a:ln w="12700">
            <a:solidFill>
              <a:srgbClr val="F1F1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403250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50608" y="427024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+ answers → rules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50608" y="461772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derives the rules; the collected data determines their quality.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process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is shown thousands of samples — small images, each labeled with its class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every batch, the network adjusts its weights to reduce its errors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 pass over the dataset is an epoch; training runs many epochs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held-out portion of the data (the validation split) is used to evaluate the model on images not used in 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5120640"/>
            <a:ext cx="5943600" cy="685800"/>
          </a:xfrm>
          <a:prstGeom prst="rect">
            <a:avLst/>
          </a:prstGeom>
          <a:solidFill>
            <a:srgbClr val="F58331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idea — </a:t>
            </a:r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quality determines model quality, before any hyperparameter takes effect.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463040"/>
            <a:ext cx="466344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D8D9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0608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OUTPUT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50608" y="184708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confidence per class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50608" y="2286000"/>
            <a:ext cx="4261104" cy="1234440"/>
          </a:xfrm>
          <a:prstGeom prst="rect">
            <a:avLst/>
          </a:prstGeom>
          <a:solidFill>
            <a:srgbClr val="F9F9F8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arrow    91%   ███ top class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arrow    7%   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          2%   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50608" y="374904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car acts on the highest-scoring class; the goal is a clear margin between the top class and the rest.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Convolutional neural networks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Convolutional Neural Network is a stack of small feature detectors. Early layers detect edges and blobs; deeper layers combine them into shapes; the final layer converts shapes into class confidences.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288036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are the detectors; more filters detect more patterns at the cost of a larger model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units form the decision layer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these values is a hyperparameter set in the application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463040"/>
            <a:ext cx="4663440" cy="4343400"/>
          </a:xfrm>
          <a:prstGeom prst="roundRect">
            <a:avLst>
              <a:gd name="adj" fmla="val 1263"/>
            </a:avLst>
          </a:prstGeom>
          <a:solidFill>
            <a:srgbClr val="F1F1F0"/>
          </a:solidFill>
          <a:ln w="12700">
            <a:solidFill>
              <a:srgbClr val="F1F1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0608" y="160934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ARCHITECTURE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50608" y="1920240"/>
            <a:ext cx="4261104" cy="31089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762" tIns="762" rIns="762" bIns="762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96×96 grayscale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Conv1 — 8 filters    // edges, blobs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Conv2 — 16 filters   // shapes, strokes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 — 32 units     // decisions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↓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 per class // left / right / stop…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50608" y="5120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by the standards of AI systems — the size a microcontroller can execute in real time.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AI: the runtime stack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943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to int8 — 1 byte per number instead of 4: ~4× smaller and faster, negligible accuracy cost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 Lite Micro — runtime for microcontrollers; the core fits in 16 KB, no OS needed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ESP32-P4 — dual-core SoC with camera support, programmed via Arduino IDE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exported model is a C array compiled into the firmware; no network is involved at runtime.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949440" y="146304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50608" y="160934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150608" y="184708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TFLiteTraining app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150608" y="219456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 in one window — collect, preprocess, train, preview, export — and the same application used in the project.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49440" y="388620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0608" y="403250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150608" y="427024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steps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150608" y="461772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→ Preprocess → Train → Preview → Export → Deploy. Every step of this workshop maps onto these six.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samples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class per object to recognize — for example "left", "right", "stop"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samples per class, with counts approximately equal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 distance, angle, position in frame, and lighting while capturing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from the same camera the model will use — the board's camera, not the laptop's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blurry or accidental captures; they degrade the dataset</a:t>
            </a:r>
            <a:endParaRPr lang="en-US" sz="1250" dirty="0"/>
          </a:p>
        </p:txBody>
      </p:sp>
      <p:pic>
        <p:nvPicPr>
          <p:cNvPr id="7" name="Image 0" descr="/tmp/pptx_assets/img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33925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554480"/>
            <a:ext cx="5212080" cy="3392590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502022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· HOLD-TO-CAPTURE · GEAR SETTINGS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Preprocessing: cropping and thresholding</a:t>
            </a:r>
            <a:endParaRPr lang="en-US" sz="2700" dirty="0"/>
          </a:p>
        </p:txBody>
      </p:sp>
      <p:pic>
        <p:nvPicPr>
          <p:cNvPr id="6" name="Image 0" descr="/tmp/pptx_assets/im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5212080" cy="33878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1554480"/>
            <a:ext cx="5212080" cy="3387852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50154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PAGE · VIEWER + WORKTABLE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309360" y="182880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— the crop box; only this region reaches the model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Thr — darker pixels become pure white (removes shadows and background)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 Thr — brighter pixels become pure white (removes glare)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mode crops the darkest region automatically; Manual ROI positions the crop box manually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S to save; unsaved preprocessing is discarded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309360" y="5120640"/>
            <a:ext cx="5303520" cy="685800"/>
          </a:xfrm>
          <a:prstGeom prst="rect">
            <a:avLst/>
          </a:prstGeom>
          <a:solidFill>
            <a:srgbClr val="F58331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 — </a:t>
            </a:r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 appears black and the background white; everything else is noise.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914400"/>
                <a:gridCol w="3749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Effect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 size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 versus speed (96 / 160 / 384)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size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Samples per update; larger values train faster and use more 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Epochs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Passes over the data; excessive values cause overfitting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split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Fraction held out for validation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 size; higher values converge faster but unstably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Conv1 / Conv2 filters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/ 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detectors per layer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Dense units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Decision-layer neurons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F1F1F0"/>
          </a:solidFill>
          <a:ln w="12700">
            <a:solidFill>
              <a:srgbClr val="F1F1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36408" y="192938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DEFAULTS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836408" y="21671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one thing at a time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836408" y="2514600"/>
            <a:ext cx="3575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defaults suit 96×96 grayscale input. In the project, the highest-leverage improvements come from the data, not from these values.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35240" y="3977640"/>
            <a:ext cx="3977640" cy="2011680"/>
          </a:xfrm>
          <a:prstGeom prst="roundRect">
            <a:avLst>
              <a:gd name="adj" fmla="val 2727"/>
            </a:avLst>
          </a:prstGeom>
          <a:solidFill>
            <a:srgbClr val="F1F1F0"/>
          </a:solidFill>
          <a:ln w="12700">
            <a:solidFill>
              <a:srgbClr val="F1F1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36408" y="412394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TRADE-OFF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36408" y="436168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is not automatically better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836408" y="4709160"/>
            <a:ext cx="35753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filters, units, or image size may add accuracy, but always at slower inference. On a microcontroller, inference speed is part of correctness.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and validation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can score highly on every training image and still fail on the first new image it receives: it has memorized rather than learned — like a student who memorizes past papers but cannot answer a new question.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66928" y="320040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Indicator: validation accuracy during training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Prevention: greater variety in samples (angles, lighting) and a moderate epoch count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test: images from outside the team — the method used in the project evaluation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46304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50608" y="160934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50608" y="184708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≈ validation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150608" y="219456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scores track each other upward. The model generalizes.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949440" y="3886200"/>
            <a:ext cx="4663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0608" y="4032504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150608" y="427024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stalls or drops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50608" y="4617720"/>
            <a:ext cx="42611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accuracy keeps rising while held-out performance falls. Stop training, collect more varied data, and retrain.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 · 15 MINUTES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8778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Road-sign recognition, end to end.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66928" y="3657600"/>
            <a:ext cx="1567282" cy="384048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71316"/>
            <a:ext cx="156728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OPEN TEMPLATE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98802" y="3657600"/>
            <a:ext cx="1567282" cy="384048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8802" y="3671316"/>
            <a:ext cx="156728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CAPTURE SIGNS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30675" y="3657600"/>
            <a:ext cx="1342339" cy="384048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0675" y="3671316"/>
            <a:ext cx="1342339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PREPROCESS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537606" y="3657600"/>
            <a:ext cx="967435" cy="384048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7606" y="3671316"/>
            <a:ext cx="96743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TRAIN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69634" y="3657600"/>
            <a:ext cx="1492301" cy="384048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9634" y="3671316"/>
            <a:ext cx="1492301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LIVE PREVIEW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26526" y="3657600"/>
            <a:ext cx="1042416" cy="384048"/>
          </a:xfrm>
          <a:prstGeom prst="roundRect">
            <a:avLst>
              <a:gd name="adj" fmla="val 11905"/>
            </a:avLst>
          </a:prstGeom>
          <a:solidFill>
            <a:srgbClr val="141414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6526" y="3671316"/>
            <a:ext cx="1042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DEPLOY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4572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pipeline is demonstrated once; the project session repeats it with digits.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workspace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Area — collect and preprocess data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Area — hyperparameters and the Train button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Area — live test against the camera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4206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demonstration opens template.tmproj — the same file the project starts from.</a:t>
            </a:r>
            <a:endParaRPr lang="en-US" sz="1250" dirty="0"/>
          </a:p>
        </p:txBody>
      </p:sp>
      <p:pic>
        <p:nvPicPr>
          <p:cNvPr id="8" name="Image 0" descr="/tmp/pptx_assets/img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33925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554480"/>
            <a:ext cx="5212080" cy="3392590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502022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· TRAIN · PREVIEW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Capturing road-sign samples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classes: left arrow · right arrow · stop. Source set to Device — the board's own camera.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7432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 settings stay at defaults: 96×96 · grayscale · 115200 · AA 55 AA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samples per class, counts equal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instructor varies angle and distance while capturing; reproduce this variation in the project</a:t>
            </a:r>
            <a:endParaRPr lang="en-US" sz="1250" dirty="0"/>
          </a:p>
        </p:txBody>
      </p:sp>
      <p:pic>
        <p:nvPicPr>
          <p:cNvPr id="8" name="Image 0" descr="/tmp/pptx_assets/img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339259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554480"/>
            <a:ext cx="5212080" cy="3392590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502022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FROM THE BOARD'S CAMERA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the sign images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Manual ROI boxed tightly around the sign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Thr raised until the wall texture disappears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arrow remains black and the background becomes white; verify several samples with the arrow keys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to save, ESC to exit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5486400" cy="822960"/>
          </a:xfrm>
          <a:prstGeom prst="rect">
            <a:avLst/>
          </a:prstGeom>
          <a:solidFill>
            <a:srgbClr val="F58331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— </a:t>
            </a:r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step takes two minutes and contributes more to accuracy than any hyperparameter change.</a:t>
            </a:r>
            <a:endParaRPr lang="en-US" sz="1150" dirty="0"/>
          </a:p>
        </p:txBody>
      </p:sp>
      <p:pic>
        <p:nvPicPr>
          <p:cNvPr id="8" name="Image 0" descr="/tmp/pptx_assets/img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33878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554480"/>
            <a:ext cx="5212080" cy="3387852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5015484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+ THRESHOLDS ON REAL SAMPLES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everywhere: 96 · grayscale · batch 16 · 20 epochs · lr 0.001 · 8/16 filters · 32 dense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Train Embedded Model; on this dataset, training completes in under a minute</a:t>
            </a:r>
            <a:endParaRPr lang="en-US" sz="130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the validation accuracy as it rises</a:t>
            </a:r>
            <a:endParaRPr lang="en-US" sz="1300" dirty="0"/>
          </a:p>
        </p:txBody>
      </p:sp>
      <p:pic>
        <p:nvPicPr>
          <p:cNvPr id="7" name="Image 0" descr="/tmp/pptx_assets/img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33925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554480"/>
            <a:ext cx="5212080" cy="3392590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502022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PANEL → TRAIN EMBEDDED MODEL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 on unseen input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Gear → source Device + port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Input and present a sign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confidence bar; toggle ROI to inspect exactly what the model receives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a tilted sign, a distant sign, and a partially covered sign; observe how the confidence responds</a:t>
            </a:r>
            <a:endParaRPr lang="en-US" sz="1250" dirty="0"/>
          </a:p>
        </p:txBody>
      </p:sp>
      <p:pic>
        <p:nvPicPr>
          <p:cNvPr id="7" name="Image 0" descr="/tmp/pptx_assets/img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339259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0" y="1554480"/>
            <a:ext cx="5212080" cy="3392590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502022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VIEW · LIVE CONFIDENCE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DEMONSTRATION 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and deployment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828800"/>
            <a:ext cx="5486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model → five files: the quantized weights plus headers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them into the TFLite.ino project folder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IMG_SIZE = 96 (must equal the app's image size)</a:t>
            </a:r>
            <a:endParaRPr lang="en-US" sz="1250" dirty="0"/>
          </a:p>
          <a:p>
            <a:pPr algn="l"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→ Serial Monitor → the board classifies independently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5486400" cy="822960"/>
          </a:xfrm>
          <a:prstGeom prst="rect">
            <a:avLst/>
          </a:prstGeom>
          <a:solidFill>
            <a:srgbClr val="F58331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demonstration — </a:t>
            </a:r>
            <a:pPr indent="0" marL="0">
              <a:buNone/>
            </a:pPr>
            <a:r>
              <a:rPr lang="en-US" sz="11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required for the project has now been shown.</a:t>
            </a:r>
            <a:endParaRPr lang="en-US" sz="1150" dirty="0"/>
          </a:p>
        </p:txBody>
      </p:sp>
      <p:pic>
        <p:nvPicPr>
          <p:cNvPr id="8" name="Image 0" descr="/tmp/pptx_assets/img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5212080" cy="192373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554480"/>
            <a:ext cx="5212080" cy="1923731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3551363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FILES → PROJECT FOLDER</a:t>
            </a:r>
            <a:endParaRPr lang="en-US" sz="800" dirty="0"/>
          </a:p>
        </p:txBody>
      </p:sp>
      <p:pic>
        <p:nvPicPr>
          <p:cNvPr id="11" name="Image 1" descr="/tmp/pptx_assets/img9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057" y="3977640"/>
            <a:ext cx="3653566" cy="23774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180057" y="3977640"/>
            <a:ext cx="3653566" cy="2377440"/>
          </a:xfrm>
          <a:prstGeom prst="rect">
            <a:avLst/>
          </a:prstGeom>
          <a:ln w="12700">
            <a:solidFill>
              <a:srgbClr val="D8D9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180057" y="6428232"/>
            <a:ext cx="36535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RUNNING ON THE ESP32-P4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· CONCEPTS AND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concepts, six steps.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148840"/>
            <a:ext cx="3584448" cy="1920240"/>
          </a:xfrm>
          <a:prstGeom prst="roundRect">
            <a:avLst>
              <a:gd name="adj" fmla="val 2857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951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5328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from examples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89864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data in, learned rules out; training replaces hand-written rules.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2148840"/>
            <a:ext cx="3584448" cy="1920240"/>
          </a:xfrm>
          <a:prstGeom prst="roundRect">
            <a:avLst>
              <a:gd name="adj" fmla="val 2857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22951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35424" y="25328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+ confidence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89864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stack of feature detectors that ends in one score per class.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2148840"/>
            <a:ext cx="3584448" cy="1920240"/>
          </a:xfrm>
          <a:prstGeom prst="roundRect">
            <a:avLst>
              <a:gd name="adj" fmla="val 2857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2951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02752" y="253288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+ int8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02752" y="289864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Quantized models run on-chip in real time via TensorFlow Lite Micro.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251960"/>
            <a:ext cx="3584448" cy="1920240"/>
          </a:xfrm>
          <a:prstGeom prst="roundRect">
            <a:avLst>
              <a:gd name="adj" fmla="val 2857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43982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8096" y="46360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&amp; preprocess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8096" y="50017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Balanced, varied samples; ROI and thresholds clean the noise.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34256" y="4251960"/>
            <a:ext cx="3584448" cy="1920240"/>
          </a:xfrm>
          <a:prstGeom prst="roundRect">
            <a:avLst>
              <a:gd name="adj" fmla="val 2857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43982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35424" y="46360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preview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35424" y="50017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Defaults first; watch validation; test on unseen images.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01584" y="4251960"/>
            <a:ext cx="3584448" cy="1920240"/>
          </a:xfrm>
          <a:prstGeom prst="roundRect">
            <a:avLst>
              <a:gd name="adj" fmla="val 2857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02752" y="43982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02752" y="46360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&amp; deploy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02752" y="500176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files, IMG_SIZE match, upload — the model runs on the board.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· 90 MINUTES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a digit recognizer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66928" y="17830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task: train a model that recognizes handwritten digits 0–9 presented on paper and runs live on the ESP32-P4.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6675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8716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 on the board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inference via Serial Monitor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 on unseen digits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8 of 10 correct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Written by another team — never seen in training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improvement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 prepared to explain one change made and its observed effect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4008" marR="64008" marT="54864" marB="54864" anchor="ctr">
                    <a:lnL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9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35240" y="173736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F1F1F0"/>
          </a:solidFill>
          <a:ln w="12700">
            <a:solidFill>
              <a:srgbClr val="F1F1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36408" y="188366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PROVIDED MATERIALS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36408" y="212140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and manual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836408" y="2468880"/>
            <a:ext cx="3575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car (ESP32-P4 + camera), map, road-sign stand with 3 signs, USB-C cable, batteries ×2, markers and paper — and the lab manual (Parts A–H).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635240" y="4069080"/>
            <a:ext cx="3977640" cy="1920240"/>
          </a:xfrm>
          <a:prstGeom prst="roundRect">
            <a:avLst>
              <a:gd name="adj" fmla="val 2857"/>
            </a:avLst>
          </a:prstGeom>
          <a:solidFill>
            <a:srgbClr val="F1F1F0"/>
          </a:solidFill>
          <a:ln w="12700">
            <a:solidFill>
              <a:srgbClr val="F1F1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36408" y="4215384"/>
            <a:ext cx="3575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836408" y="4453128"/>
            <a:ext cx="3575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four digits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836408" y="4800600"/>
            <a:ext cx="3575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digits 1, 2, 3 and 7 (the most confusable); four reliable classes outperform ten unreliable ones. Add classes if time allows.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5029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5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· DATA PREPARATION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822960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Data-collection guidelines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66928" y="17830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929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01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21671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Bold, large digits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2514600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cm tall with bold strokes; thin pen lines disappear at 96×96 grayscale.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4136" y="17830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1929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02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75304" y="21671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from the board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75304" y="2514600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Device rather than the webcam; train on images from the camera that will run the model.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7830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929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03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382512" y="21671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counts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82512" y="2514600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30–50 per class, balanced; an unbalanced dataset biases the model toward the largest class.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88552" y="178308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1929384"/>
            <a:ext cx="22494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04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189720" y="2167128"/>
            <a:ext cx="2249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test data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89720" y="2514600"/>
            <a:ext cx="2249424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evaluation uses another team's handwriting; include handwriting from every team member in the training data.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4800600"/>
            <a:ext cx="11057839" cy="731520"/>
          </a:xfrm>
          <a:prstGeom prst="rect">
            <a:avLst/>
          </a:prstGeom>
          <a:solidFill>
            <a:srgbClr val="F58331"/>
          </a:solidFill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 05 — </a:t>
            </a:r>
            <a:pPr indent="0" marL="0">
              <a:buNone/>
            </a:pPr>
            <a:r>
              <a:rPr lang="en-US" sz="1250" dirty="0">
                <a:solidFill>
                  <a:srgbClr val="52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iterate: train, test, correct the data, retrain. Two or three iterations are a normal part of the process.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739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AIOSCOUT · EDGE AI VISION WORKSHOP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0527487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566928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8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THE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lab manual and begin with Part 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66928" y="2651760"/>
            <a:ext cx="3584448" cy="2286000"/>
          </a:xfrm>
          <a:prstGeom prst="roundRect">
            <a:avLst>
              <a:gd name="adj" fmla="val 24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816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8096" y="3072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Pre-lab manual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68096" y="3474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before the session.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34256" y="2651760"/>
            <a:ext cx="3584448" cy="2286000"/>
          </a:xfrm>
          <a:prstGeom prst="roundRect">
            <a:avLst>
              <a:gd name="adj" fmla="val 24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2816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35424" y="3072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manual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3474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A–H: collect, preprocess, train, test, deploy, evaluate, extend.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01584" y="2651760"/>
            <a:ext cx="3584448" cy="2286000"/>
          </a:xfrm>
          <a:prstGeom prst="roundRect">
            <a:avLst>
              <a:gd name="adj" fmla="val 2400"/>
            </a:avLst>
          </a:prstGeom>
          <a:solidFill>
            <a:srgbClr val="141414"/>
          </a:solidFill>
          <a:ln w="12700">
            <a:solidFill>
              <a:srgbClr val="1414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2816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PROBLEMS OCCUR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02752" y="30723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table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02752" y="347472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failures — port busy, single-class collapse, upload errors — each with its remedy.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5394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MATERIALS · PRELAB.HTML · LABMANUAL.HTML ON THE WORKSHOP PAGE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AI Vision Workshop — Lesson</dc:title>
  <dc:subject>PptxGenJS Presentation</dc:subject>
  <dc:creator>AIoScout</dc:creator>
  <cp:lastModifiedBy>AIoScout</cp:lastModifiedBy>
  <cp:revision>1</cp:revision>
  <dcterms:created xsi:type="dcterms:W3CDTF">2026-09-03T17:44:45Z</dcterms:created>
  <dcterms:modified xsi:type="dcterms:W3CDTF">2026-09-03T17:44:45Z</dcterms:modified>
</cp:coreProperties>
</file>