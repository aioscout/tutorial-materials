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WORKSHOP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a car to recognize what it sees.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 will train a small AI with your own eyes-on examples — no coding —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run it live on our robot car. Then you build your own: a digit recognizer.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212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 · LAB TUTORIAL · YOUR LAB TIME · DEMO &amp; SHARING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863840" y="1234440"/>
            <a:ext cx="3657600" cy="4023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8092440" y="1234440"/>
            <a:ext cx="32004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smart car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of the car + camera, on the playfield map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today runs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2596896" cy="3108960"/>
          </a:xfrm>
          <a:prstGeom prst="roundRect">
            <a:avLst>
              <a:gd name="adj" fmla="val 2465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D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59536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Intro lecture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59536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 min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" y="3639312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AI? How does a machine learn from pictures? Key words, one by one.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10712" y="1920240"/>
            <a:ext cx="2596896" cy="3108960"/>
          </a:xfrm>
          <a:prstGeom prst="roundRect">
            <a:avLst>
              <a:gd name="adj" fmla="val 2465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016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D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630168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Lab tutorial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30168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 min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30168" y="3639312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instructor train a road-sign recognizer live, start to finish.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81344" y="1920240"/>
            <a:ext cx="2596896" cy="3108960"/>
          </a:xfrm>
          <a:prstGeom prst="roundRect">
            <a:avLst>
              <a:gd name="adj" fmla="val 2465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D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4008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Your lab time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0080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~75 min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0" y="3639312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teams: build your own digit recognizer (0–9) and run it on the car.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951976" y="1920240"/>
            <a:ext cx="2596896" cy="3108960"/>
          </a:xfrm>
          <a:prstGeom prst="roundRect">
            <a:avLst>
              <a:gd name="adj" fmla="val 2465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71432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D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171432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Demo &amp; sharing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171432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 min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171432" y="3639312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team demos their model, shows their score, shares one lesson.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349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≈ 2.5 hours · short break before lab time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OBJECTIVES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today, you can…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847088"/>
            <a:ext cx="566928" cy="566928"/>
          </a:xfrm>
          <a:prstGeom prst="ellipse">
            <a:avLst/>
          </a:prstGeom>
          <a:solidFill>
            <a:srgbClr val="F58331"/>
          </a:solidFill>
          <a:ln w="12700">
            <a:solidFill>
              <a:srgbClr val="F583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8288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— </a:t>
            </a:r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image-recognition AI — by showing it examples, without writing code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566928" cy="566928"/>
          </a:xfrm>
          <a:prstGeom prst="ellipse">
            <a:avLst/>
          </a:prstGeom>
          <a:solidFill>
            <a:srgbClr val="F58331"/>
          </a:solidFill>
          <a:ln w="12700">
            <a:solidFill>
              <a:srgbClr val="F5833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88036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— </a:t>
            </a:r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shrink it onto the smart car’s chip, so the car recognizes signs by itself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40080" y="3950208"/>
            <a:ext cx="566928" cy="566928"/>
          </a:xfrm>
          <a:prstGeom prst="ellipse">
            <a:avLst/>
          </a:prstGeom>
          <a:solidFill>
            <a:srgbClr val="F58331"/>
          </a:solidFill>
          <a:ln w="12700">
            <a:solidFill>
              <a:srgbClr val="F583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502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93192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honestly — </a:t>
            </a:r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it on data it has never seen, like a fair exam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640080" y="5001768"/>
            <a:ext cx="566928" cy="566928"/>
          </a:xfrm>
          <a:prstGeom prst="ellipse">
            <a:avLst/>
          </a:prstGeom>
          <a:solidFill>
            <a:srgbClr val="F58331"/>
          </a:solidFill>
          <a:ln w="12700">
            <a:solidFill>
              <a:srgbClr val="F583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001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9834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the words — </a:t>
            </a:r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· CNN · confidence · hyperparameters · overfitting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THE BIG PICTURE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Physical AI?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+ a body.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AI lives inside a computer — it reads text, numbers, pictures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AI senses the real world with a body — cameras, sensors — and acts on it: moves, drives, grabs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must decide in real time, in a messy world: light changes, things move, nothing is perfect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robot car is a small Physical AI — today it learns to see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858000" y="1463040"/>
            <a:ext cx="46634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086600" y="1463040"/>
            <a:ext cx="420624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AI examples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 a self-driving car or humanoid robot photo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THE BIG PICTURE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meet Physical AI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596896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68680" y="1783080"/>
            <a:ext cx="2139696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vacuum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429768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vacuum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 walls, avoids stairs, goes home to charge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410712" y="1783080"/>
            <a:ext cx="2596896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3639312" y="1783080"/>
            <a:ext cx="2139696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drone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456432" y="429768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drone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the landing spot with its camera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81344" y="1783080"/>
            <a:ext cx="2596896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409944" y="1783080"/>
            <a:ext cx="2139696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Self-driving car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7064" y="429768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Self-driving car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lanes, signs, and people — like ours, but giant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51976" y="1783080"/>
            <a:ext cx="2596896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80576" y="1783080"/>
            <a:ext cx="2139696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traffic light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997696" y="429768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traffic light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watches the road and changes its own timing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· HOW MACHINES LEARN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make a machine decide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394960" cy="3931920"/>
          </a:xfrm>
          <a:prstGeom prst="roundRect">
            <a:avLst>
              <a:gd name="adj" fmla="val 1628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901952"/>
            <a:ext cx="4956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 1 · WRITE THE RULES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6" y="2157984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writes every rule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59536" y="2578608"/>
            <a:ext cx="495604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the pixels look like THIS, turn left.”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for simple, fixed jobs.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in the real world: new angles, shadows, lighting — no one can write enough rules for every case.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0" y="1737360"/>
            <a:ext cx="5394960" cy="3931920"/>
          </a:xfrm>
          <a:prstGeom prst="roundRect">
            <a:avLst>
              <a:gd name="adj" fmla="val 1628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0256" y="1901952"/>
            <a:ext cx="4956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 2 · MACHINE LEARNING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20256" y="2157984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it examples with answers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620256" y="2578608"/>
            <a:ext cx="495604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100 photos labelled “left”, 100 labelled “right”…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machine finds the rules itself.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what we do today — you are the teacher, the car is the student.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· HOW MACHINES LEARN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“training”?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= showing the AI many labelled examples, again and again, until it finds the pattern by itself.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5852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sample = one photo + its correct answer (“this is a left arrow”)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guesses → checks the answer → adjusts itself a little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hundreds of times → guesses get better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teaching a student with flashcards: show, answer, correct, repeat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0" y="1783080"/>
            <a:ext cx="46634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086600" y="1783080"/>
            <a:ext cx="4206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loop illustration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→ guess → correct → repeat (circular diagram)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858000" y="5120640"/>
            <a:ext cx="4663440" cy="1051560"/>
          </a:xfrm>
          <a:prstGeom prst="roundRect">
            <a:avLst>
              <a:gd name="adj" fmla="val 6087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59168" y="512064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—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writes the rules. The examples ARE the lesson.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· HOW MACHINES LEARN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datasets: homework and exam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94960" cy="3291840"/>
          </a:xfrm>
          <a:prstGeom prst="roundRect">
            <a:avLst>
              <a:gd name="adj" fmla="val 1944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947672"/>
            <a:ext cx="4956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6" y="2203704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 — with answers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59536" y="2624328"/>
            <a:ext cx="495604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learns from these photos.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more varied they are, the better it learns.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project: the digit photos YOU take.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394960" cy="3291840"/>
          </a:xfrm>
          <a:prstGeom prst="roundRect">
            <a:avLst>
              <a:gd name="adj" fmla="val 1944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0256" y="1947672"/>
            <a:ext cx="4956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DATA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20256" y="2203704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— answers hidden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620256" y="2624328"/>
            <a:ext cx="495604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the AI has NEVER seen.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only to check: did it really learn?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project: digits written by ANOTHER team.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5303520"/>
            <a:ext cx="10881360" cy="868680"/>
          </a:xfrm>
          <a:prstGeom prst="roundRect">
            <a:avLst>
              <a:gd name="adj" fmla="val 7368"/>
            </a:avLst>
          </a:prstGeom>
          <a:solidFill>
            <a:srgbClr val="F58331"/>
          </a:solidFill>
          <a:ln w="12700">
            <a:solidFill>
              <a:srgbClr val="F5833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3035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test on your training photos — that is like grading yourself on questions you already memorized.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· HOW IMAGE RECOGNITION WORKS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photo is just numbers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5760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camera image is a grid of tiny squares — pixels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pixel is one number: 0 = black, 255 = white, in between = gray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model uses small 96×96 grayscale images — that is still 9,216 numbers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recognition = finding patterns in those numbers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766560" y="1737360"/>
            <a:ext cx="475488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995160" y="1737360"/>
            <a:ext cx="42976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 grid illustration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zoomed photo showing pixel squares with numbers inside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· HOW IMAGE RECOGNITION WORKS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CNN: a stack of pattern detectors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= Convolutional Neural Network — the standard AI for images.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868680" y="2286000"/>
            <a:ext cx="1045159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structure diagram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image → edge detectors → shape detectors → decision (search “CNN architecture diagram”)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5166360"/>
            <a:ext cx="3520440" cy="1051560"/>
          </a:xfrm>
          <a:prstGeom prst="roundRect">
            <a:avLst>
              <a:gd name="adj" fmla="val 6087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16636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·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simple things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edges, lines, blobs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25112" y="5166360"/>
            <a:ext cx="3520440" cy="1051560"/>
          </a:xfrm>
          <a:prstGeom prst="roundRect">
            <a:avLst>
              <a:gd name="adj" fmla="val 6087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07992" y="516636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2 ·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parts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corners, curves, strokes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0144" y="5166360"/>
            <a:ext cx="3520440" cy="1051560"/>
          </a:xfrm>
          <a:prstGeom prst="roundRect">
            <a:avLst>
              <a:gd name="adj" fmla="val 6087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93024" y="516636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layer ·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makes the call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score per class: left / right / stop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TO KNOW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sure the model is, 0–100%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CNN never says a plain yes or no. For every class it gives a confidence score — and the car acts on the highest one.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206240" cy="1417320"/>
          </a:xfrm>
          <a:prstGeom prst="roundRect">
            <a:avLst>
              <a:gd name="adj" fmla="val 4516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8737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41248" y="513892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left arrow →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91% · right 7% · wall 2%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85216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ARROW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52160" y="2249424"/>
            <a:ext cx="5120640" cy="310896"/>
          </a:xfrm>
          <a:prstGeom prst="rect">
            <a:avLst/>
          </a:prstGeom>
          <a:solidFill>
            <a:srgbClr val="ECECEA"/>
          </a:solidFill>
          <a:ln w="12700">
            <a:solidFill>
              <a:srgbClr val="ECEC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0" y="2249424"/>
            <a:ext cx="4659782" cy="310896"/>
          </a:xfrm>
          <a:prstGeom prst="rect">
            <a:avLst/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21670" y="22311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52160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ARROW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52160" y="3209544"/>
            <a:ext cx="5120640" cy="310896"/>
          </a:xfrm>
          <a:prstGeom prst="rect">
            <a:avLst/>
          </a:prstGeom>
          <a:solidFill>
            <a:srgbClr val="ECECEA"/>
          </a:solidFill>
          <a:ln w="12700">
            <a:solidFill>
              <a:srgbClr val="ECEC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2160" y="3209544"/>
            <a:ext cx="358445" cy="310896"/>
          </a:xfrm>
          <a:prstGeom prst="rect">
            <a:avLst/>
          </a:prstGeom>
          <a:solidFill>
            <a:srgbClr val="D8D9D8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0333" y="31912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852160" y="3840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52160" y="4169664"/>
            <a:ext cx="5120640" cy="310896"/>
          </a:xfrm>
          <a:prstGeom prst="rect">
            <a:avLst/>
          </a:prstGeom>
          <a:solidFill>
            <a:srgbClr val="ECECEA"/>
          </a:solidFill>
          <a:ln w="12700">
            <a:solidFill>
              <a:srgbClr val="ECEC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52160" y="4169664"/>
            <a:ext cx="109728" cy="310896"/>
          </a:xfrm>
          <a:prstGeom prst="rect">
            <a:avLst/>
          </a:prstGeom>
          <a:solidFill>
            <a:srgbClr val="D8D9D8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71616" y="415137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52160" y="5029200"/>
            <a:ext cx="54864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53328" y="50292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Careful —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confidence does not guarantee correct. The model can be confidently wrong.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TO KNOW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&amp; Class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building blocks of your dataset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sample is one training photo, with its answer attached. A class is one category the model learns to tell apart.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206240" cy="1417320"/>
          </a:xfrm>
          <a:prstGeom prst="roundRect">
            <a:avLst>
              <a:gd name="adj" fmla="val 4516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8737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PROJECT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41248" y="513892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“2” is a class.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photos of the digit 2 = 40 samples of that class.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852160" y="1783080"/>
            <a:ext cx="2377440" cy="868680"/>
          </a:xfrm>
          <a:prstGeom prst="roundRect">
            <a:avLst>
              <a:gd name="adj" fmla="val 7368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17830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“1”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75320" y="200253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686800" y="178308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58331"/>
          </a:solidFill>
          <a:ln w="12700">
            <a:solidFill>
              <a:srgbClr val="F5833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0" y="17830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samples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852160" y="2834640"/>
            <a:ext cx="2377440" cy="868680"/>
          </a:xfrm>
          <a:prstGeom prst="roundRect">
            <a:avLst>
              <a:gd name="adj" fmla="val 7368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0" y="28346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“2”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75320" y="305409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686800" y="283464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58331"/>
          </a:solidFill>
          <a:ln w="12700">
            <a:solidFill>
              <a:srgbClr val="F5833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0" y="2834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samples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52160" y="3886200"/>
            <a:ext cx="2377440" cy="868680"/>
          </a:xfrm>
          <a:prstGeom prst="roundRect">
            <a:avLst>
              <a:gd name="adj" fmla="val 7368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2160" y="38862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“7”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75320" y="410565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686800" y="388620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58331"/>
          </a:solidFill>
          <a:ln w="12700">
            <a:solidFill>
              <a:srgbClr val="F5833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0" y="388620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samples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852160" y="4937760"/>
            <a:ext cx="2377440" cy="868680"/>
          </a:xfrm>
          <a:prstGeom prst="roundRect">
            <a:avLst>
              <a:gd name="adj" fmla="val 7368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52160" y="49377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75320" y="515721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686800" y="493776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58331"/>
          </a:solidFill>
          <a:ln w="12700">
            <a:solidFill>
              <a:srgbClr val="F5833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0" y="493776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samples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85216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counts roughly equal — or the model becomes biased to the biggest class.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TO KNOW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Hyperparameters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settings you pick BEFORE training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cannot change what the AI learns — but you choose the conditions: how long it studies, how big its “brain” is, how fast it adjusts.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206240" cy="1417320"/>
          </a:xfrm>
          <a:prstGeom prst="roundRect">
            <a:avLst>
              <a:gd name="adj" fmla="val 4516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8737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NEWS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41248" y="513892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has a “Use recommended” button — one click fills in sensible values. Start there; change one thing at a time.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852160" y="1828800"/>
            <a:ext cx="54864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53328" y="18288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Epochs — how many rounds of studying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rounds → better… until it memorizes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52160" y="3200400"/>
            <a:ext cx="54864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53328" y="32004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— how many pattern detectors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→ sees more, runs slower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4572000"/>
            <a:ext cx="54864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3328" y="45720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rate — how big each adjustment step is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big → unstable, never learns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TO KNOW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Overfitting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memorizing instead of learning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memorizes your exact training photos — backgrounds, lighting, your handwriting — instead of learning the idea of the digit.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206240" cy="1417320"/>
          </a:xfrm>
          <a:prstGeom prst="roundRect">
            <a:avLst>
              <a:gd name="adj" fmla="val 4516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8737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SYMPTOM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41248" y="513892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on your own photos… fails on the first new photo it sees. Fix: more varied photos, not more training.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852160" y="178308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71616" y="19568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MEMORIZING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71616" y="22402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“This is 7 because it was in photo #23, top-left corner, on that table.”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only if the next photo is identical.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852160" y="3886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F58331"/>
          </a:solidFill>
          <a:ln w="12700">
            <a:solidFill>
              <a:srgbClr val="F5833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71616" y="40599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(what we want)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71616" y="434340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“This is 7 because of its shape — one stroke, a sharp top.”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any 7, any hand, any table.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TO KNOW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AI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runs on the device itself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AI does not call the internet. It runs inside the tiny chip on the car — fast, private, works offline.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206240" cy="1417320"/>
          </a:xfrm>
          <a:prstGeom prst="roundRect">
            <a:avLst>
              <a:gd name="adj" fmla="val 4516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8737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TRICK: QUANTIZATION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41248" y="513892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in the model is squeezed from 4 bytes to 1 (int8) — the model becomes ~4× smaller with almost no accuracy loss. That is why it fits on a chip with kilobytes of memory.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852160" y="178308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080760" y="1783080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AI vs Edge AI diagram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camera → internet → server → answer;  right: camera → chip → answer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852160" y="4572000"/>
            <a:ext cx="1321308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52160" y="4585716"/>
            <a:ext cx="13213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SEES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92924" y="4572000"/>
            <a:ext cx="1321308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92924" y="4585716"/>
            <a:ext cx="13213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· THINKS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933688" y="4572000"/>
            <a:ext cx="1243584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33688" y="4585716"/>
            <a:ext cx="124358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MOTORS · ACT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52160" y="5257800"/>
            <a:ext cx="5486400" cy="868680"/>
          </a:xfrm>
          <a:prstGeom prst="roundRect">
            <a:avLst>
              <a:gd name="adj" fmla="val 7368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52578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network, no delay, no privacy worries — all decisions stay on the car.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· A MOMENT ON ETHICS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AI in the real world: the Tesla Cybercab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68680" y="178308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Cybercab photo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steering-wheel-free robotaxi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126480" y="178308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driver, no steering wheel — cameras + AI make every decision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Promised as a cheap robotaxi for everyone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core idea as our car: camera in → AI decides → wheels act. Just life-sized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126480" y="3977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every engineer must answer: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126480" y="434340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safe is “safe enough” to drive without a driver?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crashes — who is responsible?</a:t>
            </a:r>
            <a:endParaRPr lang="en-US" sz="135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to the jobs of drivers?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5212080"/>
            <a:ext cx="5120640" cy="914400"/>
          </a:xfrm>
          <a:prstGeom prst="roundRect">
            <a:avLst>
              <a:gd name="adj" fmla="val 7000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52120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AI acts in the real world — building it is not only about accuracy.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 · OUR TOOLBOX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you will use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47288" cy="4023360"/>
          </a:xfrm>
          <a:prstGeom prst="roundRect">
            <a:avLst>
              <a:gd name="adj" fmla="val 1857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947672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6" y="2203704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 + the app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59536" y="2624328"/>
            <a:ext cx="3008376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TFLiteTraining app trains the AI — all by clicking, no code. Collect photos, train, test, export.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70832" y="1783080"/>
            <a:ext cx="3447288" cy="4023360"/>
          </a:xfrm>
          <a:prstGeom prst="roundRect">
            <a:avLst>
              <a:gd name="adj" fmla="val 1857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1947672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90288" y="2203704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smart car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90288" y="2624328"/>
            <a:ext cx="3008376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ESP32-P4 chip + camera on a robot car. After training, your AI lives on this chip.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1584" y="1783080"/>
            <a:ext cx="3447288" cy="4023360"/>
          </a:xfrm>
          <a:prstGeom prst="roundRect">
            <a:avLst>
              <a:gd name="adj" fmla="val 1857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947672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2203704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Marker + paper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21040" y="2624328"/>
            <a:ext cx="3008376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write the training data yourself. Your photos decide how good the AI becomes.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the teacher. The car is the student.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 · OUR TOOLBOX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smart car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68680" y="1783080"/>
            <a:ext cx="493776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smart car, labeled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with callouts if possible: camera, chip, wheels, battery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92240" y="1837944"/>
            <a:ext cx="457200" cy="457200"/>
          </a:xfrm>
          <a:prstGeom prst="ellipse">
            <a:avLst/>
          </a:prstGeom>
          <a:solidFill>
            <a:srgbClr val="5B5BA8"/>
          </a:solidFill>
          <a:ln w="12700">
            <a:solidFill>
              <a:srgbClr val="5B5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086600" y="178308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—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eyes — sends small grayscale images to the chip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92240" y="2916936"/>
            <a:ext cx="457200" cy="457200"/>
          </a:xfrm>
          <a:prstGeom prst="ellipse">
            <a:avLst/>
          </a:prstGeom>
          <a:solidFill>
            <a:srgbClr val="5B5BA8"/>
          </a:solidFill>
          <a:ln w="12700">
            <a:solidFill>
              <a:srgbClr val="5B5B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916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86600" y="2862072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ESP32-P4 chip —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 — small, fast, kilobytes of memory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92240" y="3995928"/>
            <a:ext cx="457200" cy="457200"/>
          </a:xfrm>
          <a:prstGeom prst="ellipse">
            <a:avLst/>
          </a:prstGeom>
          <a:solidFill>
            <a:srgbClr val="5B5BA8"/>
          </a:solidFill>
          <a:ln w="12700">
            <a:solidFill>
              <a:srgbClr val="5B5B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86600" y="3941064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Motors + wheels —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muscles — the decision becomes motion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92240" y="5074920"/>
            <a:ext cx="457200" cy="457200"/>
          </a:xfrm>
          <a:prstGeom prst="ellipse">
            <a:avLst/>
          </a:prstGeom>
          <a:solidFill>
            <a:srgbClr val="5B5BA8"/>
          </a:solidFill>
          <a:ln w="12700">
            <a:solidFill>
              <a:srgbClr val="5B5B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86600" y="5020056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 —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heart — everything runs on it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 · OUR TOOLBOX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TFLiteTraining app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window, six steps — the same six steps you will follow in the lab.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822960" cy="822960"/>
          </a:xfrm>
          <a:prstGeom prst="roundRect">
            <a:avLst>
              <a:gd name="adj" fmla="val 7778"/>
            </a:avLst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609344" y="2468880"/>
            <a:ext cx="822960" cy="822960"/>
          </a:xfrm>
          <a:prstGeom prst="roundRect">
            <a:avLst>
              <a:gd name="adj" fmla="val 7778"/>
            </a:avLst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9344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578608" y="2468880"/>
            <a:ext cx="822960" cy="822960"/>
          </a:xfrm>
          <a:prstGeom prst="roundRect">
            <a:avLst>
              <a:gd name="adj" fmla="val 7778"/>
            </a:avLst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8608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547872" y="2468880"/>
            <a:ext cx="822960" cy="822960"/>
          </a:xfrm>
          <a:prstGeom prst="roundRect">
            <a:avLst>
              <a:gd name="adj" fmla="val 7778"/>
            </a:avLst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47872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17136" y="2468880"/>
            <a:ext cx="822960" cy="822960"/>
          </a:xfrm>
          <a:prstGeom prst="roundRect">
            <a:avLst>
              <a:gd name="adj" fmla="val 7778"/>
            </a:avLst>
          </a:prstGeom>
          <a:solidFill>
            <a:srgbClr val="F58331"/>
          </a:solidFill>
          <a:ln w="12700">
            <a:solidFill>
              <a:srgbClr val="F583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17136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486400" y="2468880"/>
            <a:ext cx="822960" cy="822960"/>
          </a:xfrm>
          <a:prstGeom prst="roundRect">
            <a:avLst>
              <a:gd name="adj" fmla="val 7778"/>
            </a:avLst>
          </a:prstGeom>
          <a:solidFill>
            <a:srgbClr val="F58331"/>
          </a:solidFill>
          <a:ln w="12700">
            <a:solidFill>
              <a:srgbClr val="F5833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0080" y="34564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→ Preprocess → Train → Preview → Export → Deploy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397764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by clicking — no code anywhere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go in from the car’s own camera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comes a trained model, small enough for the chip</a:t>
            </a:r>
            <a:endParaRPr lang="en-US" sz="1400" dirty="0"/>
          </a:p>
        </p:txBody>
      </p:sp>
      <p:pic>
        <p:nvPicPr>
          <p:cNvPr id="21" name="Image 0" descr="/tmp/pptx_assets/img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691640"/>
            <a:ext cx="4754880" cy="309499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766560" y="1691640"/>
            <a:ext cx="4754880" cy="3094995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66560" y="4878075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WORKSPACE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TUTORIAL · 15 MINUTES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once: the road-sign recognizer.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1165860" cy="402336"/>
          </a:xfrm>
          <a:prstGeom prst="roundRect">
            <a:avLst>
              <a:gd name="adj" fmla="val 11364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219956"/>
            <a:ext cx="11658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COLLECT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61972" y="4206240"/>
            <a:ext cx="1399032" cy="402336"/>
          </a:xfrm>
          <a:prstGeom prst="roundRect">
            <a:avLst>
              <a:gd name="adj" fmla="val 11364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61972" y="4219956"/>
            <a:ext cx="139903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PREPROCESS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717036" y="4206240"/>
            <a:ext cx="1010412" cy="402336"/>
          </a:xfrm>
          <a:prstGeom prst="roundRect">
            <a:avLst>
              <a:gd name="adj" fmla="val 11364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17036" y="4219956"/>
            <a:ext cx="101041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TRAIN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83480" y="4206240"/>
            <a:ext cx="1321308" cy="402336"/>
          </a:xfrm>
          <a:prstGeom prst="roundRect">
            <a:avLst>
              <a:gd name="adj" fmla="val 11364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4219956"/>
            <a:ext cx="13213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TEST LIVE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560820" y="4206240"/>
            <a:ext cx="1088136" cy="402336"/>
          </a:xfrm>
          <a:prstGeom prst="roundRect">
            <a:avLst>
              <a:gd name="adj" fmla="val 11364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60820" y="4219956"/>
            <a:ext cx="10881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EXPORT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904988" y="4206240"/>
            <a:ext cx="1399032" cy="402336"/>
          </a:xfrm>
          <a:prstGeom prst="roundRect">
            <a:avLst>
              <a:gd name="adj" fmla="val 11364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4988" y="4219956"/>
            <a:ext cx="139903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RUN ON CAR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you repeat the same steps with digits, in your lab time.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TUTORIAL · STEP 1 OF 5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the photos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the car; in the app choose Device — photos come from the car’s camera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classes: left arrow · right arrow · stop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photos per class, counts equal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Vary it while shooting: near / far, straight / tilted, different sides of the frame</a:t>
            </a:r>
            <a:endParaRPr lang="en-US" sz="1400" dirty="0"/>
          </a:p>
        </p:txBody>
      </p:sp>
      <p:pic>
        <p:nvPicPr>
          <p:cNvPr id="7" name="Image 0" descr="/tmp/pptx_assets/img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91640"/>
            <a:ext cx="5120640" cy="333307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0" y="1691640"/>
            <a:ext cx="5120640" cy="3333071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5116151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CAPTURING FROM THE CAR’S CAMERA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40080" y="56692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photos are the lesson — sloppy photos, sloppy AI.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TUTORIAL · STEP 2 OF 5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the photos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tight around the sign (the ROI box) — throw away the background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thresholds clean the rest: too-dark pixels → white, too-bright pixels → white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black sign on white background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S to save — every time</a:t>
            </a:r>
            <a:endParaRPr lang="en-US" sz="1400" dirty="0"/>
          </a:p>
        </p:txBody>
      </p:sp>
      <p:pic>
        <p:nvPicPr>
          <p:cNvPr id="7" name="Image 0" descr="/tmp/pptx_assets/img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91640"/>
            <a:ext cx="5120640" cy="332841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0" y="1691640"/>
            <a:ext cx="5120640" cy="3328416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51114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CROPPING AND THRESHOLDING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40080" y="56692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minutes of cleaning here beats any clever setting later.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TUTORIAL · STEP 3 OF 5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“Use recommended” — the app fills in sensible settings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“Train Embedded Model” and watch the accuracy climb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 under a minute on this dataset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live results turn out poor later — the fix is usually more varied photos, not more training</a:t>
            </a:r>
            <a:endParaRPr lang="en-US" sz="1400" dirty="0"/>
          </a:p>
        </p:txBody>
      </p:sp>
      <p:pic>
        <p:nvPicPr>
          <p:cNvPr id="7" name="Image 0" descr="/tmp/pptx_assets/img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91640"/>
            <a:ext cx="5120640" cy="333307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0" y="1691640"/>
            <a:ext cx="5120640" cy="3333071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5116151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 PANEL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TUTORIAL · STEP 4 OF 5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it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5394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at a sign — read the confidence bar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a tilted sign, a far sign, a half-covered sign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an empty scene: the model answers “No Sign” — the OOD gate says “no target here”, instead of guessing</a:t>
            </a:r>
            <a:endParaRPr lang="en-US" sz="1400" dirty="0"/>
          </a:p>
        </p:txBody>
      </p:sp>
      <p:pic>
        <p:nvPicPr>
          <p:cNvPr id="7" name="Image 0" descr="/tmp/pptx_assets/img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91640"/>
            <a:ext cx="5120640" cy="333307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0" y="1691640"/>
            <a:ext cx="5120640" cy="3333071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5116151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CONFIDENCE + “NO SIGN”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TUTORIAL · STEP 5 OF 5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it on the car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5394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→ five small files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them into the project, check IMG_SIZE = 96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— the car now recognizes signs by itself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commands can adjust things later (get ood shows the settings)</a:t>
            </a:r>
            <a:endParaRPr lang="en-US" sz="1400" dirty="0"/>
          </a:p>
        </p:txBody>
      </p:sp>
      <p:pic>
        <p:nvPicPr>
          <p:cNvPr id="7" name="Image 0" descr="/tmp/pptx_assets/img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3033" y="1691640"/>
            <a:ext cx="4356175" cy="2834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83033" y="1691640"/>
            <a:ext cx="4356175" cy="2834640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83033" y="4617720"/>
            <a:ext cx="4356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RUNNING ON THE CAR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 · THE PROJECT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mission: a digit recognizer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 model that reads handwritten digits 0–9 on paper, and runs live on the car.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596896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697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9443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today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1248" y="35204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your team, with photos you take here — no ready-made AI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10712" y="2514600"/>
            <a:ext cx="2596896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11880" y="2697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0" y="29443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test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11880" y="35204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unseen digits written by ANOTHER team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81344" y="2514600"/>
            <a:ext cx="2596896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2697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82512" y="29443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mark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82512" y="35204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of 10 correct = project complete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51976" y="2514600"/>
            <a:ext cx="2596896" cy="2377440"/>
          </a:xfrm>
          <a:prstGeom prst="roundRect">
            <a:avLst>
              <a:gd name="adj" fmla="val 2692"/>
            </a:avLst>
          </a:prstGeom>
          <a:solidFill>
            <a:srgbClr val="F58331"/>
          </a:solidFill>
          <a:ln w="12700">
            <a:solidFill>
              <a:srgbClr val="F5833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697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D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SHORTCUT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153144" y="29443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on time?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53144" y="35204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digits 1, 2, 3, 7 — the most confusable ones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instructions: the lab manual, Parts A–H — every click written out.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 · THE PROJECT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tips that decide your score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596896" cy="2651760"/>
          </a:xfrm>
          <a:prstGeom prst="roundRect">
            <a:avLst>
              <a:gd name="adj" fmla="val 2465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993392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6" y="2249424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&amp; bold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59536" y="2670048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8–10 cm, thick marker. Thin pen lines vanish in a 96×96 image.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10712" y="1828800"/>
            <a:ext cx="2596896" cy="2651760"/>
          </a:xfrm>
          <a:prstGeom prst="roundRect">
            <a:avLst>
              <a:gd name="adj" fmla="val 2465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0168" y="1993392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30168" y="2249424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= the car’s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630168" y="2670048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with Device, not the laptop webcam — train on what the car will see.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81344" y="1828800"/>
            <a:ext cx="2596896" cy="2651760"/>
          </a:xfrm>
          <a:prstGeom prst="roundRect">
            <a:avLst>
              <a:gd name="adj" fmla="val 2465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993392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0" y="2249424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Equal counts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0" y="2670048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30–50 per class. An unbalanced set makes the model lazy-biased.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51976" y="1828800"/>
            <a:ext cx="2596896" cy="2651760"/>
          </a:xfrm>
          <a:prstGeom prst="roundRect">
            <a:avLst>
              <a:gd name="adj" fmla="val 2465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71432" y="1993392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71432" y="2249424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Variety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171432" y="2670048"/>
            <a:ext cx="21579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Near, far, tilted, left, right, bright, dim — cover the real world.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800600"/>
            <a:ext cx="10908792" cy="914400"/>
          </a:xfrm>
          <a:prstGeom prst="roundRect">
            <a:avLst>
              <a:gd name="adj" fmla="val 7000"/>
            </a:avLst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80060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photos decide your score — not the settings.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LAB TIME · ~75 MINUTES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Build. Test. Ask.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383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· 20 min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350008" y="3383280"/>
            <a:ext cx="1810512" cy="502920"/>
          </a:xfrm>
          <a:prstGeom prst="roundRect">
            <a:avLst>
              <a:gd name="adj" fmla="val 10909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50008" y="338328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 · 10 min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61688" y="3383280"/>
            <a:ext cx="1234440" cy="502920"/>
          </a:xfrm>
          <a:prstGeom prst="roundRect">
            <a:avLst>
              <a:gd name="adj" fmla="val 10909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338328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· 5 min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797296" y="3383280"/>
            <a:ext cx="1207008" cy="502920"/>
          </a:xfrm>
          <a:prstGeom prst="roundRect">
            <a:avLst>
              <a:gd name="adj" fmla="val 10909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97296" y="338328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· 10 min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05472" y="3383280"/>
            <a:ext cx="1408176" cy="502920"/>
          </a:xfrm>
          <a:prstGeom prst="roundRect">
            <a:avLst>
              <a:gd name="adj" fmla="val 10909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05472" y="3383280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· 10 min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14816" y="3383280"/>
            <a:ext cx="1609344" cy="502920"/>
          </a:xfrm>
          <a:prstGeom prst="roundRect">
            <a:avLst>
              <a:gd name="adj" fmla="val 10909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14816" y="3383280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· 10 min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29768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4480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" y="484632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lab manual has a troubleshooting table — port busy, one-class collapse, upload errors.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07408" y="429768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8576" y="4480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result?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608576" y="484632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→ test → fix the photos → retrain. Two or three loops are normal.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74736" y="4297680"/>
            <a:ext cx="3566160" cy="1737360"/>
          </a:xfrm>
          <a:prstGeom prst="roundRect">
            <a:avLst>
              <a:gd name="adj" fmla="val 3684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75904" y="4480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75904" y="484632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Extensions in the manual: fewer photos, bigger model, new handwriting.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FINALE · ~15 MINUTES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0467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&amp; sharing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team shows what they built — 3 minutes each.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1188720" cy="685800"/>
          </a:xfrm>
          <a:prstGeom prst="roundRect">
            <a:avLst>
              <a:gd name="adj" fmla="val 8000"/>
            </a:avLst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774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03120" y="237744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demo: your model reading digits on the car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1188720" cy="685800"/>
          </a:xfrm>
          <a:prstGeom prst="roundRect">
            <a:avLst>
              <a:gd name="adj" fmla="val 8000"/>
            </a:avLst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3756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03120" y="333756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scorecard: the 10 unseen digits and your result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297680"/>
            <a:ext cx="1188720" cy="685800"/>
          </a:xfrm>
          <a:prstGeom prst="roundRect">
            <a:avLst>
              <a:gd name="adj" fmla="val 8000"/>
            </a:avLst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2976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03120" y="429768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you made, and what happened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257800"/>
            <a:ext cx="1188720" cy="685800"/>
          </a:xfrm>
          <a:prstGeom prst="roundRect">
            <a:avLst>
              <a:gd name="adj" fmla="val 8000"/>
            </a:avLst>
          </a:prstGeom>
          <a:solidFill>
            <a:srgbClr val="1A1C1C"/>
          </a:solidFill>
          <a:ln w="12700">
            <a:solidFill>
              <a:srgbClr val="1A1C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2578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03120" y="525780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you try with one more hour?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Cheer for the bold experiments — the interesting failures teach the most.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739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454335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 became an AI teacher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taught a machine with examples — and knew why it works</a:t>
            </a:r>
            <a:endParaRPr lang="en-US" sz="16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shrunk an AI onto a chip the size of a coin</a:t>
            </a:r>
            <a:endParaRPr lang="en-US" sz="16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tested it honestly, on data it had never seen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7548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going: the same app, the same car, new classes — what will you teach it next?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0" y="1783080"/>
            <a:ext cx="46634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086600" y="1783080"/>
            <a:ext cx="42062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photo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team photo or a car-on-track action shot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858000" y="5029200"/>
            <a:ext cx="4663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8716C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086600" y="502920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PLACEHOLDER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QR code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to the feedback form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 AI Vision Workshop — Lesson (student edition)</dc:title>
  <dc:subject>PptxGenJS Presentation</dc:subject>
  <dc:creator>AIoScout</dc:creator>
  <cp:lastModifiedBy>AIoScout</cp:lastModifiedBy>
  <cp:revision>1</cp:revision>
  <dcterms:created xsi:type="dcterms:W3CDTF">2026-09-09T09:38:54Z</dcterms:created>
  <dcterms:modified xsi:type="dcterms:W3CDTF">2026-09-09T09:38:54Z</dcterms:modified>
</cp:coreProperties>
</file>