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image" Target="../media/image-1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9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73952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AIOSCOUT · EDGE AI VISION WORKSHOP</a:t>
            </a:r>
            <a:endParaRPr lang="en-US" sz="750" dirty="0"/>
          </a:p>
        </p:txBody>
      </p:sp>
      <p:sp>
        <p:nvSpPr>
          <p:cNvPr id="3" name="Text 1"/>
          <p:cNvSpPr/>
          <p:nvPr/>
        </p:nvSpPr>
        <p:spPr>
          <a:xfrm>
            <a:off x="10527487" y="647395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/ 22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66928" y="13716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B5B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AIOSCOUT WORKSHOP · EDGE AI VISION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66928" y="1828800"/>
            <a:ext cx="8595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 classification on a microcontroller.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66928" y="356616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lesson trains an image classifier without programming and runs it live on the ESP32-P4, using </a:t>
            </a:r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road-sign recognition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as the worked example. The project session that follows applies the same workflow to a </a:t>
            </a:r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 recognizer (0–9)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66928" y="51206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45-MIN LESSON + 90-MIN PROJECT · ESP32-P4 · CNN · TENSORFLOW LITE MICRO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73952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AIOSCOUT · EDGE AI VISION WORKSHOP</a:t>
            </a:r>
            <a:endParaRPr lang="en-US" sz="750" dirty="0"/>
          </a:p>
        </p:txBody>
      </p:sp>
      <p:sp>
        <p:nvSpPr>
          <p:cNvPr id="3" name="Text 1"/>
          <p:cNvSpPr/>
          <p:nvPr/>
        </p:nvSpPr>
        <p:spPr>
          <a:xfrm>
            <a:off x="10527487" y="647395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22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66928" y="50292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B5B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PLAN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822960"/>
            <a:ext cx="1105783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structure</a:t>
            </a:r>
            <a:endParaRPr lang="en-US" sz="27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828800"/>
          <a:ext cx="11057839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377440"/>
                <a:gridCol w="7214616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8716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82296" marB="82296" anchor="ctr">
                    <a:lnL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8716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Block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82296" marB="82296" anchor="ctr">
                    <a:lnL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8716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82296" marB="82296" anchor="ctr">
                    <a:lnL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 min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82296" marB="82296" anchor="ctr">
                    <a:lnL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Lesson (this deck)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82296" marB="82296" anchor="ctr">
                    <a:lnL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Concepts of edge-AI image classification, followed by a live road-sign training demonstration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82296" marB="82296" anchor="ctr">
                    <a:lnL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 min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82296" marB="82296" anchor="ctr">
                    <a:lnL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Project (lab manual)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82296" marB="82296" anchor="ctr">
                    <a:lnL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Teams build a digit recognizer: collect, train, deploy, evaluate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82296" marB="82296" anchor="ctr">
                    <a:lnL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min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82296" marB="82296" anchor="ctr">
                    <a:lnL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Evaluation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82296" marB="82296" anchor="ctr">
                    <a:lnL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Each team's model is evaluated on 10 unseen digits written by another team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82296" marB="82296" anchor="ctr">
                    <a:lnL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4937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PREREQUISITE — PRE-LAB MANUAL COMPLETED: SOFTWARE INSTALLED AND SELF-CHECK PASSED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9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73952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AIOSCOUT · EDGE AI VISION WORKSHOP</a:t>
            </a:r>
            <a:endParaRPr lang="en-US" sz="750" dirty="0"/>
          </a:p>
        </p:txBody>
      </p:sp>
      <p:sp>
        <p:nvSpPr>
          <p:cNvPr id="3" name="Text 1"/>
          <p:cNvSpPr/>
          <p:nvPr/>
        </p:nvSpPr>
        <p:spPr>
          <a:xfrm>
            <a:off x="10527487" y="647395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22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66928" y="50292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B5B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MATTERS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822960"/>
            <a:ext cx="1105783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 recognition on the playfield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66928" y="1783080"/>
            <a:ext cx="60350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the AIoScout playfield, the robot car encounters road signs: turn left, turn right, stop. A line follower can track a line — but interpreting what a sign says requires a different kind of program.</a:t>
            </a:r>
            <a:endParaRPr lang="en-US" sz="13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central problem of this workshop: distinguishing a left arrow from a right arrow, reliably and in real time, on a processor with kilobytes of memory.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949440" y="1463040"/>
            <a:ext cx="4663440" cy="219456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50608" y="1609344"/>
            <a:ext cx="42611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DETECTION VS. DECISION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7150608" y="1847088"/>
            <a:ext cx="4261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Sensors answer "how far"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7150608" y="2194560"/>
            <a:ext cx="426110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Ultrasonic and IR sensors measure the world, but they cannot read symbols. Camera images carry more information — and are harder to interpret.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949440" y="3886200"/>
            <a:ext cx="4663440" cy="219456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50608" y="4032504"/>
            <a:ext cx="42611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AI RUNS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7150608" y="4270248"/>
            <a:ext cx="4261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the car, not the cloud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7150608" y="4617720"/>
            <a:ext cx="426110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network and no round trip: the camera and the decision operate on one chip. This is edge AI.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73952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AIOSCOUT · EDGE AI VISION WORKSHOP</a:t>
            </a:r>
            <a:endParaRPr lang="en-US" sz="750" dirty="0"/>
          </a:p>
        </p:txBody>
      </p:sp>
      <p:sp>
        <p:nvSpPr>
          <p:cNvPr id="3" name="Text 1"/>
          <p:cNvSpPr/>
          <p:nvPr/>
        </p:nvSpPr>
        <p:spPr>
          <a:xfrm>
            <a:off x="10527487" y="647395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 22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66928" y="50292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B5B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 01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822960"/>
            <a:ext cx="1105783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vs. learning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66928" y="1783080"/>
            <a:ext cx="60350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conventional program follows rules written by a programmer. Rules for "this pixel pattern is a left arrow" must cover every distance, angle, lighting condition, and shadow — an impractical task by hand.</a:t>
            </a:r>
            <a:endParaRPr lang="en-US" sz="13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Machine learning inverts this arrangement: labeled examples — images with the correct answer attached — are provided, and the computer derives the rules itself. This process is training.</a:t>
            </a:r>
            <a:endParaRPr lang="en-US" sz="13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Output: a confidence per class — "sign: 92% · wall: 5% · floor: 3%".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949440" y="1463040"/>
            <a:ext cx="4663440" cy="2194560"/>
          </a:xfrm>
          <a:prstGeom prst="roundRect">
            <a:avLst>
              <a:gd name="adj" fmla="val 2500"/>
            </a:avLst>
          </a:prstGeom>
          <a:solidFill>
            <a:srgbClr val="F1F1F0"/>
          </a:solidFill>
          <a:ln w="12700">
            <a:solidFill>
              <a:srgbClr val="F1F1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50608" y="1609344"/>
            <a:ext cx="42611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CLASSIC PROGRAMMING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7150608" y="1847088"/>
            <a:ext cx="4261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+ data → answers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7150608" y="2194560"/>
            <a:ext cx="426110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Sufficient for LEDs and motors; inadequate for variable real-world images.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949440" y="3886200"/>
            <a:ext cx="4663440" cy="2194560"/>
          </a:xfrm>
          <a:prstGeom prst="roundRect">
            <a:avLst>
              <a:gd name="adj" fmla="val 2500"/>
            </a:avLst>
          </a:prstGeom>
          <a:solidFill>
            <a:srgbClr val="F1F1F0"/>
          </a:solidFill>
          <a:ln w="12700">
            <a:solidFill>
              <a:srgbClr val="F1F1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50608" y="4032504"/>
            <a:ext cx="42611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MACHINE LEARNING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7150608" y="4270248"/>
            <a:ext cx="4261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+ answers → rules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7150608" y="4617720"/>
            <a:ext cx="426110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machine derives the rules; the collected data determines their quality.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9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73952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AIOSCOUT · EDGE AI VISION WORKSHOP</a:t>
            </a:r>
            <a:endParaRPr lang="en-US" sz="750" dirty="0"/>
          </a:p>
        </p:txBody>
      </p:sp>
      <p:sp>
        <p:nvSpPr>
          <p:cNvPr id="3" name="Text 1"/>
          <p:cNvSpPr/>
          <p:nvPr/>
        </p:nvSpPr>
        <p:spPr>
          <a:xfrm>
            <a:off x="10527487" y="647395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 22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66928" y="50292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B5B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 02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822960"/>
            <a:ext cx="1105783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training process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66928" y="1828800"/>
            <a:ext cx="5943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network is shown thousands of samples — small images, each labeled with its class</a:t>
            </a:r>
            <a:endParaRPr lang="en-US" sz="1300" dirty="0"/>
          </a:p>
          <a:p>
            <a:pPr algn="l"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every batch, the network adjusts its weights to reduce its errors</a:t>
            </a:r>
            <a:endParaRPr lang="en-US" sz="1300" dirty="0"/>
          </a:p>
          <a:p>
            <a:pPr algn="l"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full pass over the dataset is an epoch; training runs many epochs</a:t>
            </a:r>
            <a:endParaRPr lang="en-US" sz="1300" dirty="0"/>
          </a:p>
          <a:p>
            <a:pPr algn="l"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held-out portion of the data (the validation split) is used to evaluate the model on images not used in training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66928" y="5120640"/>
            <a:ext cx="5943600" cy="685800"/>
          </a:xfrm>
          <a:prstGeom prst="rect">
            <a:avLst/>
          </a:prstGeom>
          <a:solidFill>
            <a:srgbClr val="F58331"/>
          </a:solidFill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idea — </a:t>
            </a:r>
            <a:pPr indent="0" marL="0">
              <a:buNone/>
            </a:pPr>
            <a:r>
              <a:rPr lang="en-US" sz="120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 quality determines model quality, before any hyperparameter takes effect.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949440" y="1463040"/>
            <a:ext cx="4663440" cy="4343400"/>
          </a:xfrm>
          <a:prstGeom prst="roundRect">
            <a:avLst>
              <a:gd name="adj" fmla="val 1263"/>
            </a:avLst>
          </a:prstGeom>
          <a:solidFill>
            <a:srgbClr val="FFFFFF"/>
          </a:solidFill>
          <a:ln w="12700">
            <a:solidFill>
              <a:srgbClr val="D8D9D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50608" y="1609344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OUTPUT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7150608" y="1847088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confidence per class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150608" y="2286000"/>
            <a:ext cx="4261104" cy="1234440"/>
          </a:xfrm>
          <a:prstGeom prst="rect">
            <a:avLst/>
          </a:prstGeom>
          <a:solidFill>
            <a:srgbClr val="F9F9F8"/>
          </a:solidFill>
          <a:ln/>
        </p:spPr>
        <p:txBody>
          <a:bodyPr wrap="square" lIns="762" tIns="762" rIns="762" bIns="762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A1C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left arrow    91%   ███ top class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A1C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right arrow    7%   ▌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A1C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wall           2%   ▏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150608" y="3749040"/>
            <a:ext cx="4206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car acts on the highest-scoring class; the goal is a clear margin between the top class and the rest.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73952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AIOSCOUT · EDGE AI VISION WORKSHOP</a:t>
            </a:r>
            <a:endParaRPr lang="en-US" sz="750" dirty="0"/>
          </a:p>
        </p:txBody>
      </p:sp>
      <p:sp>
        <p:nvSpPr>
          <p:cNvPr id="3" name="Text 1"/>
          <p:cNvSpPr/>
          <p:nvPr/>
        </p:nvSpPr>
        <p:spPr>
          <a:xfrm>
            <a:off x="10527487" y="647395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 22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66928" y="50292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B5B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 03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822960"/>
            <a:ext cx="1105783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Convolutional neural networks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66928" y="1783080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Convolutional Neural Network is a stack of small feature detectors. Early layers detect edges and blobs; deeper layers combine them into shapes; the final layer converts shapes into class confidences.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566928" y="2880360"/>
            <a:ext cx="5943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Filters are the detectors; more filters detect more patterns at the cost of a larger model</a:t>
            </a:r>
            <a:endParaRPr lang="en-US" sz="1250" dirty="0"/>
          </a:p>
          <a:p>
            <a:pPr algn="l"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Dense units form the decision layer</a:t>
            </a:r>
            <a:endParaRPr lang="en-US" sz="1250" dirty="0"/>
          </a:p>
          <a:p>
            <a:pPr algn="l"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of these values is a hyperparameter set in the application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949440" y="1463040"/>
            <a:ext cx="4663440" cy="4343400"/>
          </a:xfrm>
          <a:prstGeom prst="roundRect">
            <a:avLst>
              <a:gd name="adj" fmla="val 1263"/>
            </a:avLst>
          </a:prstGeom>
          <a:solidFill>
            <a:srgbClr val="F1F1F0"/>
          </a:solidFill>
          <a:ln w="12700">
            <a:solidFill>
              <a:srgbClr val="F1F1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50608" y="1609344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WORKSHOP ARCHITECTURE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7150608" y="1920240"/>
            <a:ext cx="4261104" cy="310896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762" tIns="762" rIns="762" bIns="762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1A1C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input 96×96 grayscale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1A1C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↓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1A1C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Conv1 — 8 filters    // edges, blobs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1A1C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↓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1A1C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Conv2 — 16 filters   // shapes, strokes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1A1C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↓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1A1C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Dense — 32 units     // decisions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1A1C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↓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1A1C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confidence per class // left / right / stop…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150608" y="512064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by the standards of AI systems — the size a microcontroller can execute in real time.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9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73952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AIOSCOUT · EDGE AI VISION WORKSHOP</a:t>
            </a:r>
            <a:endParaRPr lang="en-US" sz="750" dirty="0"/>
          </a:p>
        </p:txBody>
      </p:sp>
      <p:sp>
        <p:nvSpPr>
          <p:cNvPr id="3" name="Text 1"/>
          <p:cNvSpPr/>
          <p:nvPr/>
        </p:nvSpPr>
        <p:spPr>
          <a:xfrm>
            <a:off x="10527487" y="647395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 22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66928" y="50292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B5B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 04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822960"/>
            <a:ext cx="1105783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AI: the runtime stack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66928" y="1828800"/>
            <a:ext cx="59436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Quantization to int8 — 1 byte per number instead of 4: ~4× smaller and faster, negligible accuracy cost</a:t>
            </a:r>
            <a:endParaRPr lang="en-US" sz="1300" dirty="0"/>
          </a:p>
          <a:p>
            <a:pPr algn="l"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TensorFlow Lite Micro — runtime for microcontrollers; the core fits in 16 KB, no OS needed</a:t>
            </a:r>
            <a:endParaRPr lang="en-US" sz="1300" dirty="0"/>
          </a:p>
          <a:p>
            <a:pPr algn="l"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ESP32-P4 — dual-core SoC with camera support, programmed via Arduino IDE</a:t>
            </a:r>
            <a:endParaRPr lang="en-US" sz="1300" dirty="0"/>
          </a:p>
          <a:p>
            <a:pPr algn="l"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exported model is a C array compiled into the firmware; no network is involved at runtime.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949440" y="1463040"/>
            <a:ext cx="4663440" cy="219456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50608" y="1609344"/>
            <a:ext cx="42611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TOOL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7150608" y="1847088"/>
            <a:ext cx="4261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TFLiteTraining app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7150608" y="2194560"/>
            <a:ext cx="426110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complete pipeline in one window — collect, preprocess, train, preview, export — and the same application used in the project.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949440" y="3886200"/>
            <a:ext cx="4663440" cy="219456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50608" y="4032504"/>
            <a:ext cx="42611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PIPELINE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7150608" y="4270248"/>
            <a:ext cx="4261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steps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7150608" y="4617720"/>
            <a:ext cx="426110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 → Preprocess → Train → Preview → Export → Deploy. Every step of this workshop maps onto these six.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73952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AIOSCOUT · EDGE AI VISION WORKSHOP</a:t>
            </a:r>
            <a:endParaRPr lang="en-US" sz="750" dirty="0"/>
          </a:p>
        </p:txBody>
      </p:sp>
      <p:sp>
        <p:nvSpPr>
          <p:cNvPr id="3" name="Text 1"/>
          <p:cNvSpPr/>
          <p:nvPr/>
        </p:nvSpPr>
        <p:spPr>
          <a:xfrm>
            <a:off x="10527487" y="647395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/ 22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66928" y="50292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B5B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PREPARATION 01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822960"/>
            <a:ext cx="1105783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Collecting samples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66928" y="1828800"/>
            <a:ext cx="54864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class per object to recognize — for example "left", "right", "stop"</a:t>
            </a:r>
            <a:endParaRPr lang="en-US" sz="1250" dirty="0"/>
          </a:p>
          <a:p>
            <a:pPr algn="l"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30–50 samples per class, with counts approximately equal</a:t>
            </a:r>
            <a:endParaRPr lang="en-US" sz="1250" dirty="0"/>
          </a:p>
          <a:p>
            <a:pPr algn="l"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Vary distance, angle, position in frame, and lighting while capturing</a:t>
            </a:r>
            <a:endParaRPr lang="en-US" sz="1250" dirty="0"/>
          </a:p>
          <a:p>
            <a:pPr algn="l"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Capture from the same camera the model will use — the board's camera, not the laptop's</a:t>
            </a:r>
            <a:endParaRPr lang="en-US" sz="1250" dirty="0"/>
          </a:p>
          <a:p>
            <a:pPr algn="l"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Delete blurry or accidental captures; they degrade the dataset</a:t>
            </a:r>
            <a:endParaRPr lang="en-US" sz="1250" dirty="0"/>
          </a:p>
        </p:txBody>
      </p:sp>
      <p:pic>
        <p:nvPicPr>
          <p:cNvPr id="7" name="Image 0" descr="/tmp/pptx_assets/img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1554480"/>
            <a:ext cx="5212080" cy="339259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400800" y="1554480"/>
            <a:ext cx="5212080" cy="3392590"/>
          </a:xfrm>
          <a:prstGeom prst="rect">
            <a:avLst/>
          </a:prstGeom>
          <a:ln w="12700">
            <a:solidFill>
              <a:srgbClr val="D8D9D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0" y="5020222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CAPTURE · HOLD-TO-CAPTURE · GEAR SETTINGS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9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73952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AIOSCOUT · EDGE AI VISION WORKSHOP</a:t>
            </a:r>
            <a:endParaRPr lang="en-US" sz="750" dirty="0"/>
          </a:p>
        </p:txBody>
      </p:sp>
      <p:sp>
        <p:nvSpPr>
          <p:cNvPr id="3" name="Text 1"/>
          <p:cNvSpPr/>
          <p:nvPr/>
        </p:nvSpPr>
        <p:spPr>
          <a:xfrm>
            <a:off x="10527487" y="647395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/ 22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66928" y="50292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B5B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PREPARATION 02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822960"/>
            <a:ext cx="1105783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Preprocessing: cropping and thresholding</a:t>
            </a:r>
            <a:endParaRPr lang="en-US" sz="2700" dirty="0"/>
          </a:p>
        </p:txBody>
      </p:sp>
      <p:pic>
        <p:nvPicPr>
          <p:cNvPr id="6" name="Image 0" descr="/tmp/pptx_assets/img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54480"/>
            <a:ext cx="5212080" cy="338785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554480"/>
            <a:ext cx="5212080" cy="3387852"/>
          </a:xfrm>
          <a:prstGeom prst="rect">
            <a:avLst/>
          </a:prstGeom>
          <a:ln w="12700">
            <a:solidFill>
              <a:srgbClr val="D8D9D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66928" y="5015484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 PAGE · VIEWER + WORKTABLE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6309360" y="1828800"/>
            <a:ext cx="53035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ROI — the crop box; only this region reaches the model</a:t>
            </a:r>
            <a:endParaRPr lang="en-US" sz="1250" dirty="0"/>
          </a:p>
          <a:p>
            <a:pPr algn="l"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Dark Thr — darker pixels become pure white (removes shadows and background)</a:t>
            </a:r>
            <a:endParaRPr lang="en-US" sz="1250" dirty="0"/>
          </a:p>
          <a:p>
            <a:pPr algn="l"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Lum Thr — brighter pixels become pure white (removes glare)</a:t>
            </a:r>
            <a:endParaRPr lang="en-US" sz="1250" dirty="0"/>
          </a:p>
          <a:p>
            <a:pPr algn="l"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 mode crops the darkest region automatically; Manual ROI positions the crop box manually</a:t>
            </a:r>
            <a:endParaRPr lang="en-US" sz="1250" dirty="0"/>
          </a:p>
          <a:p>
            <a:pPr algn="l"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Press S to save; unsaved preprocessing is discarded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6309360" y="5120640"/>
            <a:ext cx="5303520" cy="685800"/>
          </a:xfrm>
          <a:prstGeom prst="rect">
            <a:avLst/>
          </a:prstGeom>
          <a:solidFill>
            <a:srgbClr val="F58331"/>
          </a:solidFill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 of thumb — </a:t>
            </a:r>
            <a:pPr indent="0" marL="0">
              <a:buNone/>
            </a:pPr>
            <a:r>
              <a:rPr lang="en-US" sz="120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sign appears black and the background white; everything else is noise.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73952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AIOSCOUT · EDGE AI VISION WORKSHOP</a:t>
            </a:r>
            <a:endParaRPr lang="en-US" sz="750" dirty="0"/>
          </a:p>
        </p:txBody>
      </p:sp>
      <p:sp>
        <p:nvSpPr>
          <p:cNvPr id="3" name="Text 1"/>
          <p:cNvSpPr/>
          <p:nvPr/>
        </p:nvSpPr>
        <p:spPr>
          <a:xfrm>
            <a:off x="10527487" y="647395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22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66928" y="50292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B5B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PREPARATION 03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822960"/>
            <a:ext cx="1105783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Hyperparameters</a:t>
            </a:r>
            <a:endParaRPr lang="en-US" sz="27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83080"/>
          <a:ext cx="676656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914400"/>
                <a:gridCol w="374904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78716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Parameter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54864" marB="54864" anchor="ctr">
                    <a:lnL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78716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Default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54864" marB="54864" anchor="ctr">
                    <a:lnL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78716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Effect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54864" marB="54864" anchor="ctr">
                    <a:lnL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Image size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54864" marB="54864" anchor="ctr">
                    <a:lnL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54864" marB="54864" anchor="ctr">
                    <a:lnL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Detail versus speed (96 / 160 / 384)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54864" marB="54864" anchor="ctr">
                    <a:lnL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Batch size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54864" marB="54864" anchor="ctr">
                    <a:lnL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54864" marB="54864" anchor="ctr">
                    <a:lnL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Samples per update; larger values train faster and use more 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54864" marB="54864" anchor="ctr">
                    <a:lnL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Epochs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54864" marB="54864" anchor="ctr">
                    <a:lnL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54864" marB="54864" anchor="ctr">
                    <a:lnL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Passes over the data; excessive values cause overfitting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54864" marB="54864" anchor="ctr">
                    <a:lnL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Validation split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54864" marB="54864" anchor="ctr">
                    <a:lnL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54864" marB="54864" anchor="ctr">
                    <a:lnL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Fraction held out for validation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54864" marB="54864" anchor="ctr">
                    <a:lnL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Learning rate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54864" marB="54864" anchor="ctr">
                    <a:lnL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54864" marB="54864" anchor="ctr">
                    <a:lnL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 size; higher values converge faster but unstably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54864" marB="54864" anchor="ctr">
                    <a:lnL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Conv1 / Conv2 filters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54864" marB="54864" anchor="ctr">
                    <a:lnL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/ 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54864" marB="54864" anchor="ctr">
                    <a:lnL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Feature detectors per layer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54864" marB="54864" anchor="ctr">
                    <a:lnL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Dense units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54864" marB="54864" anchor="ctr">
                    <a:lnL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54864" marB="54864" anchor="ctr">
                    <a:lnL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Decision-layer neurons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54864" marB="54864" anchor="ctr">
                    <a:lnL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635240" y="1783080"/>
            <a:ext cx="3977640" cy="2011680"/>
          </a:xfrm>
          <a:prstGeom prst="roundRect">
            <a:avLst>
              <a:gd name="adj" fmla="val 2727"/>
            </a:avLst>
          </a:prstGeom>
          <a:solidFill>
            <a:srgbClr val="F1F1F0"/>
          </a:solidFill>
          <a:ln w="12700">
            <a:solidFill>
              <a:srgbClr val="F1F1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36408" y="1929384"/>
            <a:ext cx="3575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FROM RECOMMENDED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836408" y="2167128"/>
            <a:ext cx="3575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 one thing at a time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836408" y="2514600"/>
            <a:ext cx="357530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recommended applies the recommended hyperparameters automatically — epochs are chosen for ≈800 total updates. In the project, the highest-leverage improvements come from the data, not from these values.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7635240" y="3977640"/>
            <a:ext cx="3977640" cy="2011680"/>
          </a:xfrm>
          <a:prstGeom prst="roundRect">
            <a:avLst>
              <a:gd name="adj" fmla="val 2727"/>
            </a:avLst>
          </a:prstGeom>
          <a:solidFill>
            <a:srgbClr val="F1F1F0"/>
          </a:solidFill>
          <a:ln w="12700">
            <a:solidFill>
              <a:srgbClr val="F1F1F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836408" y="4123944"/>
            <a:ext cx="3575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TRADE-OFF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7836408" y="4361688"/>
            <a:ext cx="3575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Larger is not automatically better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7836408" y="4709160"/>
            <a:ext cx="357530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filters, units, or image size may add accuracy, but always at slower inference. On a microcontroller, inference speed is part of correctness.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9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73952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AIOSCOUT · EDGE AI VISION WORKSHOP</a:t>
            </a:r>
            <a:endParaRPr lang="en-US" sz="750" dirty="0"/>
          </a:p>
        </p:txBody>
      </p:sp>
      <p:sp>
        <p:nvSpPr>
          <p:cNvPr id="3" name="Text 1"/>
          <p:cNvSpPr/>
          <p:nvPr/>
        </p:nvSpPr>
        <p:spPr>
          <a:xfrm>
            <a:off x="10527487" y="647395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22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66928" y="50292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B5B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 05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822960"/>
            <a:ext cx="1105783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Overfitting and validation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66928" y="1783080"/>
            <a:ext cx="6035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model can score highly on every training image and still fail on the first new image it receives: it has memorized rather than learned — like a student who memorizes past papers but cannot answer a new question.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566928" y="3200400"/>
            <a:ext cx="5943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Indicator: validation accuracy during training</a:t>
            </a:r>
            <a:endParaRPr lang="en-US" sz="1250" dirty="0"/>
          </a:p>
          <a:p>
            <a:pPr algn="l"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Prevention: greater variety in samples (angles, lighting) and a moderate epoch count</a:t>
            </a:r>
            <a:endParaRPr lang="en-US" sz="1250" dirty="0"/>
          </a:p>
          <a:p>
            <a:pPr algn="l"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test: images from outside the team — the method used in the project evaluation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949440" y="1463040"/>
            <a:ext cx="4663440" cy="219456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50608" y="1609344"/>
            <a:ext cx="42611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HEALTHY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7150608" y="1847088"/>
            <a:ext cx="4261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≈ validation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150608" y="2194560"/>
            <a:ext cx="426110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scores track each other upward. The model generalizes.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949440" y="3886200"/>
            <a:ext cx="4663440" cy="219456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50608" y="4032504"/>
            <a:ext cx="42611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OVERFIT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7150608" y="4270248"/>
            <a:ext cx="4261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 stalls or drops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7150608" y="4617720"/>
            <a:ext cx="426110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accuracy keeps rising while held-out performance falls. Stop training, collect more varied data, and retrain.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73952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AIOSCOUT · EDGE AI VISION WORKSHOP</a:t>
            </a:r>
            <a:endParaRPr lang="en-US" sz="750" dirty="0"/>
          </a:p>
        </p:txBody>
      </p:sp>
      <p:sp>
        <p:nvSpPr>
          <p:cNvPr id="3" name="Text 1"/>
          <p:cNvSpPr/>
          <p:nvPr/>
        </p:nvSpPr>
        <p:spPr>
          <a:xfrm>
            <a:off x="10527487" y="647395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22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583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DEMONSTRATION · 15 MINUTES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66928" y="2011680"/>
            <a:ext cx="8778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Road-sign recognition, end to end.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66928" y="3657600"/>
            <a:ext cx="1567282" cy="384048"/>
          </a:xfrm>
          <a:prstGeom prst="roundRect">
            <a:avLst>
              <a:gd name="adj" fmla="val 11905"/>
            </a:avLst>
          </a:prstGeom>
          <a:solidFill>
            <a:srgbClr val="141414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3671316"/>
            <a:ext cx="156728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OPEN TEMPLATE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298802" y="3657600"/>
            <a:ext cx="1567282" cy="384048"/>
          </a:xfrm>
          <a:prstGeom prst="roundRect">
            <a:avLst>
              <a:gd name="adj" fmla="val 11905"/>
            </a:avLst>
          </a:prstGeom>
          <a:solidFill>
            <a:srgbClr val="141414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98802" y="3671316"/>
            <a:ext cx="156728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CAPTURE SIGNS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030675" y="3657600"/>
            <a:ext cx="1342339" cy="384048"/>
          </a:xfrm>
          <a:prstGeom prst="roundRect">
            <a:avLst>
              <a:gd name="adj" fmla="val 11905"/>
            </a:avLst>
          </a:prstGeom>
          <a:solidFill>
            <a:srgbClr val="141414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030675" y="3671316"/>
            <a:ext cx="134233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· PREPROCESS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5537606" y="3657600"/>
            <a:ext cx="967435" cy="384048"/>
          </a:xfrm>
          <a:prstGeom prst="roundRect">
            <a:avLst>
              <a:gd name="adj" fmla="val 11905"/>
            </a:avLst>
          </a:prstGeom>
          <a:solidFill>
            <a:srgbClr val="141414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537606" y="3671316"/>
            <a:ext cx="967435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· TRAIN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6669634" y="3657600"/>
            <a:ext cx="1492301" cy="384048"/>
          </a:xfrm>
          <a:prstGeom prst="roundRect">
            <a:avLst>
              <a:gd name="adj" fmla="val 11905"/>
            </a:avLst>
          </a:prstGeom>
          <a:solidFill>
            <a:srgbClr val="141414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669634" y="3671316"/>
            <a:ext cx="1492301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· LIVE PREVIEW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8326526" y="3657600"/>
            <a:ext cx="1042416" cy="384048"/>
          </a:xfrm>
          <a:prstGeom prst="roundRect">
            <a:avLst>
              <a:gd name="adj" fmla="val 11905"/>
            </a:avLst>
          </a:prstGeom>
          <a:solidFill>
            <a:srgbClr val="141414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6526" y="3671316"/>
            <a:ext cx="10424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· DEPLOY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566928" y="457200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complete pipeline is demonstrated once; the project session repeats it with digits.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73952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AIOSCOUT · EDGE AI VISION WORKSHOP</a:t>
            </a:r>
            <a:endParaRPr lang="en-US" sz="750" dirty="0"/>
          </a:p>
        </p:txBody>
      </p:sp>
      <p:sp>
        <p:nvSpPr>
          <p:cNvPr id="3" name="Text 1"/>
          <p:cNvSpPr/>
          <p:nvPr/>
        </p:nvSpPr>
        <p:spPr>
          <a:xfrm>
            <a:off x="10527487" y="647395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22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66928" y="50292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B5B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DEMONSTRATION 01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822960"/>
            <a:ext cx="1105783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workspace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66928" y="1828800"/>
            <a:ext cx="5486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 Area — collect and preprocess data</a:t>
            </a:r>
            <a:endParaRPr lang="en-US" sz="1300" dirty="0"/>
          </a:p>
          <a:p>
            <a:pPr algn="l"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 Area — hyperparameters and the Train button</a:t>
            </a:r>
            <a:endParaRPr lang="en-US" sz="1300" dirty="0"/>
          </a:p>
          <a:p>
            <a:pPr algn="l"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Preview Area — live test against the camera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66928" y="420624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demonstration opens template.tmproj — the same file the project starts from.</a:t>
            </a:r>
            <a:endParaRPr lang="en-US" sz="1250" dirty="0"/>
          </a:p>
        </p:txBody>
      </p:sp>
      <p:pic>
        <p:nvPicPr>
          <p:cNvPr id="8" name="Image 0" descr="/tmp/pptx_assets/img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1554480"/>
            <a:ext cx="5212080" cy="339259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400800" y="1554480"/>
            <a:ext cx="5212080" cy="3392590"/>
          </a:xfrm>
          <a:prstGeom prst="rect">
            <a:avLst/>
          </a:prstGeom>
          <a:ln w="12700">
            <a:solidFill>
              <a:srgbClr val="D8D9D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0" y="5020222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 · TRAIN · PREVIEW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9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73952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AIOSCOUT · EDGE AI VISION WORKSHOP</a:t>
            </a:r>
            <a:endParaRPr lang="en-US" sz="750" dirty="0"/>
          </a:p>
        </p:txBody>
      </p:sp>
      <p:sp>
        <p:nvSpPr>
          <p:cNvPr id="3" name="Text 1"/>
          <p:cNvSpPr/>
          <p:nvPr/>
        </p:nvSpPr>
        <p:spPr>
          <a:xfrm>
            <a:off x="10527487" y="647395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22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66928" y="50292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B5B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DEMONSTRATION 02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822960"/>
            <a:ext cx="1105783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Capturing road-sign samples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66928" y="178308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classes: left arrow · right arrow · stop. Source set to Device — the board's own camera.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66928" y="2743200"/>
            <a:ext cx="5486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Gear settings stay at defaults: 96×96 · grayscale · 115200 · AA 55 AA</a:t>
            </a:r>
            <a:endParaRPr lang="en-US" sz="1250" dirty="0"/>
          </a:p>
          <a:p>
            <a:pPr algn="l"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~40 samples per class, counts equal</a:t>
            </a:r>
            <a:endParaRPr lang="en-US" sz="1250" dirty="0"/>
          </a:p>
          <a:p>
            <a:pPr algn="l"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instructor varies angle and distance while capturing; reproduce this variation in the project</a:t>
            </a:r>
            <a:endParaRPr lang="en-US" sz="1250" dirty="0"/>
          </a:p>
        </p:txBody>
      </p:sp>
      <p:pic>
        <p:nvPicPr>
          <p:cNvPr id="8" name="Image 0" descr="/tmp/pptx_assets/img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1554480"/>
            <a:ext cx="5212080" cy="339259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400800" y="1554480"/>
            <a:ext cx="5212080" cy="3392590"/>
          </a:xfrm>
          <a:prstGeom prst="rect">
            <a:avLst/>
          </a:prstGeom>
          <a:ln w="12700">
            <a:solidFill>
              <a:srgbClr val="D8D9D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0" y="5020222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CAPTURE FROM THE BOARD'S CAMERA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73952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AIOSCOUT · EDGE AI VISION WORKSHOP</a:t>
            </a:r>
            <a:endParaRPr lang="en-US" sz="750" dirty="0"/>
          </a:p>
        </p:txBody>
      </p:sp>
      <p:sp>
        <p:nvSpPr>
          <p:cNvPr id="3" name="Text 1"/>
          <p:cNvSpPr/>
          <p:nvPr/>
        </p:nvSpPr>
        <p:spPr>
          <a:xfrm>
            <a:off x="10527487" y="647395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22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66928" y="50292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B5B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DEMONSTRATION 03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822960"/>
            <a:ext cx="1105783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Preprocessing the sign images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66928" y="1828800"/>
            <a:ext cx="54864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Manual ROI boxed tightly around the sign</a:t>
            </a:r>
            <a:endParaRPr lang="en-US" sz="1250" dirty="0"/>
          </a:p>
          <a:p>
            <a:pPr algn="l"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Dark Thr raised until the wall texture disappears</a:t>
            </a:r>
            <a:endParaRPr lang="en-US" sz="1250" dirty="0"/>
          </a:p>
          <a:p>
            <a:pPr algn="l"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arrow remains black and the background becomes white; verify several samples with the arrow keys</a:t>
            </a:r>
            <a:endParaRPr lang="en-US" sz="1250" dirty="0"/>
          </a:p>
          <a:p>
            <a:pPr algn="l"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to save, ESC to exit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66928" y="5029200"/>
            <a:ext cx="5486400" cy="822960"/>
          </a:xfrm>
          <a:prstGeom prst="rect">
            <a:avLst/>
          </a:prstGeom>
          <a:solidFill>
            <a:srgbClr val="F58331"/>
          </a:solidFill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Observation — </a:t>
            </a:r>
            <a:pPr indent="0" marL="0">
              <a:buNone/>
            </a:pPr>
            <a:r>
              <a:rPr lang="en-US" sz="11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step takes two minutes and contributes more to accuracy than any hyperparameter change.</a:t>
            </a:r>
            <a:endParaRPr lang="en-US" sz="1150" dirty="0"/>
          </a:p>
        </p:txBody>
      </p:sp>
      <p:pic>
        <p:nvPicPr>
          <p:cNvPr id="8" name="Image 0" descr="/tmp/pptx_assets/img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1554480"/>
            <a:ext cx="5212080" cy="338785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400800" y="1554480"/>
            <a:ext cx="5212080" cy="3387852"/>
          </a:xfrm>
          <a:prstGeom prst="rect">
            <a:avLst/>
          </a:prstGeom>
          <a:ln w="12700">
            <a:solidFill>
              <a:srgbClr val="D8D9D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0" y="5015484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ROI + THRESHOLDS ON REAL SAMPLES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9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73952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AIOSCOUT · EDGE AI VISION WORKSHOP</a:t>
            </a:r>
            <a:endParaRPr lang="en-US" sz="750" dirty="0"/>
          </a:p>
        </p:txBody>
      </p:sp>
      <p:sp>
        <p:nvSpPr>
          <p:cNvPr id="3" name="Text 1"/>
          <p:cNvSpPr/>
          <p:nvPr/>
        </p:nvSpPr>
        <p:spPr>
          <a:xfrm>
            <a:off x="10527487" y="647395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22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66928" y="50292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B5B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DEMONSTRATION 04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822960"/>
            <a:ext cx="1105783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66928" y="1828800"/>
            <a:ext cx="54864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Use recommended to apply the recommended hyperparameters (epochs chosen for ≈800 total updates)</a:t>
            </a:r>
            <a:endParaRPr lang="en-US" sz="1300" dirty="0"/>
          </a:p>
          <a:p>
            <a:pPr algn="l"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Train Embedded Model; on this dataset, training completes in under a minute</a:t>
            </a:r>
            <a:endParaRPr lang="en-US" sz="1300" dirty="0"/>
          </a:p>
          <a:p>
            <a:pPr algn="l"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Observe the validation accuracy as it rises</a:t>
            </a:r>
            <a:endParaRPr lang="en-US" sz="1300" dirty="0"/>
          </a:p>
        </p:txBody>
      </p:sp>
      <p:pic>
        <p:nvPicPr>
          <p:cNvPr id="7" name="Image 0" descr="/tmp/pptx_assets/img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1554480"/>
            <a:ext cx="5212080" cy="339259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400800" y="1554480"/>
            <a:ext cx="5212080" cy="3392590"/>
          </a:xfrm>
          <a:prstGeom prst="rect">
            <a:avLst/>
          </a:prstGeom>
          <a:ln w="12700">
            <a:solidFill>
              <a:srgbClr val="D8D9D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0" y="5020222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PANEL → TRAIN EMBEDDED MODEL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73952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AIOSCOUT · EDGE AI VISION WORKSHOP</a:t>
            </a:r>
            <a:endParaRPr lang="en-US" sz="750" dirty="0"/>
          </a:p>
        </p:txBody>
      </p:sp>
      <p:sp>
        <p:nvSpPr>
          <p:cNvPr id="3" name="Text 1"/>
          <p:cNvSpPr/>
          <p:nvPr/>
        </p:nvSpPr>
        <p:spPr>
          <a:xfrm>
            <a:off x="10527487" y="647395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22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66928" y="50292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B5B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DEMONSTRATION 05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822960"/>
            <a:ext cx="1105783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preview on unseen input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66928" y="1828800"/>
            <a:ext cx="54864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Gear → source Device + port</a:t>
            </a:r>
            <a:endParaRPr lang="en-US" sz="1250" dirty="0"/>
          </a:p>
          <a:p>
            <a:pPr algn="l"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Toggle Input and present a sign</a:t>
            </a:r>
            <a:endParaRPr lang="en-US" sz="1250" dirty="0"/>
          </a:p>
          <a:p>
            <a:pPr algn="l"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the confidence bar; toggle ROI to inspect exactly what the model receives</a:t>
            </a:r>
            <a:endParaRPr lang="en-US" sz="1250" dirty="0"/>
          </a:p>
          <a:p>
            <a:pPr algn="l"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 a tilted sign, a distant sign, and a partially covered sign; observe how the confidence responds</a:t>
            </a:r>
            <a:endParaRPr lang="en-US" sz="1250" dirty="0"/>
          </a:p>
          <a:p>
            <a:pPr algn="l"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Remove the sign — an empty frame reports "No Sign" (the OOD gate)</a:t>
            </a:r>
            <a:endParaRPr lang="en-US" sz="1250" dirty="0"/>
          </a:p>
        </p:txBody>
      </p:sp>
      <p:pic>
        <p:nvPicPr>
          <p:cNvPr id="7" name="Image 0" descr="/tmp/pptx_assets/img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1554480"/>
            <a:ext cx="5212080" cy="339259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400800" y="1554480"/>
            <a:ext cx="5212080" cy="3392590"/>
          </a:xfrm>
          <a:prstGeom prst="rect">
            <a:avLst/>
          </a:prstGeom>
          <a:ln w="12700">
            <a:solidFill>
              <a:srgbClr val="D8D9D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0" y="5020222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INTERPRETATION VIEW · LIVE CONFIDENCE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9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73952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AIOSCOUT · EDGE AI VISION WORKSHOP</a:t>
            </a:r>
            <a:endParaRPr lang="en-US" sz="750" dirty="0"/>
          </a:p>
        </p:txBody>
      </p:sp>
      <p:sp>
        <p:nvSpPr>
          <p:cNvPr id="3" name="Text 1"/>
          <p:cNvSpPr/>
          <p:nvPr/>
        </p:nvSpPr>
        <p:spPr>
          <a:xfrm>
            <a:off x="10527487" y="647395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22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66928" y="50292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B5B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DEMONSTRATION 06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822960"/>
            <a:ext cx="1105783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 and deployment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66928" y="1828800"/>
            <a:ext cx="54864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 model → five files: the quantized weights plus headers</a:t>
            </a:r>
            <a:endParaRPr lang="en-US" sz="1250" dirty="0"/>
          </a:p>
          <a:p>
            <a:pPr algn="l"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 them into the TFLite.ino project folder</a:t>
            </a:r>
            <a:endParaRPr lang="en-US" sz="1250" dirty="0"/>
          </a:p>
          <a:p>
            <a:pPr algn="l"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IMG_SIZE = 96 (must equal the app's image size)</a:t>
            </a:r>
            <a:endParaRPr lang="en-US" sz="1250" dirty="0"/>
          </a:p>
          <a:p>
            <a:pPr algn="l"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Upload → Serial Monitor → the board classifies independently</a:t>
            </a:r>
            <a:endParaRPr lang="en-US" sz="1250" dirty="0"/>
          </a:p>
          <a:p>
            <a:pPr algn="l"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Serial Monitor commands set the output mode and OOD parameters — get ood reports the values; set ood 0.3 70.0 0.60 0.70 restores defaults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66928" y="5029200"/>
            <a:ext cx="5486400" cy="822960"/>
          </a:xfrm>
          <a:prstGeom prst="rect">
            <a:avLst/>
          </a:prstGeom>
          <a:solidFill>
            <a:srgbClr val="F58331"/>
          </a:solidFill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 of demonstration — </a:t>
            </a:r>
            <a:pPr indent="0" marL="0">
              <a:buNone/>
            </a:pPr>
            <a:r>
              <a:rPr lang="en-US" sz="11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step required for the project has now been shown.</a:t>
            </a:r>
            <a:endParaRPr lang="en-US" sz="1150" dirty="0"/>
          </a:p>
        </p:txBody>
      </p:sp>
      <p:pic>
        <p:nvPicPr>
          <p:cNvPr id="8" name="Image 0" descr="/tmp/pptx_assets/img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1554480"/>
            <a:ext cx="5212080" cy="1923731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400800" y="1554480"/>
            <a:ext cx="5212080" cy="1923731"/>
          </a:xfrm>
          <a:prstGeom prst="rect">
            <a:avLst/>
          </a:prstGeom>
          <a:ln w="12700">
            <a:solidFill>
              <a:srgbClr val="D8D9D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0" y="3551363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FILES → PROJECT FOLDER</a:t>
            </a:r>
            <a:endParaRPr lang="en-US" sz="800" dirty="0"/>
          </a:p>
        </p:txBody>
      </p:sp>
      <p:pic>
        <p:nvPicPr>
          <p:cNvPr id="11" name="Image 1" descr="/tmp/pptx_assets/img9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0057" y="3977640"/>
            <a:ext cx="3653566" cy="237744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7180057" y="3977640"/>
            <a:ext cx="3653566" cy="2377440"/>
          </a:xfrm>
          <a:prstGeom prst="rect">
            <a:avLst/>
          </a:prstGeom>
          <a:ln w="12700">
            <a:solidFill>
              <a:srgbClr val="D8D9D8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180057" y="6428232"/>
            <a:ext cx="365356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INFERENCE RUNNING ON THE ESP32-P4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73952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AIOSCOUT · EDGE AI VISION WORKSHOP</a:t>
            </a:r>
            <a:endParaRPr lang="en-US" sz="750" dirty="0"/>
          </a:p>
        </p:txBody>
      </p:sp>
      <p:sp>
        <p:nvSpPr>
          <p:cNvPr id="3" name="Text 1"/>
          <p:cNvSpPr/>
          <p:nvPr/>
        </p:nvSpPr>
        <p:spPr>
          <a:xfrm>
            <a:off x="10527487" y="647395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/ 22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66928" y="6400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583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RECAP · CONCEPTS AND WORKFLOW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66928" y="105156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concepts, six steps.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66928" y="2148840"/>
            <a:ext cx="3584448" cy="1920240"/>
          </a:xfrm>
          <a:prstGeom prst="roundRect">
            <a:avLst>
              <a:gd name="adj" fmla="val 2857"/>
            </a:avLst>
          </a:prstGeom>
          <a:solidFill>
            <a:srgbClr val="141414"/>
          </a:solidFill>
          <a:ln w="12700">
            <a:solidFill>
              <a:srgbClr val="14141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22951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IDEAS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768096" y="253288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Learning from examples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68096" y="2898648"/>
            <a:ext cx="3200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Labeled data in, learned rules out; training replaces hand-written rules.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34256" y="2148840"/>
            <a:ext cx="3584448" cy="1920240"/>
          </a:xfrm>
          <a:prstGeom prst="roundRect">
            <a:avLst>
              <a:gd name="adj" fmla="val 2857"/>
            </a:avLst>
          </a:prstGeom>
          <a:solidFill>
            <a:srgbClr val="141414"/>
          </a:solidFill>
          <a:ln w="12700">
            <a:solidFill>
              <a:srgbClr val="14141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35424" y="22951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IDEAS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4535424" y="253288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CNN + confidence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4535424" y="2898648"/>
            <a:ext cx="3200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stack of feature detectors that ends in one score per class.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101584" y="2148840"/>
            <a:ext cx="3584448" cy="1920240"/>
          </a:xfrm>
          <a:prstGeom prst="roundRect">
            <a:avLst>
              <a:gd name="adj" fmla="val 2857"/>
            </a:avLst>
          </a:prstGeom>
          <a:solidFill>
            <a:srgbClr val="141414"/>
          </a:solidFill>
          <a:ln w="12700">
            <a:solidFill>
              <a:srgbClr val="14141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02752" y="22951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IDEAS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8302752" y="253288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AI + int8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8302752" y="2898648"/>
            <a:ext cx="3200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Quantized models run on-chip in real time via TensorFlow Lite Micro.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4251960"/>
            <a:ext cx="3584448" cy="1920240"/>
          </a:xfrm>
          <a:prstGeom prst="roundRect">
            <a:avLst>
              <a:gd name="adj" fmla="val 2857"/>
            </a:avLst>
          </a:prstGeom>
          <a:solidFill>
            <a:srgbClr val="141414"/>
          </a:solidFill>
          <a:ln w="12700">
            <a:solidFill>
              <a:srgbClr val="14141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68096" y="439826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STEPS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768096" y="463600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 &amp; preprocess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768096" y="5001768"/>
            <a:ext cx="3200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Balanced, varied samples; ROI and thresholds clean the noise.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334256" y="4251960"/>
            <a:ext cx="3584448" cy="1920240"/>
          </a:xfrm>
          <a:prstGeom prst="roundRect">
            <a:avLst>
              <a:gd name="adj" fmla="val 2857"/>
            </a:avLst>
          </a:prstGeom>
          <a:solidFill>
            <a:srgbClr val="141414"/>
          </a:solidFill>
          <a:ln w="12700">
            <a:solidFill>
              <a:srgbClr val="14141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35424" y="439826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STEPS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4535424" y="463600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 &amp; preview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4535424" y="5001768"/>
            <a:ext cx="3200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Defaults first; watch validation; test on unseen images.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8101584" y="4251960"/>
            <a:ext cx="3584448" cy="1920240"/>
          </a:xfrm>
          <a:prstGeom prst="roundRect">
            <a:avLst>
              <a:gd name="adj" fmla="val 2857"/>
            </a:avLst>
          </a:prstGeom>
          <a:solidFill>
            <a:srgbClr val="141414"/>
          </a:solidFill>
          <a:ln w="12700">
            <a:solidFill>
              <a:srgbClr val="14141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302752" y="439826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STEPS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8302752" y="463600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 &amp; deploy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8302752" y="5001768"/>
            <a:ext cx="3200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files, IMG_SIZE match, upload — the model runs on the board.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73952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AIOSCOUT · EDGE AI VISION WORKSHOP</a:t>
            </a:r>
            <a:endParaRPr lang="en-US" sz="750" dirty="0"/>
          </a:p>
        </p:txBody>
      </p:sp>
      <p:sp>
        <p:nvSpPr>
          <p:cNvPr id="3" name="Text 1"/>
          <p:cNvSpPr/>
          <p:nvPr/>
        </p:nvSpPr>
        <p:spPr>
          <a:xfrm>
            <a:off x="10527487" y="647395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/ 22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66928" y="50292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B5B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· 90 MINUTES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822960"/>
            <a:ext cx="1105783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Project: a digit recognizer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66928" y="1783080"/>
            <a:ext cx="6675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task: train a model that recognizes handwritten digits 0–9 presented on paper and runs live on the ESP32-P4.</a:t>
            </a:r>
            <a:endParaRPr lang="en-US" sz="13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743200"/>
          <a:ext cx="6675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2976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78716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Requirement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54864" marB="54864" anchor="ctr">
                    <a:lnL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78716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54864" marB="54864" anchor="ctr">
                    <a:lnL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Deployed on the board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54864" marB="54864" anchor="ctr">
                    <a:lnL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Live inference via Serial Monitor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54864" marB="54864" anchor="ctr">
                    <a:lnL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Accuracy on unseen digits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54864" marB="54864" anchor="ctr">
                    <a:lnL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8 of 10 correct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54864" marB="54864" anchor="ctr">
                    <a:lnL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 set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54864" marB="54864" anchor="ctr">
                    <a:lnL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Written by another team — never seen in training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54864" marB="54864" anchor="ctr">
                    <a:lnL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improvement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54864" marB="54864" anchor="ctr">
                    <a:lnL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 prepared to explain one change made and its observed effect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54864" marB="54864" anchor="ctr">
                    <a:lnL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7635240" y="1737360"/>
            <a:ext cx="3977640" cy="2148840"/>
          </a:xfrm>
          <a:prstGeom prst="roundRect">
            <a:avLst>
              <a:gd name="adj" fmla="val 2553"/>
            </a:avLst>
          </a:prstGeom>
          <a:solidFill>
            <a:srgbClr val="F1F1F0"/>
          </a:solidFill>
          <a:ln w="12700">
            <a:solidFill>
              <a:srgbClr val="F1F1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36408" y="1883664"/>
            <a:ext cx="3575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PROVIDED MATERIALS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836408" y="2121408"/>
            <a:ext cx="3575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Kit and manual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7836408" y="2468880"/>
            <a:ext cx="357530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car (ESP32-P4 + camera), map, road-sign stand with 3 signs, USB-C cable, batteries ×2, markers and paper — and the lab manual (Parts A–H).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7635240" y="4069080"/>
            <a:ext cx="3977640" cy="1920240"/>
          </a:xfrm>
          <a:prstGeom prst="roundRect">
            <a:avLst>
              <a:gd name="adj" fmla="val 2857"/>
            </a:avLst>
          </a:prstGeom>
          <a:solidFill>
            <a:srgbClr val="F1F1F0"/>
          </a:solidFill>
          <a:ln w="12700">
            <a:solidFill>
              <a:srgbClr val="F1F1F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836408" y="4215384"/>
            <a:ext cx="3575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MANAGEMENT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7836408" y="4453128"/>
            <a:ext cx="3575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with four digits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7836408" y="4800600"/>
            <a:ext cx="357530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Begin with digits 1, 2, 3 and 7 (the most confusable); four reliable classes outperform ten unreliable ones. Add classes if time allows.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9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73952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AIOSCOUT · EDGE AI VISION WORKSHOP</a:t>
            </a:r>
            <a:endParaRPr lang="en-US" sz="750" dirty="0"/>
          </a:p>
        </p:txBody>
      </p:sp>
      <p:sp>
        <p:nvSpPr>
          <p:cNvPr id="3" name="Text 1"/>
          <p:cNvSpPr/>
          <p:nvPr/>
        </p:nvSpPr>
        <p:spPr>
          <a:xfrm>
            <a:off x="10527487" y="647395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/ 22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66928" y="50292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B5B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· DATA PREPARATION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822960"/>
            <a:ext cx="1105783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Data-collection guidelines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66928" y="1783080"/>
            <a:ext cx="2651760" cy="26517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1929384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 01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768096" y="2167128"/>
            <a:ext cx="22494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Bold, large digits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68096" y="2514600"/>
            <a:ext cx="224942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8–10 cm tall with bold strokes; thin pen lines disappear at 96×96 grayscale.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374136" y="1783080"/>
            <a:ext cx="2651760" cy="26517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75304" y="1929384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 02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3575304" y="2167128"/>
            <a:ext cx="22494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Capture from the board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3575304" y="2514600"/>
            <a:ext cx="224942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Device rather than the webcam; train on images from the camera that will run the model.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81344" y="1783080"/>
            <a:ext cx="2651760" cy="26517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82512" y="1929384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 03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6382512" y="2167128"/>
            <a:ext cx="22494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Equal counts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6382512" y="2514600"/>
            <a:ext cx="224942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30–50 per class, balanced; an unbalanced dataset biases the model toward the largest class.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988552" y="1783080"/>
            <a:ext cx="2651760" cy="26517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89720" y="1929384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 04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9189720" y="2167128"/>
            <a:ext cx="22494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Independent test data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9189720" y="2514600"/>
            <a:ext cx="224942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evaluation uses another team's handwriting; include handwriting from every team member in the training data.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66928" y="4800600"/>
            <a:ext cx="11057839" cy="731520"/>
          </a:xfrm>
          <a:prstGeom prst="rect">
            <a:avLst/>
          </a:prstGeom>
          <a:solidFill>
            <a:srgbClr val="F58331"/>
          </a:solidFill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 05 — </a:t>
            </a:r>
            <a:pPr indent="0" marL="0">
              <a:buNone/>
            </a:pPr>
            <a:r>
              <a:rPr lang="en-US" sz="12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iterate: train, test, correct the data, retrain. Two or three iterations are a normal part of the process.</a:t>
            </a:r>
            <a:endParaRPr lang="en-US" sz="12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73952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AIOSCOUT · EDGE AI VISION WORKSHOP</a:t>
            </a:r>
            <a:endParaRPr lang="en-US" sz="750" dirty="0"/>
          </a:p>
        </p:txBody>
      </p:sp>
      <p:sp>
        <p:nvSpPr>
          <p:cNvPr id="3" name="Text 1"/>
          <p:cNvSpPr/>
          <p:nvPr/>
        </p:nvSpPr>
        <p:spPr>
          <a:xfrm>
            <a:off x="10527487" y="647395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/ 22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66928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583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BEGIN THE PROJECT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66928" y="123444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the lab manual and begin with Part A.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66928" y="2651760"/>
            <a:ext cx="3584448" cy="2286000"/>
          </a:xfrm>
          <a:prstGeom prst="roundRect">
            <a:avLst>
              <a:gd name="adj" fmla="val 2400"/>
            </a:avLst>
          </a:prstGeom>
          <a:solidFill>
            <a:srgbClr val="141414"/>
          </a:solidFill>
          <a:ln w="12700">
            <a:solidFill>
              <a:srgbClr val="14141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281635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768096" y="3072384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Pre-lab manual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68096" y="3474720"/>
            <a:ext cx="3200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Completed before the session.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34256" y="2651760"/>
            <a:ext cx="3584448" cy="2286000"/>
          </a:xfrm>
          <a:prstGeom prst="roundRect">
            <a:avLst>
              <a:gd name="adj" fmla="val 2400"/>
            </a:avLst>
          </a:prstGeom>
          <a:solidFill>
            <a:srgbClr val="141414"/>
          </a:solidFill>
          <a:ln w="12700">
            <a:solidFill>
              <a:srgbClr val="14141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35424" y="281635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4535424" y="3072384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 manual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4535424" y="3474720"/>
            <a:ext cx="3200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Parts A–H: collect, preprocess, train, test, deploy, evaluate, extend.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101584" y="2651760"/>
            <a:ext cx="3584448" cy="2286000"/>
          </a:xfrm>
          <a:prstGeom prst="roundRect">
            <a:avLst>
              <a:gd name="adj" fmla="val 2400"/>
            </a:avLst>
          </a:prstGeom>
          <a:solidFill>
            <a:srgbClr val="141414"/>
          </a:solidFill>
          <a:ln w="12700">
            <a:solidFill>
              <a:srgbClr val="14141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02752" y="281635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PROBLEMS OCCUR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8302752" y="3072384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Troubleshooting table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8302752" y="3474720"/>
            <a:ext cx="3200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Common failures — port busy, single-class collapse, upload errors — each with its remedy.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66928" y="53949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WORKSHOP MATERIALS · PRELAB.HTML · LABMANUAL.HTML ON THE WORKSHOP PAGE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Edge AI Vision Workshop — Lesson</dc:title>
  <dc:subject>PptxGenJS Presentation</dc:subject>
  <dc:creator>AIoScout</dc:creator>
  <cp:lastModifiedBy>AIoScout</cp:lastModifiedBy>
  <cp:revision>1</cp:revision>
  <dcterms:created xsi:type="dcterms:W3CDTF">2026-09-06T15:46:33Z</dcterms:created>
  <dcterms:modified xsi:type="dcterms:W3CDTF">2026-09-06T15:46:33Z</dcterms:modified>
</cp:coreProperties>
</file>