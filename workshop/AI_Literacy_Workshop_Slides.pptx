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29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3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x="18288000" cy="10287000"/>
  <p:notesSz cx="6858000" cy="9144000"/>
  <p:embeddedFontLst>
    <p:embeddedFont>
      <p:font typeface="Arial Bold" charset="1" panose="020B0704020202020204"/>
      <p:regular r:id="rId38"/>
    </p:embeddedFont>
    <p:embeddedFont>
      <p:font typeface="Arial" charset="1" panose="020B0604020202020204"/>
      <p:regular r:id="rId40"/>
    </p:embeddedFont>
    <p:embeddedFont>
      <p:font typeface="Canva Sans Bold" charset="1" panose="020B0803030501040103"/>
      <p:regular r:id="rId41"/>
    </p:embeddedFont>
    <p:embeddedFont>
      <p:font typeface="Arial Italics" charset="1" panose="020B0604020202090204"/>
      <p:regular r:id="rId5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notesMasters/notesMaster1.xml" Type="http://schemas.openxmlformats.org/officeDocument/2006/relationships/notesMaster"/><Relationship Id="rId36" Target="theme/theme2.xml" Type="http://schemas.openxmlformats.org/officeDocument/2006/relationships/theme"/><Relationship Id="rId37" Target="notesSlides/notesSlide1.xml" Type="http://schemas.openxmlformats.org/officeDocument/2006/relationships/notesSlide"/><Relationship Id="rId38" Target="fonts/font38.fntdata" Type="http://schemas.openxmlformats.org/officeDocument/2006/relationships/font"/><Relationship Id="rId39" Target="notesSlides/notesSlide2.xml" Type="http://schemas.openxmlformats.org/officeDocument/2006/relationships/notesSlide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fonts/font41.fntdata" Type="http://schemas.openxmlformats.org/officeDocument/2006/relationships/font"/><Relationship Id="rId42" Target="notesSlides/notesSlide3.xml" Type="http://schemas.openxmlformats.org/officeDocument/2006/relationships/notesSlide"/><Relationship Id="rId43" Target="notesSlides/notesSlide4.xml" Type="http://schemas.openxmlformats.org/officeDocument/2006/relationships/notesSlide"/><Relationship Id="rId44" Target="notesSlides/notesSlide5.xml" Type="http://schemas.openxmlformats.org/officeDocument/2006/relationships/notesSlide"/><Relationship Id="rId45" Target="notesSlides/notesSlide6.xml" Type="http://schemas.openxmlformats.org/officeDocument/2006/relationships/notesSlide"/><Relationship Id="rId46" Target="notesSlides/notesSlide7.xml" Type="http://schemas.openxmlformats.org/officeDocument/2006/relationships/notesSlide"/><Relationship Id="rId47" Target="notesSlides/notesSlide8.xml" Type="http://schemas.openxmlformats.org/officeDocument/2006/relationships/notesSlide"/><Relationship Id="rId48" Target="notesSlides/notesSlide9.xml" Type="http://schemas.openxmlformats.org/officeDocument/2006/relationships/notesSlide"/><Relationship Id="rId49" Target="notesSlides/notesSlide10.xml" Type="http://schemas.openxmlformats.org/officeDocument/2006/relationships/notesSlide"/><Relationship Id="rId5" Target="tableStyles.xml" Type="http://schemas.openxmlformats.org/officeDocument/2006/relationships/tableStyles"/><Relationship Id="rId50" Target="notesSlides/notesSlide11.xml" Type="http://schemas.openxmlformats.org/officeDocument/2006/relationships/notesSlide"/><Relationship Id="rId51" Target="notesSlides/notesSlide12.xml" Type="http://schemas.openxmlformats.org/officeDocument/2006/relationships/notesSlide"/><Relationship Id="rId52" Target="notesSlides/notesSlide13.xml" Type="http://schemas.openxmlformats.org/officeDocument/2006/relationships/notesSlide"/><Relationship Id="rId53" Target="notesSlides/notesSlide14.xml" Type="http://schemas.openxmlformats.org/officeDocument/2006/relationships/notesSlide"/><Relationship Id="rId54" Target="notesSlides/notesSlide15.xml" Type="http://schemas.openxmlformats.org/officeDocument/2006/relationships/notesSlide"/><Relationship Id="rId55" Target="notesSlides/notesSlide16.xml" Type="http://schemas.openxmlformats.org/officeDocument/2006/relationships/notesSlide"/><Relationship Id="rId56" Target="fonts/font56.fntdata" Type="http://schemas.openxmlformats.org/officeDocument/2006/relationships/font"/><Relationship Id="rId57" Target="notesSlides/notesSlide17.xml" Type="http://schemas.openxmlformats.org/officeDocument/2006/relationships/notesSlide"/><Relationship Id="rId58" Target="notesSlides/notesSlide18.xml" Type="http://schemas.openxmlformats.org/officeDocument/2006/relationships/notesSlide"/><Relationship Id="rId59" Target="notesSlides/notesSlide19.xml" Type="http://schemas.openxmlformats.org/officeDocument/2006/relationships/notesSlide"/><Relationship Id="rId6" Target="slides/slide1.xml" Type="http://schemas.openxmlformats.org/officeDocument/2006/relationships/slide"/><Relationship Id="rId60" Target="notesSlides/notesSlide20.xml" Type="http://schemas.openxmlformats.org/officeDocument/2006/relationships/notesSlide"/><Relationship Id="rId61" Target="notesSlides/notesSlide21.xml" Type="http://schemas.openxmlformats.org/officeDocument/2006/relationships/notesSlide"/><Relationship Id="rId62" Target="notesSlides/notesSlide22.xml" Type="http://schemas.openxmlformats.org/officeDocument/2006/relationships/notesSlide"/><Relationship Id="rId63" Target="notesSlides/notesSlide23.xml" Type="http://schemas.openxmlformats.org/officeDocument/2006/relationships/notesSlide"/><Relationship Id="rId64" Target="notesSlides/notesSlide24.xml" Type="http://schemas.openxmlformats.org/officeDocument/2006/relationships/notesSlide"/><Relationship Id="rId65" Target="notesSlides/notesSlide25.xml" Type="http://schemas.openxmlformats.org/officeDocument/2006/relationships/notesSlide"/><Relationship Id="rId66" Target="notesSlides/notesSlide26.xml" Type="http://schemas.openxmlformats.org/officeDocument/2006/relationships/notesSlide"/><Relationship Id="rId67" Target="notesSlides/notesSlide27.xml" Type="http://schemas.openxmlformats.org/officeDocument/2006/relationships/notesSlide"/><Relationship Id="rId68" Target="notesSlides/notesSlide28.xml" Type="http://schemas.openxmlformats.org/officeDocument/2006/relationships/notesSlide"/><Relationship Id="rId69" Target="notesSlides/notesSlide29.xml" Type="http://schemas.openxmlformats.org/officeDocument/2006/relationships/notes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2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_rels/notesSlide2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3.xml" Type="http://schemas.openxmlformats.org/officeDocument/2006/relationships/slide"/></Relationships>
</file>

<file path=ppt/notesSlides/_rels/notesSlide2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4.xml" Type="http://schemas.openxmlformats.org/officeDocument/2006/relationships/slide"/></Relationships>
</file>

<file path=ppt/notesSlides/_rels/notesSlide2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5.xml" Type="http://schemas.openxmlformats.org/officeDocument/2006/relationships/slide"/></Relationships>
</file>

<file path=ppt/notesSlides/_rels/notesSlide2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6.xml" Type="http://schemas.openxmlformats.org/officeDocument/2006/relationships/slide"/></Relationships>
</file>

<file path=ppt/notesSlides/_rels/notesSlide2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7.xml" Type="http://schemas.openxmlformats.org/officeDocument/2006/relationships/slide"/></Relationships>
</file>

<file path=ppt/notesSlides/_rels/notesSlide2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8.xml" Type="http://schemas.openxmlformats.org/officeDocument/2006/relationships/slide"/></Relationships>
</file>

<file path=ppt/notesSlides/_rels/notesSlide2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9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Relationship Id="rId6" Target="../media/image8.png" Type="http://schemas.openxmlformats.org/officeDocument/2006/relationships/image"/><Relationship Id="rId7" Target="../media/image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Relationship Id="rId4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Relationship Id="rId4" Target="../media/image5.png" Type="http://schemas.openxmlformats.org/officeDocument/2006/relationships/image"/><Relationship Id="rId5" Target="../media/image1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Relationship Id="rId4" Target="../media/image5.png" Type="http://schemas.openxmlformats.org/officeDocument/2006/relationships/image"/><Relationship Id="rId5" Target="../media/image11.png" Type="http://schemas.openxmlformats.org/officeDocument/2006/relationships/image"/><Relationship Id="rId6" Target="../media/image12.png" Type="http://schemas.openxmlformats.org/officeDocument/2006/relationships/image"/><Relationship Id="rId7" Target="../media/image1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Relationship Id="rId4" Target="../media/image5.png" Type="http://schemas.openxmlformats.org/officeDocument/2006/relationships/image"/><Relationship Id="rId5" Target="../media/image1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jpeg" Type="http://schemas.openxmlformats.org/officeDocument/2006/relationships/image"/><Relationship Id="rId4" Target="../media/image18.png" Type="http://schemas.openxmlformats.org/officeDocument/2006/relationships/image"/><Relationship Id="rId5" Target="../media/image19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jpeg" Type="http://schemas.openxmlformats.org/officeDocument/2006/relationships/image"/><Relationship Id="rId4" Target="../media/image20.png" Type="http://schemas.openxmlformats.org/officeDocument/2006/relationships/image"/><Relationship Id="rId5" Target="../media/image2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1.jpeg" Type="http://schemas.openxmlformats.org/officeDocument/2006/relationships/image"/><Relationship Id="rId4" Target="../media/image22.png" Type="http://schemas.openxmlformats.org/officeDocument/2006/relationships/image"/><Relationship Id="rId5" Target="../media/image2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1.jpeg" Type="http://schemas.openxmlformats.org/officeDocument/2006/relationships/image"/><Relationship Id="rId4" Target="../media/image24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1.jpeg" Type="http://schemas.openxmlformats.org/officeDocument/2006/relationships/image"/><Relationship Id="rId4" Target="../media/image25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Relationship Id="rId3" Target="../media/image1.jpeg" Type="http://schemas.openxmlformats.org/officeDocument/2006/relationships/image"/><Relationship Id="rId4" Target="../media/image26.png" Type="http://schemas.openxmlformats.org/officeDocument/2006/relationships/image"/><Relationship Id="rId5" Target="../media/image27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7.xml" Type="http://schemas.openxmlformats.org/officeDocument/2006/relationships/notesSlide"/><Relationship Id="rId3" Target="../media/image1.jpeg" Type="http://schemas.openxmlformats.org/officeDocument/2006/relationships/image"/><Relationship Id="rId4" Target="../media/image28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8.xml" Type="http://schemas.openxmlformats.org/officeDocument/2006/relationships/notesSlide"/><Relationship Id="rId3" Target="../media/image1.jpeg" Type="http://schemas.openxmlformats.org/officeDocument/2006/relationships/image"/><Relationship Id="rId4" Target="../media/image29.jpeg" Type="http://schemas.openxmlformats.org/officeDocument/2006/relationships/image"/><Relationship Id="rId5" Target="https://www.youtube.com/watch?v=Qfj4urMF8CU" TargetMode="External" Type="http://schemas.openxmlformats.org/officeDocument/2006/relationships/hyperlink"/><Relationship Id="rId6" Target="https://www.youtube.com/watch?v=Qfj4urMF8CU" TargetMode="External" Type="http://schemas.openxmlformats.org/officeDocument/2006/relationships/video"/><Relationship Id="rId7" Target="https://www.youtube.com/watch?v=Qfj4urMF8CU" TargetMode="External" Type="http://schemas.openxmlformats.org/officeDocument/2006/relationships/hyperlink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9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0.xml" Type="http://schemas.openxmlformats.org/officeDocument/2006/relationships/notesSlide"/><Relationship Id="rId3" Target="../media/image1.jpeg" Type="http://schemas.openxmlformats.org/officeDocument/2006/relationships/image"/><Relationship Id="rId4" Target="../media/image30.jpe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1.xml" Type="http://schemas.openxmlformats.org/officeDocument/2006/relationships/notesSlide"/><Relationship Id="rId3" Target="../media/image1.jpeg" Type="http://schemas.openxmlformats.org/officeDocument/2006/relationships/image"/><Relationship Id="rId4" Target="../media/image31.jpe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2.xml" Type="http://schemas.openxmlformats.org/officeDocument/2006/relationships/notesSlide"/><Relationship Id="rId3" Target="../media/image1.jpeg" Type="http://schemas.openxmlformats.org/officeDocument/2006/relationships/image"/><Relationship Id="rId4" Target="../media/image32.jpe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3.xml" Type="http://schemas.openxmlformats.org/officeDocument/2006/relationships/notesSlide"/><Relationship Id="rId3" Target="../media/image1.jpeg" Type="http://schemas.openxmlformats.org/officeDocument/2006/relationships/image"/><Relationship Id="rId4" Target="../media/image33.jpe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4.xml" Type="http://schemas.openxmlformats.org/officeDocument/2006/relationships/notesSlide"/><Relationship Id="rId3" Target="../media/image1.jpeg" Type="http://schemas.openxmlformats.org/officeDocument/2006/relationships/image"/><Relationship Id="rId4" Target="../media/image34.jpe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8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9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5637003"/>
            <a:ext cx="12893040" cy="2331720"/>
            <a:chOff x="0" y="0"/>
            <a:chExt cx="17190720" cy="31089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190720" cy="3108960"/>
            </a:xfrm>
            <a:custGeom>
              <a:avLst/>
              <a:gdLst/>
              <a:ahLst/>
              <a:cxnLst/>
              <a:rect r="r" b="b" t="t" l="l"/>
              <a:pathLst>
                <a:path h="3108960" w="17190720">
                  <a:moveTo>
                    <a:pt x="0" y="0"/>
                  </a:moveTo>
                  <a:lnTo>
                    <a:pt x="17190720" y="0"/>
                  </a:lnTo>
                  <a:lnTo>
                    <a:pt x="17190720" y="3108960"/>
                  </a:lnTo>
                  <a:lnTo>
                    <a:pt x="0" y="3108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740" r="0" b="-5774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17190720" cy="31661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559"/>
                </a:lnSpc>
              </a:pPr>
              <a:r>
                <a:rPr lang="en-US" sz="6000" b="true">
                  <a:solidFill>
                    <a:srgbClr val="1A1C1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Intro to </a:t>
              </a:r>
              <a:r>
                <a:rPr lang="en-US" sz="6000" b="true">
                  <a:solidFill>
                    <a:srgbClr val="F5833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Physical AI </a:t>
              </a:r>
            </a:p>
            <a:p>
              <a:pPr algn="l">
                <a:lnSpc>
                  <a:spcPts val="7559"/>
                </a:lnSpc>
              </a:pPr>
              <a:r>
                <a:rPr lang="en-US" sz="6000" b="true">
                  <a:solidFill>
                    <a:srgbClr val="1A1C1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with Edge AI Vision Demo Project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9710928"/>
            <a:ext cx="6858000" cy="356616"/>
            <a:chOff x="0" y="0"/>
            <a:chExt cx="9144000" cy="47548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144000" cy="475488"/>
            </a:xfrm>
            <a:custGeom>
              <a:avLst/>
              <a:gdLst/>
              <a:ahLst/>
              <a:cxnLst/>
              <a:rect r="r" b="b" t="t" l="l"/>
              <a:pathLst>
                <a:path h="475488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4712" r="0" b="-32471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9144000" cy="4850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b="true" sz="1125" spc="300">
                  <a:solidFill>
                    <a:srgbClr val="78716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AIOSCOUT · EDGE AI VISION WORKSHOP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60120" y="8037303"/>
            <a:ext cx="12344400" cy="480060"/>
            <a:chOff x="0" y="0"/>
            <a:chExt cx="16459200" cy="6400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459200" cy="640080"/>
            </a:xfrm>
            <a:custGeom>
              <a:avLst/>
              <a:gdLst/>
              <a:ahLst/>
              <a:cxnLst/>
              <a:rect r="r" b="b" t="t" l="l"/>
              <a:pathLst>
                <a:path h="64008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1043" r="0" b="-45104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1645920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99">
                  <a:solidFill>
                    <a:srgbClr val="5B5BA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PRESENTED BY AIOSCOUT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60120" y="685800"/>
            <a:ext cx="16367303" cy="411480"/>
            <a:chOff x="0" y="0"/>
            <a:chExt cx="21823070" cy="5486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823069" cy="548640"/>
            </a:xfrm>
            <a:custGeom>
              <a:avLst/>
              <a:gdLst/>
              <a:ahLst/>
              <a:cxnLst/>
              <a:rect r="r" b="b" t="t" l="l"/>
              <a:pathLst>
                <a:path h="548640" w="21823069">
                  <a:moveTo>
                    <a:pt x="0" y="0"/>
                  </a:moveTo>
                  <a:lnTo>
                    <a:pt x="21823069" y="0"/>
                  </a:lnTo>
                  <a:lnTo>
                    <a:pt x="21823069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5049" r="0" b="-725049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2182307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b="true" sz="1725" spc="225">
                  <a:solidFill>
                    <a:srgbClr val="5B5BA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AI LITERACY WORKSHOPBY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6167599" y="1028700"/>
            <a:ext cx="11091701" cy="3414738"/>
          </a:xfrm>
          <a:custGeom>
            <a:avLst/>
            <a:gdLst/>
            <a:ahLst/>
            <a:cxnLst/>
            <a:rect r="r" b="b" t="t" l="l"/>
            <a:pathLst>
              <a:path h="3414738" w="11091701">
                <a:moveTo>
                  <a:pt x="0" y="0"/>
                </a:moveTo>
                <a:lnTo>
                  <a:pt x="11091701" y="0"/>
                </a:lnTo>
                <a:lnTo>
                  <a:pt x="11091701" y="3414738"/>
                </a:lnTo>
                <a:lnTo>
                  <a:pt x="0" y="34147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1931" t="0" r="0" b="-73834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3614824" y="3154842"/>
            <a:ext cx="3958575" cy="4045897"/>
          </a:xfrm>
          <a:custGeom>
            <a:avLst/>
            <a:gdLst/>
            <a:ahLst/>
            <a:cxnLst/>
            <a:rect r="r" b="b" t="t" l="l"/>
            <a:pathLst>
              <a:path h="4045897" w="3958575">
                <a:moveTo>
                  <a:pt x="0" y="0"/>
                </a:moveTo>
                <a:lnTo>
                  <a:pt x="3958576" y="0"/>
                </a:lnTo>
                <a:lnTo>
                  <a:pt x="3958576" y="4045896"/>
                </a:lnTo>
                <a:lnTo>
                  <a:pt x="0" y="404589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9710928"/>
            <a:ext cx="6858000" cy="356616"/>
            <a:chOff x="0" y="0"/>
            <a:chExt cx="9144000" cy="4754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144000" cy="475488"/>
            </a:xfrm>
            <a:custGeom>
              <a:avLst/>
              <a:gdLst/>
              <a:ahLst/>
              <a:cxnLst/>
              <a:rect r="r" b="b" t="t" l="l"/>
              <a:pathLst>
                <a:path h="475488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4712" r="0" b="-32471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9144000" cy="4850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b="true" sz="1125" spc="300">
                  <a:solidFill>
                    <a:srgbClr val="78716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AIOSCOUT · EDGE AI VISION WORKSHOP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1207008"/>
            <a:ext cx="16367303" cy="932762"/>
            <a:chOff x="0" y="0"/>
            <a:chExt cx="21823070" cy="124368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823069" cy="1243682"/>
            </a:xfrm>
            <a:custGeom>
              <a:avLst/>
              <a:gdLst/>
              <a:ahLst/>
              <a:cxnLst/>
              <a:rect r="r" b="b" t="t" l="l"/>
              <a:pathLst>
                <a:path h="1243682" w="21823069">
                  <a:moveTo>
                    <a:pt x="0" y="0"/>
                  </a:moveTo>
                  <a:lnTo>
                    <a:pt x="21823069" y="0"/>
                  </a:lnTo>
                  <a:lnTo>
                    <a:pt x="21823069" y="1243682"/>
                  </a:lnTo>
                  <a:lnTo>
                    <a:pt x="0" y="124368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7792" r="0" b="-28602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1823070" cy="12722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A1C1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Agenda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50595" y="2870835"/>
            <a:ext cx="3914394" cy="4682490"/>
            <a:chOff x="0" y="0"/>
            <a:chExt cx="5219192" cy="62433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219192" cy="6243320"/>
            </a:xfrm>
            <a:custGeom>
              <a:avLst/>
              <a:gdLst/>
              <a:ahLst/>
              <a:cxnLst/>
              <a:rect r="r" b="b" t="t" l="l"/>
              <a:pathLst>
                <a:path h="6243320" w="5219192">
                  <a:moveTo>
                    <a:pt x="0" y="128651"/>
                  </a:moveTo>
                  <a:cubicBezTo>
                    <a:pt x="0" y="57658"/>
                    <a:pt x="57658" y="0"/>
                    <a:pt x="128651" y="0"/>
                  </a:cubicBezTo>
                  <a:lnTo>
                    <a:pt x="5090541" y="0"/>
                  </a:lnTo>
                  <a:cubicBezTo>
                    <a:pt x="5161534" y="0"/>
                    <a:pt x="5219192" y="57658"/>
                    <a:pt x="5219192" y="128651"/>
                  </a:cubicBezTo>
                  <a:lnTo>
                    <a:pt x="5219192" y="6114669"/>
                  </a:lnTo>
                  <a:cubicBezTo>
                    <a:pt x="5219192" y="6185662"/>
                    <a:pt x="5161534" y="6243320"/>
                    <a:pt x="5090541" y="6243320"/>
                  </a:cubicBezTo>
                  <a:lnTo>
                    <a:pt x="128651" y="6243320"/>
                  </a:lnTo>
                  <a:cubicBezTo>
                    <a:pt x="57658" y="6243320"/>
                    <a:pt x="0" y="6185662"/>
                    <a:pt x="0" y="6114669"/>
                  </a:cubicBezTo>
                  <a:close/>
                </a:path>
              </a:pathLst>
            </a:custGeom>
            <a:solidFill>
              <a:srgbClr val="F1F1F0"/>
            </a:solidFill>
            <a:ln w="19050" cap="sq">
              <a:solidFill>
                <a:srgbClr val="F1F1F0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289304" y="3223260"/>
            <a:ext cx="3291840" cy="1097280"/>
            <a:chOff x="0" y="0"/>
            <a:chExt cx="4389120" cy="14630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3891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4389120" cy="14916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D8D9D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89304" y="4457700"/>
            <a:ext cx="3429000" cy="480060"/>
            <a:chOff x="0" y="0"/>
            <a:chExt cx="4572000" cy="6400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572000" cy="640080"/>
            </a:xfrm>
            <a:custGeom>
              <a:avLst/>
              <a:gdLst/>
              <a:ahLst/>
              <a:cxnLst/>
              <a:rect r="r" b="b" t="t" l="l"/>
              <a:pathLst>
                <a:path h="64008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457200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 b="true">
                  <a:solidFill>
                    <a:srgbClr val="1A1C1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 · Intro lecture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89304" y="4937760"/>
            <a:ext cx="3429000" cy="411480"/>
            <a:chOff x="0" y="0"/>
            <a:chExt cx="4572000" cy="5486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572000" cy="548640"/>
            </a:xfrm>
            <a:custGeom>
              <a:avLst/>
              <a:gdLst/>
              <a:ahLst/>
              <a:cxnLst/>
              <a:rect r="r" b="b" t="t" l="l"/>
              <a:pathLst>
                <a:path h="54864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457200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b="true">
                  <a:solidFill>
                    <a:srgbClr val="F5833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~15 min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289304" y="5401818"/>
            <a:ext cx="3429000" cy="892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6235" indent="-178118" lvl="1">
              <a:lnSpc>
                <a:spcPts val="2376"/>
              </a:lnSpc>
              <a:buFont typeface="Arial"/>
              <a:buChar char="•"/>
            </a:pPr>
            <a:r>
              <a:rPr lang="en-US" sz="1650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Intro to physical AI components</a:t>
            </a:r>
          </a:p>
          <a:p>
            <a:pPr algn="l" marL="356235" indent="-178118" lvl="1">
              <a:lnSpc>
                <a:spcPts val="2376"/>
              </a:lnSpc>
              <a:buFont typeface="Arial"/>
              <a:buChar char="•"/>
            </a:pPr>
            <a:r>
              <a:rPr lang="en-US" sz="1650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Model training terms explanation</a:t>
            </a:r>
          </a:p>
          <a:p>
            <a:pPr algn="l" marL="356235" indent="-178118" lvl="1">
              <a:lnSpc>
                <a:spcPts val="2376"/>
              </a:lnSpc>
              <a:buFont typeface="Arial"/>
              <a:buChar char="•"/>
            </a:pPr>
            <a:r>
              <a:rPr lang="en-US" sz="1650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Brief intro to physical AI ethics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5106543" y="2870835"/>
            <a:ext cx="3914394" cy="4682490"/>
            <a:chOff x="0" y="0"/>
            <a:chExt cx="5219192" cy="62433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219192" cy="6243320"/>
            </a:xfrm>
            <a:custGeom>
              <a:avLst/>
              <a:gdLst/>
              <a:ahLst/>
              <a:cxnLst/>
              <a:rect r="r" b="b" t="t" l="l"/>
              <a:pathLst>
                <a:path h="6243320" w="5219192">
                  <a:moveTo>
                    <a:pt x="0" y="128651"/>
                  </a:moveTo>
                  <a:cubicBezTo>
                    <a:pt x="0" y="57658"/>
                    <a:pt x="57658" y="0"/>
                    <a:pt x="128651" y="0"/>
                  </a:cubicBezTo>
                  <a:lnTo>
                    <a:pt x="5090541" y="0"/>
                  </a:lnTo>
                  <a:cubicBezTo>
                    <a:pt x="5161534" y="0"/>
                    <a:pt x="5219192" y="57658"/>
                    <a:pt x="5219192" y="128651"/>
                  </a:cubicBezTo>
                  <a:lnTo>
                    <a:pt x="5219192" y="6114669"/>
                  </a:lnTo>
                  <a:cubicBezTo>
                    <a:pt x="5219192" y="6185662"/>
                    <a:pt x="5161534" y="6243320"/>
                    <a:pt x="5090541" y="6243320"/>
                  </a:cubicBezTo>
                  <a:lnTo>
                    <a:pt x="128651" y="6243320"/>
                  </a:lnTo>
                  <a:cubicBezTo>
                    <a:pt x="57658" y="6243320"/>
                    <a:pt x="0" y="6185662"/>
                    <a:pt x="0" y="6114669"/>
                  </a:cubicBezTo>
                  <a:close/>
                </a:path>
              </a:pathLst>
            </a:custGeom>
            <a:solidFill>
              <a:srgbClr val="F1F1F0"/>
            </a:solidFill>
            <a:ln w="19050" cap="sq">
              <a:solidFill>
                <a:srgbClr val="F1F1F0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5445252" y="3223260"/>
            <a:ext cx="3291840" cy="1097280"/>
            <a:chOff x="0" y="0"/>
            <a:chExt cx="4389120" cy="14630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3891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4389120" cy="14916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D8D9D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02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5445252" y="4457700"/>
            <a:ext cx="3429000" cy="480060"/>
            <a:chOff x="0" y="0"/>
            <a:chExt cx="4572000" cy="6400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572000" cy="640080"/>
            </a:xfrm>
            <a:custGeom>
              <a:avLst/>
              <a:gdLst/>
              <a:ahLst/>
              <a:cxnLst/>
              <a:rect r="r" b="b" t="t" l="l"/>
              <a:pathLst>
                <a:path h="64008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457200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 b="true">
                  <a:solidFill>
                    <a:srgbClr val="1A1C1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 · Lab tutorial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5445252" y="4937760"/>
            <a:ext cx="3429000" cy="411480"/>
            <a:chOff x="0" y="0"/>
            <a:chExt cx="4572000" cy="5486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572000" cy="548640"/>
            </a:xfrm>
            <a:custGeom>
              <a:avLst/>
              <a:gdLst/>
              <a:ahLst/>
              <a:cxnLst/>
              <a:rect r="r" b="b" t="t" l="l"/>
              <a:pathLst>
                <a:path h="54864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"/>
              <a:ext cx="457200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b="true">
                  <a:solidFill>
                    <a:srgbClr val="F5833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~15 min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5445252" y="5401818"/>
            <a:ext cx="3429000" cy="892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6"/>
              </a:lnSpc>
            </a:pPr>
            <a:r>
              <a:rPr lang="en-US" sz="1650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Introduce to our training platform and w</a:t>
            </a:r>
            <a:r>
              <a:rPr lang="en-US" sz="1650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atch the instructor train a road-sign recognizer live.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9262491" y="2870835"/>
            <a:ext cx="3914394" cy="4682490"/>
            <a:chOff x="0" y="0"/>
            <a:chExt cx="5219192" cy="62433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219192" cy="6243320"/>
            </a:xfrm>
            <a:custGeom>
              <a:avLst/>
              <a:gdLst/>
              <a:ahLst/>
              <a:cxnLst/>
              <a:rect r="r" b="b" t="t" l="l"/>
              <a:pathLst>
                <a:path h="6243320" w="5219192">
                  <a:moveTo>
                    <a:pt x="0" y="128651"/>
                  </a:moveTo>
                  <a:cubicBezTo>
                    <a:pt x="0" y="57658"/>
                    <a:pt x="57658" y="0"/>
                    <a:pt x="128651" y="0"/>
                  </a:cubicBezTo>
                  <a:lnTo>
                    <a:pt x="5090541" y="0"/>
                  </a:lnTo>
                  <a:cubicBezTo>
                    <a:pt x="5161534" y="0"/>
                    <a:pt x="5219192" y="57658"/>
                    <a:pt x="5219192" y="128651"/>
                  </a:cubicBezTo>
                  <a:lnTo>
                    <a:pt x="5219192" y="6114669"/>
                  </a:lnTo>
                  <a:cubicBezTo>
                    <a:pt x="5219192" y="6185662"/>
                    <a:pt x="5161534" y="6243320"/>
                    <a:pt x="5090541" y="6243320"/>
                  </a:cubicBezTo>
                  <a:lnTo>
                    <a:pt x="128651" y="6243320"/>
                  </a:lnTo>
                  <a:cubicBezTo>
                    <a:pt x="57658" y="6243320"/>
                    <a:pt x="0" y="6185662"/>
                    <a:pt x="0" y="6114669"/>
                  </a:cubicBezTo>
                  <a:close/>
                </a:path>
              </a:pathLst>
            </a:custGeom>
            <a:solidFill>
              <a:srgbClr val="F1F1F0"/>
            </a:solidFill>
            <a:ln w="19050" cap="sq">
              <a:solidFill>
                <a:srgbClr val="F1F1F0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9601200" y="3223260"/>
            <a:ext cx="3291840" cy="1097280"/>
            <a:chOff x="0" y="0"/>
            <a:chExt cx="4389120" cy="14630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3891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28575"/>
              <a:ext cx="4389120" cy="14916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D8D9D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03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601200" y="4457700"/>
            <a:ext cx="3429000" cy="480060"/>
            <a:chOff x="0" y="0"/>
            <a:chExt cx="4572000" cy="64008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572000" cy="640080"/>
            </a:xfrm>
            <a:custGeom>
              <a:avLst/>
              <a:gdLst/>
              <a:ahLst/>
              <a:cxnLst/>
              <a:rect r="r" b="b" t="t" l="l"/>
              <a:pathLst>
                <a:path h="64008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19050"/>
              <a:ext cx="457200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 b="true">
                  <a:solidFill>
                    <a:srgbClr val="1A1C1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 · Hands-on lab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9601200" y="4937760"/>
            <a:ext cx="3429000" cy="411480"/>
            <a:chOff x="0" y="0"/>
            <a:chExt cx="4572000" cy="5486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572000" cy="548640"/>
            </a:xfrm>
            <a:custGeom>
              <a:avLst/>
              <a:gdLst/>
              <a:ahLst/>
              <a:cxnLst/>
              <a:rect r="r" b="b" t="t" l="l"/>
              <a:pathLst>
                <a:path h="54864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9525"/>
              <a:ext cx="457200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b="true">
                  <a:solidFill>
                    <a:srgbClr val="F5833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~60 min</a:t>
              </a: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9601200" y="5401818"/>
            <a:ext cx="3429000" cy="892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6"/>
              </a:lnSpc>
            </a:pPr>
            <a:r>
              <a:rPr lang="en-US" sz="1650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In teams of 3: build own digit recognizer (0–9) and run it on the car.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13418439" y="2870835"/>
            <a:ext cx="3914394" cy="4682490"/>
            <a:chOff x="0" y="0"/>
            <a:chExt cx="5219192" cy="62433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219192" cy="6243320"/>
            </a:xfrm>
            <a:custGeom>
              <a:avLst/>
              <a:gdLst/>
              <a:ahLst/>
              <a:cxnLst/>
              <a:rect r="r" b="b" t="t" l="l"/>
              <a:pathLst>
                <a:path h="6243320" w="5219192">
                  <a:moveTo>
                    <a:pt x="0" y="128651"/>
                  </a:moveTo>
                  <a:cubicBezTo>
                    <a:pt x="0" y="57658"/>
                    <a:pt x="57658" y="0"/>
                    <a:pt x="128651" y="0"/>
                  </a:cubicBezTo>
                  <a:lnTo>
                    <a:pt x="5090541" y="0"/>
                  </a:lnTo>
                  <a:cubicBezTo>
                    <a:pt x="5161534" y="0"/>
                    <a:pt x="5219192" y="57658"/>
                    <a:pt x="5219192" y="128651"/>
                  </a:cubicBezTo>
                  <a:lnTo>
                    <a:pt x="5219192" y="6114669"/>
                  </a:lnTo>
                  <a:cubicBezTo>
                    <a:pt x="5219192" y="6185662"/>
                    <a:pt x="5161534" y="6243320"/>
                    <a:pt x="5090541" y="6243320"/>
                  </a:cubicBezTo>
                  <a:lnTo>
                    <a:pt x="128651" y="6243320"/>
                  </a:lnTo>
                  <a:cubicBezTo>
                    <a:pt x="57658" y="6243320"/>
                    <a:pt x="0" y="6185662"/>
                    <a:pt x="0" y="6114669"/>
                  </a:cubicBezTo>
                  <a:close/>
                </a:path>
              </a:pathLst>
            </a:custGeom>
            <a:solidFill>
              <a:srgbClr val="F1F1F0"/>
            </a:solidFill>
            <a:ln w="19050" cap="sq">
              <a:solidFill>
                <a:srgbClr val="F1F1F0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13757148" y="3223260"/>
            <a:ext cx="3291840" cy="1097280"/>
            <a:chOff x="0" y="0"/>
            <a:chExt cx="4389120" cy="14630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43891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28575"/>
              <a:ext cx="4389120" cy="14916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D8D9D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04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3757148" y="4457700"/>
            <a:ext cx="3429000" cy="480060"/>
            <a:chOff x="0" y="0"/>
            <a:chExt cx="4572000" cy="64008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4572000" cy="640080"/>
            </a:xfrm>
            <a:custGeom>
              <a:avLst/>
              <a:gdLst/>
              <a:ahLst/>
              <a:cxnLst/>
              <a:rect r="r" b="b" t="t" l="l"/>
              <a:pathLst>
                <a:path h="64008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19050"/>
              <a:ext cx="457200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 b="true">
                  <a:solidFill>
                    <a:srgbClr val="1A1C1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4 · Demo &amp; sharing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3757148" y="4937760"/>
            <a:ext cx="3429000" cy="411480"/>
            <a:chOff x="0" y="0"/>
            <a:chExt cx="4572000" cy="54864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4572000" cy="548640"/>
            </a:xfrm>
            <a:custGeom>
              <a:avLst/>
              <a:gdLst/>
              <a:ahLst/>
              <a:cxnLst/>
              <a:rect r="r" b="b" t="t" l="l"/>
              <a:pathLst>
                <a:path h="54864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9525"/>
              <a:ext cx="457200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b="true">
                  <a:solidFill>
                    <a:srgbClr val="F5833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~30 min</a:t>
              </a:r>
            </a:p>
          </p:txBody>
        </p:sp>
      </p:grpSp>
      <p:sp>
        <p:nvSpPr>
          <p:cNvPr name="TextBox 55" id="55"/>
          <p:cNvSpPr txBox="true"/>
          <p:nvPr/>
        </p:nvSpPr>
        <p:spPr>
          <a:xfrm rot="0">
            <a:off x="13757148" y="5401818"/>
            <a:ext cx="3429000" cy="1977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6"/>
              </a:lnSpc>
            </a:pPr>
            <a:r>
              <a:rPr lang="en-US" sz="1650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Each team demos their model, shows their score, shares one lesson.</a:t>
            </a:r>
          </a:p>
        </p:txBody>
      </p:sp>
      <p:grpSp>
        <p:nvGrpSpPr>
          <p:cNvPr name="Group 56" id="56"/>
          <p:cNvGrpSpPr/>
          <p:nvPr/>
        </p:nvGrpSpPr>
        <p:grpSpPr>
          <a:xfrm rot="0">
            <a:off x="960120" y="685800"/>
            <a:ext cx="16367303" cy="411480"/>
            <a:chOff x="0" y="0"/>
            <a:chExt cx="21823070" cy="54864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1823069" cy="548640"/>
            </a:xfrm>
            <a:custGeom>
              <a:avLst/>
              <a:gdLst/>
              <a:ahLst/>
              <a:cxnLst/>
              <a:rect r="r" b="b" t="t" l="l"/>
              <a:pathLst>
                <a:path h="548640" w="21823069">
                  <a:moveTo>
                    <a:pt x="0" y="0"/>
                  </a:moveTo>
                  <a:lnTo>
                    <a:pt x="21823069" y="0"/>
                  </a:lnTo>
                  <a:lnTo>
                    <a:pt x="21823069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5049" r="0" b="-725049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19050"/>
              <a:ext cx="2182307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b="true" sz="1725" spc="225">
                  <a:solidFill>
                    <a:srgbClr val="5B5BA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</a:t>
              </a:r>
              <a:r>
                <a:rPr lang="en-US" b="true" sz="1725" spc="225">
                  <a:solidFill>
                    <a:srgbClr val="5B5BA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· INTRO LECTURE</a:t>
              </a:r>
            </a:p>
          </p:txBody>
        </p:sp>
      </p:grpSp>
      <p:sp>
        <p:nvSpPr>
          <p:cNvPr name="TextBox 59" id="59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583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9710928"/>
            <a:ext cx="6858000" cy="356616"/>
            <a:chOff x="0" y="0"/>
            <a:chExt cx="9144000" cy="4754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144000" cy="475488"/>
            </a:xfrm>
            <a:custGeom>
              <a:avLst/>
              <a:gdLst/>
              <a:ahLst/>
              <a:cxnLst/>
              <a:rect r="r" b="b" t="t" l="l"/>
              <a:pathLst>
                <a:path h="475488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4712" r="0" b="-32471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9144000" cy="4850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b="true" sz="1125" spc="300">
                  <a:solidFill>
                    <a:srgbClr val="78716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AIOSCOUT · EDGE AI VISION WORKSHOP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685800"/>
            <a:ext cx="16367303" cy="411480"/>
            <a:chOff x="0" y="0"/>
            <a:chExt cx="21823070" cy="5486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823069" cy="548640"/>
            </a:xfrm>
            <a:custGeom>
              <a:avLst/>
              <a:gdLst/>
              <a:ahLst/>
              <a:cxnLst/>
              <a:rect r="r" b="b" t="t" l="l"/>
              <a:pathLst>
                <a:path h="548640" w="21823069">
                  <a:moveTo>
                    <a:pt x="0" y="0"/>
                  </a:moveTo>
                  <a:lnTo>
                    <a:pt x="21823069" y="0"/>
                  </a:lnTo>
                  <a:lnTo>
                    <a:pt x="21823069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5049" r="0" b="-725049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82307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b="true" sz="1725" spc="225">
                  <a:solidFill>
                    <a:srgbClr val="5B5BA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</a:t>
              </a:r>
              <a:r>
                <a:rPr lang="en-US" b="true" sz="1725" spc="225">
                  <a:solidFill>
                    <a:srgbClr val="5B5BA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· INTRO LECTURE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60120" y="1207008"/>
            <a:ext cx="16367303" cy="822960"/>
            <a:chOff x="0" y="0"/>
            <a:chExt cx="21823070" cy="10972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823069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823069">
                  <a:moveTo>
                    <a:pt x="0" y="0"/>
                  </a:moveTo>
                  <a:lnTo>
                    <a:pt x="21823069" y="0"/>
                  </a:lnTo>
                  <a:lnTo>
                    <a:pt x="21823069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7524" r="0" b="-337524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21823070" cy="11258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A1C1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What is Physical AI?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960120" y="4283829"/>
            <a:ext cx="6830960" cy="4610898"/>
          </a:xfrm>
          <a:custGeom>
            <a:avLst/>
            <a:gdLst/>
            <a:ahLst/>
            <a:cxnLst/>
            <a:rect r="r" b="b" t="t" l="l"/>
            <a:pathLst>
              <a:path h="4610898" w="6830960">
                <a:moveTo>
                  <a:pt x="0" y="0"/>
                </a:moveTo>
                <a:lnTo>
                  <a:pt x="6830960" y="0"/>
                </a:lnTo>
                <a:lnTo>
                  <a:pt x="6830960" y="4610898"/>
                </a:lnTo>
                <a:lnTo>
                  <a:pt x="0" y="46108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549421" y="2144268"/>
            <a:ext cx="7721577" cy="4343387"/>
          </a:xfrm>
          <a:custGeom>
            <a:avLst/>
            <a:gdLst/>
            <a:ahLst/>
            <a:cxnLst/>
            <a:rect r="r" b="b" t="t" l="l"/>
            <a:pathLst>
              <a:path h="4343387" w="7721577">
                <a:moveTo>
                  <a:pt x="0" y="0"/>
                </a:moveTo>
                <a:lnTo>
                  <a:pt x="7721577" y="0"/>
                </a:lnTo>
                <a:lnTo>
                  <a:pt x="7721577" y="4343387"/>
                </a:lnTo>
                <a:lnTo>
                  <a:pt x="0" y="43433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960120" y="2317199"/>
            <a:ext cx="6635751" cy="1150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1"/>
              </a:lnSpc>
            </a:pPr>
            <a:r>
              <a:rPr lang="en-US" sz="2175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Chatbot AI is what you may already be familiar with, but Physical AI is very different, and have greater potential on doing much more different tasks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583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9710928"/>
            <a:ext cx="6858000" cy="356616"/>
            <a:chOff x="0" y="0"/>
            <a:chExt cx="9144000" cy="4754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144000" cy="475488"/>
            </a:xfrm>
            <a:custGeom>
              <a:avLst/>
              <a:gdLst/>
              <a:ahLst/>
              <a:cxnLst/>
              <a:rect r="r" b="b" t="t" l="l"/>
              <a:pathLst>
                <a:path h="475488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4712" r="0" b="-32471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9144000" cy="4850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b="true" sz="1125" spc="300">
                  <a:solidFill>
                    <a:srgbClr val="78716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AIOSCOUT · EDGE AI VISION WORKSHOP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1207008"/>
            <a:ext cx="16367303" cy="932762"/>
            <a:chOff x="0" y="0"/>
            <a:chExt cx="21823070" cy="124368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823069" cy="1243682"/>
            </a:xfrm>
            <a:custGeom>
              <a:avLst/>
              <a:gdLst/>
              <a:ahLst/>
              <a:cxnLst/>
              <a:rect r="r" b="b" t="t" l="l"/>
              <a:pathLst>
                <a:path h="1243682" w="21823069">
                  <a:moveTo>
                    <a:pt x="0" y="0"/>
                  </a:moveTo>
                  <a:lnTo>
                    <a:pt x="21823069" y="0"/>
                  </a:lnTo>
                  <a:lnTo>
                    <a:pt x="21823069" y="1243682"/>
                  </a:lnTo>
                  <a:lnTo>
                    <a:pt x="0" y="124368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7792" r="0" b="-28602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1823070" cy="12722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A1C1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You already meet Physical AI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45832" y="2660333"/>
            <a:ext cx="3923919" cy="3594735"/>
            <a:chOff x="0" y="0"/>
            <a:chExt cx="5231892" cy="47929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231892" cy="4792980"/>
            </a:xfrm>
            <a:custGeom>
              <a:avLst/>
              <a:gdLst/>
              <a:ahLst/>
              <a:cxnLst/>
              <a:rect r="r" b="b" t="t" l="l"/>
              <a:pathLst>
                <a:path h="4792980" w="5231892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5084445" y="0"/>
                  </a:lnTo>
                  <a:cubicBezTo>
                    <a:pt x="5165852" y="0"/>
                    <a:pt x="5231892" y="66040"/>
                    <a:pt x="5231892" y="147447"/>
                  </a:cubicBezTo>
                  <a:lnTo>
                    <a:pt x="5231892" y="4645533"/>
                  </a:lnTo>
                  <a:cubicBezTo>
                    <a:pt x="5231892" y="4726940"/>
                    <a:pt x="5165852" y="4792980"/>
                    <a:pt x="5084445" y="4792980"/>
                  </a:cubicBezTo>
                  <a:lnTo>
                    <a:pt x="147447" y="4792980"/>
                  </a:lnTo>
                  <a:cubicBezTo>
                    <a:pt x="66040" y="4792980"/>
                    <a:pt x="0" y="4726940"/>
                    <a:pt x="0" y="4645533"/>
                  </a:cubicBezTo>
                  <a:close/>
                </a:path>
              </a:pathLst>
            </a:custGeom>
            <a:blipFill>
              <a:blip r:embed="rId4"/>
              <a:stretch>
                <a:fillRect l="-31431" t="0" r="-31431" b="0"/>
              </a:stretch>
            </a:blipFill>
            <a:ln w="28575" cap="sq">
              <a:solidFill>
                <a:srgbClr val="78716C"/>
              </a:solidFill>
              <a:prstDash val="dash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5101780" y="2660333"/>
            <a:ext cx="3923919" cy="3594735"/>
            <a:chOff x="0" y="0"/>
            <a:chExt cx="5231892" cy="47929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231892" cy="4792980"/>
            </a:xfrm>
            <a:custGeom>
              <a:avLst/>
              <a:gdLst/>
              <a:ahLst/>
              <a:cxnLst/>
              <a:rect r="r" b="b" t="t" l="l"/>
              <a:pathLst>
                <a:path h="4792980" w="5231892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5084445" y="0"/>
                  </a:lnTo>
                  <a:cubicBezTo>
                    <a:pt x="5165852" y="0"/>
                    <a:pt x="5231892" y="66040"/>
                    <a:pt x="5231892" y="147447"/>
                  </a:cubicBezTo>
                  <a:lnTo>
                    <a:pt x="5231892" y="4645533"/>
                  </a:lnTo>
                  <a:cubicBezTo>
                    <a:pt x="5231892" y="4726940"/>
                    <a:pt x="5165852" y="4792980"/>
                    <a:pt x="5084445" y="4792980"/>
                  </a:cubicBezTo>
                  <a:lnTo>
                    <a:pt x="147447" y="4792980"/>
                  </a:lnTo>
                  <a:cubicBezTo>
                    <a:pt x="66040" y="4792980"/>
                    <a:pt x="0" y="4726940"/>
                    <a:pt x="0" y="4645533"/>
                  </a:cubicBezTo>
                  <a:close/>
                </a:path>
              </a:pathLst>
            </a:custGeom>
            <a:blipFill>
              <a:blip r:embed="rId5"/>
              <a:stretch>
                <a:fillRect l="-18673" t="0" r="-18673" b="0"/>
              </a:stretch>
            </a:blipFill>
            <a:ln w="28575" cap="sq">
              <a:solidFill>
                <a:srgbClr val="78716C"/>
              </a:solidFill>
              <a:prstDash val="dash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9257728" y="2660333"/>
            <a:ext cx="3923919" cy="3594735"/>
            <a:chOff x="0" y="0"/>
            <a:chExt cx="5231892" cy="47929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231892" cy="4792980"/>
            </a:xfrm>
            <a:custGeom>
              <a:avLst/>
              <a:gdLst/>
              <a:ahLst/>
              <a:cxnLst/>
              <a:rect r="r" b="b" t="t" l="l"/>
              <a:pathLst>
                <a:path h="4792980" w="5231892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5084445" y="0"/>
                  </a:lnTo>
                  <a:cubicBezTo>
                    <a:pt x="5165852" y="0"/>
                    <a:pt x="5231892" y="66040"/>
                    <a:pt x="5231892" y="147447"/>
                  </a:cubicBezTo>
                  <a:lnTo>
                    <a:pt x="5231892" y="4645533"/>
                  </a:lnTo>
                  <a:cubicBezTo>
                    <a:pt x="5231892" y="4726940"/>
                    <a:pt x="5165852" y="4792980"/>
                    <a:pt x="5084445" y="4792980"/>
                  </a:cubicBezTo>
                  <a:lnTo>
                    <a:pt x="147447" y="4792980"/>
                  </a:lnTo>
                  <a:cubicBezTo>
                    <a:pt x="66040" y="4792980"/>
                    <a:pt x="0" y="4726940"/>
                    <a:pt x="0" y="4645533"/>
                  </a:cubicBezTo>
                  <a:close/>
                </a:path>
              </a:pathLst>
            </a:custGeom>
            <a:blipFill>
              <a:blip r:embed="rId6"/>
              <a:stretch>
                <a:fillRect l="-11073" t="0" r="-11073" b="0"/>
              </a:stretch>
            </a:blipFill>
            <a:ln w="28575" cap="sq">
              <a:solidFill>
                <a:srgbClr val="78716C"/>
              </a:solidFill>
              <a:prstDash val="dash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3413676" y="2660333"/>
            <a:ext cx="3923919" cy="3594735"/>
            <a:chOff x="0" y="0"/>
            <a:chExt cx="5231892" cy="47929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231892" cy="4792980"/>
            </a:xfrm>
            <a:custGeom>
              <a:avLst/>
              <a:gdLst/>
              <a:ahLst/>
              <a:cxnLst/>
              <a:rect r="r" b="b" t="t" l="l"/>
              <a:pathLst>
                <a:path h="4792980" w="5231892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5084445" y="0"/>
                  </a:lnTo>
                  <a:cubicBezTo>
                    <a:pt x="5165852" y="0"/>
                    <a:pt x="5231892" y="66040"/>
                    <a:pt x="5231892" y="147447"/>
                  </a:cubicBezTo>
                  <a:lnTo>
                    <a:pt x="5231892" y="4645533"/>
                  </a:lnTo>
                  <a:cubicBezTo>
                    <a:pt x="5231892" y="4726940"/>
                    <a:pt x="5165852" y="4792980"/>
                    <a:pt x="5084445" y="4792980"/>
                  </a:cubicBezTo>
                  <a:lnTo>
                    <a:pt x="147447" y="4792980"/>
                  </a:lnTo>
                  <a:cubicBezTo>
                    <a:pt x="66040" y="4792980"/>
                    <a:pt x="0" y="4726940"/>
                    <a:pt x="0" y="4645533"/>
                  </a:cubicBezTo>
                  <a:close/>
                </a:path>
              </a:pathLst>
            </a:custGeom>
            <a:blipFill>
              <a:blip r:embed="rId7"/>
              <a:stretch>
                <a:fillRect l="-37856" t="0" r="-37856" b="0"/>
              </a:stretch>
            </a:blipFill>
            <a:ln w="28575" cap="sq">
              <a:solidFill>
                <a:srgbClr val="78716C"/>
              </a:solidFill>
              <a:prstDash val="dash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960120" y="685800"/>
            <a:ext cx="16367303" cy="411480"/>
            <a:chOff x="0" y="0"/>
            <a:chExt cx="21823070" cy="5486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823069" cy="548640"/>
            </a:xfrm>
            <a:custGeom>
              <a:avLst/>
              <a:gdLst/>
              <a:ahLst/>
              <a:cxnLst/>
              <a:rect r="r" b="b" t="t" l="l"/>
              <a:pathLst>
                <a:path h="548640" w="21823069">
                  <a:moveTo>
                    <a:pt x="0" y="0"/>
                  </a:moveTo>
                  <a:lnTo>
                    <a:pt x="21823069" y="0"/>
                  </a:lnTo>
                  <a:lnTo>
                    <a:pt x="21823069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5049" r="0" b="-725049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2182307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b="true" sz="1725" spc="225">
                  <a:solidFill>
                    <a:srgbClr val="5B5BA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</a:t>
              </a:r>
              <a:r>
                <a:rPr lang="en-US" b="true" sz="1725" spc="225">
                  <a:solidFill>
                    <a:srgbClr val="5B5BA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· INTRO LECTURE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028700" y="6379845"/>
            <a:ext cx="3909060" cy="1125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7"/>
              </a:lnSpc>
            </a:pPr>
            <a:r>
              <a:rPr lang="en-US" sz="2324" b="true">
                <a:solidFill>
                  <a:srgbClr val="1A1C1C"/>
                </a:solidFill>
                <a:latin typeface="Arial Bold"/>
                <a:ea typeface="Arial Bold"/>
                <a:cs typeface="Arial Bold"/>
                <a:sym typeface="Arial Bold"/>
              </a:rPr>
              <a:t>Robot vacuum</a:t>
            </a:r>
          </a:p>
          <a:p>
            <a:pPr algn="l">
              <a:lnSpc>
                <a:spcPts val="2807"/>
              </a:lnSpc>
            </a:pPr>
            <a:r>
              <a:rPr lang="en-US" sz="1949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feels walls, avoids stairs, goes home to charge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184648" y="6379845"/>
            <a:ext cx="3909060" cy="737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3"/>
              </a:lnSpc>
            </a:pPr>
            <a:r>
              <a:rPr lang="en-US" sz="2224" b="true">
                <a:solidFill>
                  <a:srgbClr val="1A1C1C"/>
                </a:solidFill>
                <a:latin typeface="Arial Bold"/>
                <a:ea typeface="Arial Bold"/>
                <a:cs typeface="Arial Bold"/>
                <a:sym typeface="Arial Bold"/>
              </a:rPr>
              <a:t>Delivery drone</a:t>
            </a:r>
          </a:p>
          <a:p>
            <a:pPr algn="l">
              <a:lnSpc>
                <a:spcPts val="2663"/>
              </a:lnSpc>
            </a:pPr>
            <a:r>
              <a:rPr lang="en-US" sz="1849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finds the landing spot with its camera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340596" y="6379845"/>
            <a:ext cx="3909060" cy="1071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3"/>
              </a:lnSpc>
            </a:pPr>
            <a:r>
              <a:rPr lang="en-US" sz="2224" b="true">
                <a:solidFill>
                  <a:srgbClr val="1A1C1C"/>
                </a:solidFill>
                <a:latin typeface="Arial Bold"/>
                <a:ea typeface="Arial Bold"/>
                <a:cs typeface="Arial Bold"/>
                <a:sym typeface="Arial Bold"/>
              </a:rPr>
              <a:t>Self-driving car</a:t>
            </a:r>
          </a:p>
          <a:p>
            <a:pPr algn="l">
              <a:lnSpc>
                <a:spcPts val="2663"/>
              </a:lnSpc>
            </a:pPr>
            <a:r>
              <a:rPr lang="en-US" sz="1849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reads lanes, signs, and people — like ours, but giant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496544" y="6379845"/>
            <a:ext cx="3909060" cy="1071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3"/>
              </a:lnSpc>
            </a:pPr>
            <a:r>
              <a:rPr lang="en-US" sz="2224" b="true">
                <a:solidFill>
                  <a:srgbClr val="1A1C1C"/>
                </a:solidFill>
                <a:latin typeface="Arial Bold"/>
                <a:ea typeface="Arial Bold"/>
                <a:cs typeface="Arial Bold"/>
                <a:sym typeface="Arial Bold"/>
              </a:rPr>
              <a:t>Smart traffic light</a:t>
            </a:r>
          </a:p>
          <a:p>
            <a:pPr algn="l">
              <a:lnSpc>
                <a:spcPts val="2663"/>
              </a:lnSpc>
            </a:pPr>
            <a:r>
              <a:rPr lang="en-US" sz="1849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watches the road and changes its own timing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618220" y="8286750"/>
            <a:ext cx="8641080" cy="388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001"/>
              </a:lnSpc>
            </a:pPr>
            <a:r>
              <a:rPr lang="en-US" sz="2175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Let’s now look at some import parts of Physical AI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583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9710928"/>
            <a:ext cx="6858000" cy="356616"/>
            <a:chOff x="0" y="0"/>
            <a:chExt cx="9144000" cy="4754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144000" cy="475488"/>
            </a:xfrm>
            <a:custGeom>
              <a:avLst/>
              <a:gdLst/>
              <a:ahLst/>
              <a:cxnLst/>
              <a:rect r="r" b="b" t="t" l="l"/>
              <a:pathLst>
                <a:path h="475488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4712" r="0" b="-32471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9144000" cy="4850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b="true" sz="1125" spc="300">
                  <a:solidFill>
                    <a:srgbClr val="78716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AIOSCOUT · EDGE AI VISION WORKSHOP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685800"/>
            <a:ext cx="16367303" cy="411480"/>
            <a:chOff x="0" y="0"/>
            <a:chExt cx="21823070" cy="5486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823069" cy="548640"/>
            </a:xfrm>
            <a:custGeom>
              <a:avLst/>
              <a:gdLst/>
              <a:ahLst/>
              <a:cxnLst/>
              <a:rect r="r" b="b" t="t" l="l"/>
              <a:pathLst>
                <a:path h="548640" w="21823069">
                  <a:moveTo>
                    <a:pt x="0" y="0"/>
                  </a:moveTo>
                  <a:lnTo>
                    <a:pt x="21823069" y="0"/>
                  </a:lnTo>
                  <a:lnTo>
                    <a:pt x="21823069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5049" r="0" b="-725049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82307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b="true" sz="1725" spc="225">
                  <a:solidFill>
                    <a:srgbClr val="5B5BA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</a:t>
              </a:r>
              <a:r>
                <a:rPr lang="en-US" b="true" sz="1725" spc="225">
                  <a:solidFill>
                    <a:srgbClr val="5B5BA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· INTRO LECTURE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60120" y="1207008"/>
            <a:ext cx="16367303" cy="822960"/>
            <a:chOff x="0" y="0"/>
            <a:chExt cx="21823070" cy="10972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823069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823069">
                  <a:moveTo>
                    <a:pt x="0" y="0"/>
                  </a:moveTo>
                  <a:lnTo>
                    <a:pt x="21823069" y="0"/>
                  </a:lnTo>
                  <a:lnTo>
                    <a:pt x="21823069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7524" r="0" b="-337524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21823070" cy="11258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A1C1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What is Physical AI?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3748317" y="3117746"/>
            <a:ext cx="10791366" cy="6070143"/>
          </a:xfrm>
          <a:custGeom>
            <a:avLst/>
            <a:gdLst/>
            <a:ahLst/>
            <a:cxnLst/>
            <a:rect r="r" b="b" t="t" l="l"/>
            <a:pathLst>
              <a:path h="6070143" w="10791366">
                <a:moveTo>
                  <a:pt x="0" y="0"/>
                </a:moveTo>
                <a:lnTo>
                  <a:pt x="10791366" y="0"/>
                </a:lnTo>
                <a:lnTo>
                  <a:pt x="10791366" y="6070143"/>
                </a:lnTo>
                <a:lnTo>
                  <a:pt x="0" y="60701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823460" y="2206277"/>
            <a:ext cx="8641080" cy="429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15"/>
              </a:lnSpc>
            </a:pPr>
            <a:r>
              <a:rPr lang="en-US" sz="2474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Could you name any familiar components?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583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9710928"/>
            <a:ext cx="6858000" cy="356616"/>
            <a:chOff x="0" y="0"/>
            <a:chExt cx="9144000" cy="4754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144000" cy="475488"/>
            </a:xfrm>
            <a:custGeom>
              <a:avLst/>
              <a:gdLst/>
              <a:ahLst/>
              <a:cxnLst/>
              <a:rect r="r" b="b" t="t" l="l"/>
              <a:pathLst>
                <a:path h="475488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4712" r="0" b="-32471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9144000" cy="4850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b="true" sz="1125" spc="300">
                  <a:solidFill>
                    <a:srgbClr val="78716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AIOSCOUT · EDGE AI VISION WORKSHOP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685800"/>
            <a:ext cx="16367303" cy="411480"/>
            <a:chOff x="0" y="0"/>
            <a:chExt cx="21823070" cy="5486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823069" cy="548640"/>
            </a:xfrm>
            <a:custGeom>
              <a:avLst/>
              <a:gdLst/>
              <a:ahLst/>
              <a:cxnLst/>
              <a:rect r="r" b="b" t="t" l="l"/>
              <a:pathLst>
                <a:path h="548640" w="21823069">
                  <a:moveTo>
                    <a:pt x="0" y="0"/>
                  </a:moveTo>
                  <a:lnTo>
                    <a:pt x="21823069" y="0"/>
                  </a:lnTo>
                  <a:lnTo>
                    <a:pt x="21823069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5049" r="0" b="-725049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82307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b="true" sz="1725" spc="225">
                  <a:solidFill>
                    <a:srgbClr val="5B5BA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</a:t>
              </a:r>
              <a:r>
                <a:rPr lang="en-US" b="true" sz="1725" spc="225">
                  <a:solidFill>
                    <a:srgbClr val="5B5BA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· INTRO LECTURE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60120" y="1207008"/>
            <a:ext cx="16367303" cy="932762"/>
            <a:chOff x="0" y="0"/>
            <a:chExt cx="21823070" cy="124368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823069" cy="1243682"/>
            </a:xfrm>
            <a:custGeom>
              <a:avLst/>
              <a:gdLst/>
              <a:ahLst/>
              <a:cxnLst/>
              <a:rect r="r" b="b" t="t" l="l"/>
              <a:pathLst>
                <a:path h="1243682" w="21823069">
                  <a:moveTo>
                    <a:pt x="0" y="0"/>
                  </a:moveTo>
                  <a:lnTo>
                    <a:pt x="21823069" y="0"/>
                  </a:lnTo>
                  <a:lnTo>
                    <a:pt x="21823069" y="1243682"/>
                  </a:lnTo>
                  <a:lnTo>
                    <a:pt x="0" y="124368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7792" r="0" b="-28602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21823070" cy="12722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A1C1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AI Model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272712" y="2180272"/>
            <a:ext cx="7023735" cy="6475095"/>
            <a:chOff x="0" y="0"/>
            <a:chExt cx="9364980" cy="86334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364980" cy="8633460"/>
            </a:xfrm>
            <a:custGeom>
              <a:avLst/>
              <a:gdLst/>
              <a:ahLst/>
              <a:cxnLst/>
              <a:rect r="r" b="b" t="t" l="l"/>
              <a:pathLst>
                <a:path h="8633460" w="9364980">
                  <a:moveTo>
                    <a:pt x="0" y="146939"/>
                  </a:moveTo>
                  <a:cubicBezTo>
                    <a:pt x="0" y="65786"/>
                    <a:pt x="65786" y="0"/>
                    <a:pt x="146939" y="0"/>
                  </a:cubicBezTo>
                  <a:lnTo>
                    <a:pt x="9218041" y="0"/>
                  </a:lnTo>
                  <a:cubicBezTo>
                    <a:pt x="9299194" y="0"/>
                    <a:pt x="9364980" y="65786"/>
                    <a:pt x="9364980" y="146939"/>
                  </a:cubicBezTo>
                  <a:lnTo>
                    <a:pt x="9364980" y="8486521"/>
                  </a:lnTo>
                  <a:cubicBezTo>
                    <a:pt x="9364980" y="8567674"/>
                    <a:pt x="9299194" y="8633460"/>
                    <a:pt x="9218041" y="8633460"/>
                  </a:cubicBezTo>
                  <a:lnTo>
                    <a:pt x="146939" y="8633460"/>
                  </a:lnTo>
                  <a:cubicBezTo>
                    <a:pt x="65786" y="8633460"/>
                    <a:pt x="0" y="8567674"/>
                    <a:pt x="0" y="8486521"/>
                  </a:cubicBezTo>
                  <a:close/>
                </a:path>
              </a:pathLst>
            </a:custGeom>
            <a:blipFill>
              <a:blip r:embed="rId4"/>
              <a:stretch>
                <a:fillRect l="-3572" t="-84893" r="-199450" b="0"/>
              </a:stretch>
            </a:blipFill>
            <a:ln w="28575" cap="sq">
              <a:solidFill>
                <a:srgbClr val="78716C"/>
              </a:solidFill>
              <a:prstDash val="dash"/>
              <a:miter/>
            </a:ln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2005172" y="4882325"/>
            <a:ext cx="6041287" cy="4027525"/>
          </a:xfrm>
          <a:custGeom>
            <a:avLst/>
            <a:gdLst/>
            <a:ahLst/>
            <a:cxnLst/>
            <a:rect r="r" b="b" t="t" l="l"/>
            <a:pathLst>
              <a:path h="4027525" w="6041287">
                <a:moveTo>
                  <a:pt x="0" y="0"/>
                </a:moveTo>
                <a:lnTo>
                  <a:pt x="6041287" y="0"/>
                </a:lnTo>
                <a:lnTo>
                  <a:pt x="6041287" y="4027524"/>
                </a:lnTo>
                <a:lnTo>
                  <a:pt x="0" y="402752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960120" y="2600325"/>
            <a:ext cx="8641080" cy="639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48"/>
              </a:lnSpc>
            </a:pPr>
            <a:r>
              <a:rPr lang="en-US" sz="3300">
                <a:solidFill>
                  <a:srgbClr val="1A1C1C"/>
                </a:solidFill>
                <a:latin typeface="Arial"/>
                <a:ea typeface="Arial"/>
                <a:cs typeface="Arial"/>
                <a:sym typeface="Arial"/>
              </a:rPr>
              <a:t>≈ the brain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60120" y="3646170"/>
            <a:ext cx="8641080" cy="769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93621" indent="-196810" lvl="1">
              <a:lnSpc>
                <a:spcPts val="3001"/>
              </a:lnSpc>
              <a:buFont typeface="Arial"/>
              <a:buChar char="•"/>
            </a:pPr>
            <a:r>
              <a:rPr lang="en-US" sz="2175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A pr</a:t>
            </a:r>
            <a:r>
              <a:rPr lang="en-US" sz="2175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ogram that has learned (trained) from examples</a:t>
            </a:r>
          </a:p>
          <a:p>
            <a:pPr algn="l" marL="393621" indent="-196810" lvl="1">
              <a:lnSpc>
                <a:spcPts val="3001"/>
              </a:lnSpc>
              <a:buFont typeface="Arial"/>
              <a:buChar char="•"/>
            </a:pPr>
            <a:r>
              <a:rPr lang="en-US" sz="2175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It looks at what the sensors see and decides what to do next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583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9710928"/>
            <a:ext cx="6858000" cy="356616"/>
            <a:chOff x="0" y="0"/>
            <a:chExt cx="9144000" cy="4754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144000" cy="475488"/>
            </a:xfrm>
            <a:custGeom>
              <a:avLst/>
              <a:gdLst/>
              <a:ahLst/>
              <a:cxnLst/>
              <a:rect r="r" b="b" t="t" l="l"/>
              <a:pathLst>
                <a:path h="475488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4712" r="0" b="-32471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9144000" cy="4850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b="true" sz="1125" spc="300">
                  <a:solidFill>
                    <a:srgbClr val="78716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AIOSCOUT · EDGE AI VISION WORKSHOP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685800"/>
            <a:ext cx="16367303" cy="411480"/>
            <a:chOff x="0" y="0"/>
            <a:chExt cx="21823070" cy="5486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823069" cy="548640"/>
            </a:xfrm>
            <a:custGeom>
              <a:avLst/>
              <a:gdLst/>
              <a:ahLst/>
              <a:cxnLst/>
              <a:rect r="r" b="b" t="t" l="l"/>
              <a:pathLst>
                <a:path h="548640" w="21823069">
                  <a:moveTo>
                    <a:pt x="0" y="0"/>
                  </a:moveTo>
                  <a:lnTo>
                    <a:pt x="21823069" y="0"/>
                  </a:lnTo>
                  <a:lnTo>
                    <a:pt x="21823069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5049" r="0" b="-725049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82307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b="true" sz="1725" spc="225">
                  <a:solidFill>
                    <a:srgbClr val="5B5BA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</a:t>
              </a:r>
              <a:r>
                <a:rPr lang="en-US" b="true" sz="1725" spc="225">
                  <a:solidFill>
                    <a:srgbClr val="5B5BA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· INTRO LECTURE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60120" y="1207008"/>
            <a:ext cx="16367303" cy="932762"/>
            <a:chOff x="0" y="0"/>
            <a:chExt cx="21823070" cy="124368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823069" cy="1243682"/>
            </a:xfrm>
            <a:custGeom>
              <a:avLst/>
              <a:gdLst/>
              <a:ahLst/>
              <a:cxnLst/>
              <a:rect r="r" b="b" t="t" l="l"/>
              <a:pathLst>
                <a:path h="1243682" w="21823069">
                  <a:moveTo>
                    <a:pt x="0" y="0"/>
                  </a:moveTo>
                  <a:lnTo>
                    <a:pt x="21823069" y="0"/>
                  </a:lnTo>
                  <a:lnTo>
                    <a:pt x="21823069" y="1243682"/>
                  </a:lnTo>
                  <a:lnTo>
                    <a:pt x="0" y="124368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7792" r="0" b="-28602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21823070" cy="12722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A1C1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Sensors - nervous systems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006588" y="2180272"/>
            <a:ext cx="11289859" cy="3186229"/>
            <a:chOff x="0" y="0"/>
            <a:chExt cx="15053146" cy="424830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053146" cy="4248305"/>
            </a:xfrm>
            <a:custGeom>
              <a:avLst/>
              <a:gdLst/>
              <a:ahLst/>
              <a:cxnLst/>
              <a:rect r="r" b="b" t="t" l="l"/>
              <a:pathLst>
                <a:path h="4248305" w="15053146">
                  <a:moveTo>
                    <a:pt x="0" y="72305"/>
                  </a:moveTo>
                  <a:cubicBezTo>
                    <a:pt x="0" y="32372"/>
                    <a:pt x="105744" y="0"/>
                    <a:pt x="236188" y="0"/>
                  </a:cubicBezTo>
                  <a:lnTo>
                    <a:pt x="14816959" y="0"/>
                  </a:lnTo>
                  <a:cubicBezTo>
                    <a:pt x="14947402" y="0"/>
                    <a:pt x="15053146" y="32372"/>
                    <a:pt x="15053146" y="72305"/>
                  </a:cubicBezTo>
                  <a:lnTo>
                    <a:pt x="15053146" y="4176000"/>
                  </a:lnTo>
                  <a:cubicBezTo>
                    <a:pt x="15053146" y="4215933"/>
                    <a:pt x="14947402" y="4248305"/>
                    <a:pt x="14816959" y="4248305"/>
                  </a:cubicBezTo>
                  <a:lnTo>
                    <a:pt x="236188" y="4248305"/>
                  </a:lnTo>
                  <a:cubicBezTo>
                    <a:pt x="105744" y="4248305"/>
                    <a:pt x="0" y="4215933"/>
                    <a:pt x="0" y="4176000"/>
                  </a:cubicBezTo>
                  <a:close/>
                </a:path>
              </a:pathLst>
            </a:custGeom>
            <a:blipFill>
              <a:blip r:embed="rId4"/>
              <a:stretch>
                <a:fillRect l="0" t="-33256" r="-31903" b="-129642"/>
              </a:stretch>
            </a:blipFill>
            <a:ln w="28575" cap="sq">
              <a:solidFill>
                <a:srgbClr val="78716C"/>
              </a:solidFill>
              <a:prstDash val="dash"/>
              <a:miter/>
            </a:ln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1266238" y="6354914"/>
            <a:ext cx="3475013" cy="2171883"/>
          </a:xfrm>
          <a:custGeom>
            <a:avLst/>
            <a:gdLst/>
            <a:ahLst/>
            <a:cxnLst/>
            <a:rect r="r" b="b" t="t" l="l"/>
            <a:pathLst>
              <a:path h="2171883" w="3475013">
                <a:moveTo>
                  <a:pt x="0" y="0"/>
                </a:moveTo>
                <a:lnTo>
                  <a:pt x="3475013" y="0"/>
                </a:lnTo>
                <a:lnTo>
                  <a:pt x="3475013" y="2171883"/>
                </a:lnTo>
                <a:lnTo>
                  <a:pt x="0" y="217188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6298419" y="5887004"/>
            <a:ext cx="3985555" cy="2989914"/>
          </a:xfrm>
          <a:custGeom>
            <a:avLst/>
            <a:gdLst/>
            <a:ahLst/>
            <a:cxnLst/>
            <a:rect r="r" b="b" t="t" l="l"/>
            <a:pathLst>
              <a:path h="2989914" w="3985555">
                <a:moveTo>
                  <a:pt x="0" y="0"/>
                </a:moveTo>
                <a:lnTo>
                  <a:pt x="3985555" y="0"/>
                </a:lnTo>
                <a:lnTo>
                  <a:pt x="3985555" y="2989914"/>
                </a:lnTo>
                <a:lnTo>
                  <a:pt x="0" y="29899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1531828" y="6004794"/>
            <a:ext cx="4972635" cy="2872124"/>
          </a:xfrm>
          <a:custGeom>
            <a:avLst/>
            <a:gdLst/>
            <a:ahLst/>
            <a:cxnLst/>
            <a:rect r="r" b="b" t="t" l="l"/>
            <a:pathLst>
              <a:path h="2872124" w="4972635">
                <a:moveTo>
                  <a:pt x="0" y="0"/>
                </a:moveTo>
                <a:lnTo>
                  <a:pt x="4972635" y="0"/>
                </a:lnTo>
                <a:lnTo>
                  <a:pt x="4972635" y="2872124"/>
                </a:lnTo>
                <a:lnTo>
                  <a:pt x="0" y="287212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5592" t="0" r="-5592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960120" y="2600325"/>
            <a:ext cx="8641080" cy="639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48"/>
              </a:lnSpc>
            </a:pPr>
            <a:r>
              <a:rPr lang="en-US" sz="3300">
                <a:solidFill>
                  <a:srgbClr val="1A1C1C"/>
                </a:solidFill>
                <a:latin typeface="Arial"/>
                <a:ea typeface="Arial"/>
                <a:cs typeface="Arial"/>
                <a:sym typeface="Arial"/>
              </a:rPr>
              <a:t>e.g. hands / eyes / nose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60120" y="3646170"/>
            <a:ext cx="8641080" cy="1912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1"/>
              </a:lnSpc>
            </a:pPr>
            <a:r>
              <a:rPr lang="en-US" sz="2175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Devices</a:t>
            </a:r>
            <a:r>
              <a:rPr lang="en-US" sz="2175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 that measure the real world, </a:t>
            </a:r>
          </a:p>
          <a:p>
            <a:pPr algn="l">
              <a:lnSpc>
                <a:spcPts val="3001"/>
              </a:lnSpc>
            </a:pPr>
            <a:r>
              <a:rPr lang="en-US" sz="2175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for example:</a:t>
            </a:r>
          </a:p>
          <a:p>
            <a:pPr algn="l" marL="393621" indent="-196810" lvl="1">
              <a:lnSpc>
                <a:spcPts val="3001"/>
              </a:lnSpc>
              <a:buFont typeface="Arial"/>
              <a:buChar char="•"/>
            </a:pPr>
            <a:r>
              <a:rPr lang="en-US" sz="2175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Cameras see</a:t>
            </a:r>
          </a:p>
          <a:p>
            <a:pPr algn="l" marL="393621" indent="-196810" lvl="1">
              <a:lnSpc>
                <a:spcPts val="3001"/>
              </a:lnSpc>
              <a:buFont typeface="Arial"/>
              <a:buChar char="•"/>
            </a:pPr>
            <a:r>
              <a:rPr lang="en-US" sz="2175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Touch sensors feel</a:t>
            </a:r>
          </a:p>
          <a:p>
            <a:pPr algn="l" marL="393621" indent="-196810" lvl="1">
              <a:lnSpc>
                <a:spcPts val="3001"/>
              </a:lnSpc>
              <a:buFont typeface="Arial"/>
              <a:buChar char="•"/>
            </a:pPr>
            <a:r>
              <a:rPr lang="en-US" sz="2175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Radar measures distance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583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9710928"/>
            <a:ext cx="6858000" cy="356616"/>
            <a:chOff x="0" y="0"/>
            <a:chExt cx="9144000" cy="4754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144000" cy="475488"/>
            </a:xfrm>
            <a:custGeom>
              <a:avLst/>
              <a:gdLst/>
              <a:ahLst/>
              <a:cxnLst/>
              <a:rect r="r" b="b" t="t" l="l"/>
              <a:pathLst>
                <a:path h="475488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4712" r="0" b="-32471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9144000" cy="4850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b="true" sz="1125" spc="300">
                  <a:solidFill>
                    <a:srgbClr val="78716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AIOSCOUT · EDGE AI VISION WORKSHOP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685800"/>
            <a:ext cx="16367303" cy="411480"/>
            <a:chOff x="0" y="0"/>
            <a:chExt cx="21823070" cy="5486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823069" cy="548640"/>
            </a:xfrm>
            <a:custGeom>
              <a:avLst/>
              <a:gdLst/>
              <a:ahLst/>
              <a:cxnLst/>
              <a:rect r="r" b="b" t="t" l="l"/>
              <a:pathLst>
                <a:path h="548640" w="21823069">
                  <a:moveTo>
                    <a:pt x="0" y="0"/>
                  </a:moveTo>
                  <a:lnTo>
                    <a:pt x="21823069" y="0"/>
                  </a:lnTo>
                  <a:lnTo>
                    <a:pt x="21823069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5049" r="0" b="-725049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82307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b="true" sz="1725" spc="225">
                  <a:solidFill>
                    <a:srgbClr val="5B5BA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</a:t>
              </a:r>
              <a:r>
                <a:rPr lang="en-US" b="true" sz="1725" spc="225">
                  <a:solidFill>
                    <a:srgbClr val="5B5BA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· INTRO LECTURE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60120" y="1207008"/>
            <a:ext cx="16367303" cy="932762"/>
            <a:chOff x="0" y="0"/>
            <a:chExt cx="21823070" cy="124368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823069" cy="1243682"/>
            </a:xfrm>
            <a:custGeom>
              <a:avLst/>
              <a:gdLst/>
              <a:ahLst/>
              <a:cxnLst/>
              <a:rect r="r" b="b" t="t" l="l"/>
              <a:pathLst>
                <a:path h="1243682" w="21823069">
                  <a:moveTo>
                    <a:pt x="0" y="0"/>
                  </a:moveTo>
                  <a:lnTo>
                    <a:pt x="21823069" y="0"/>
                  </a:lnTo>
                  <a:lnTo>
                    <a:pt x="21823069" y="1243682"/>
                  </a:lnTo>
                  <a:lnTo>
                    <a:pt x="0" y="124368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7792" r="0" b="-28602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21823070" cy="12722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A1C1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Actuators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272712" y="2180272"/>
            <a:ext cx="7023735" cy="6475095"/>
            <a:chOff x="0" y="0"/>
            <a:chExt cx="9364980" cy="86334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364980" cy="8633460"/>
            </a:xfrm>
            <a:custGeom>
              <a:avLst/>
              <a:gdLst/>
              <a:ahLst/>
              <a:cxnLst/>
              <a:rect r="r" b="b" t="t" l="l"/>
              <a:pathLst>
                <a:path h="8633460" w="9364980">
                  <a:moveTo>
                    <a:pt x="0" y="146939"/>
                  </a:moveTo>
                  <a:cubicBezTo>
                    <a:pt x="0" y="65786"/>
                    <a:pt x="65786" y="0"/>
                    <a:pt x="146939" y="0"/>
                  </a:cubicBezTo>
                  <a:lnTo>
                    <a:pt x="9218041" y="0"/>
                  </a:lnTo>
                  <a:cubicBezTo>
                    <a:pt x="9299194" y="0"/>
                    <a:pt x="9364980" y="65786"/>
                    <a:pt x="9364980" y="146939"/>
                  </a:cubicBezTo>
                  <a:lnTo>
                    <a:pt x="9364980" y="8486521"/>
                  </a:lnTo>
                  <a:cubicBezTo>
                    <a:pt x="9364980" y="8567674"/>
                    <a:pt x="9299194" y="8633460"/>
                    <a:pt x="9218041" y="8633460"/>
                  </a:cubicBezTo>
                  <a:lnTo>
                    <a:pt x="146939" y="8633460"/>
                  </a:lnTo>
                  <a:cubicBezTo>
                    <a:pt x="65786" y="8633460"/>
                    <a:pt x="0" y="8567674"/>
                    <a:pt x="0" y="8486521"/>
                  </a:cubicBezTo>
                  <a:close/>
                </a:path>
              </a:pathLst>
            </a:custGeom>
            <a:blipFill>
              <a:blip r:embed="rId4"/>
              <a:stretch>
                <a:fillRect l="-89428" t="-39256" r="-38801" b="0"/>
              </a:stretch>
            </a:blipFill>
            <a:ln w="28575" cap="sq">
              <a:solidFill>
                <a:srgbClr val="78716C"/>
              </a:solidFill>
              <a:prstDash val="dash"/>
              <a:miter/>
            </a:ln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1875768" y="4944997"/>
            <a:ext cx="5942352" cy="3961568"/>
          </a:xfrm>
          <a:custGeom>
            <a:avLst/>
            <a:gdLst/>
            <a:ahLst/>
            <a:cxnLst/>
            <a:rect r="r" b="b" t="t" l="l"/>
            <a:pathLst>
              <a:path h="3961568" w="5942352">
                <a:moveTo>
                  <a:pt x="0" y="0"/>
                </a:moveTo>
                <a:lnTo>
                  <a:pt x="5942352" y="0"/>
                </a:lnTo>
                <a:lnTo>
                  <a:pt x="5942352" y="3961568"/>
                </a:lnTo>
                <a:lnTo>
                  <a:pt x="0" y="39615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960120" y="2600325"/>
            <a:ext cx="8641080" cy="639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48"/>
              </a:lnSpc>
            </a:pPr>
            <a:r>
              <a:rPr lang="en-US" sz="3300">
                <a:solidFill>
                  <a:srgbClr val="1A1C1C"/>
                </a:solidFill>
                <a:latin typeface="Arial"/>
                <a:ea typeface="Arial"/>
                <a:cs typeface="Arial"/>
                <a:sym typeface="Arial"/>
              </a:rPr>
              <a:t>≈ Muscles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60120" y="3646170"/>
            <a:ext cx="8641080" cy="1150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9582" indent="-234791" lvl="1">
              <a:lnSpc>
                <a:spcPts val="3001"/>
              </a:lnSpc>
              <a:buFont typeface="Arial"/>
              <a:buChar char="•"/>
            </a:pPr>
            <a:r>
              <a:rPr lang="en-US" sz="2175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2175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arts that move the body, for example motors spin wheels, joints move arms. </a:t>
            </a:r>
          </a:p>
          <a:p>
            <a:pPr algn="l" marL="469582" indent="-234791" lvl="1">
              <a:lnSpc>
                <a:spcPts val="3001"/>
              </a:lnSpc>
              <a:buFont typeface="Arial"/>
              <a:buChar char="•"/>
            </a:pPr>
            <a:r>
              <a:rPr lang="en-US" sz="2175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They turn the AI's decision into action.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583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9710928"/>
            <a:ext cx="6858000" cy="356616"/>
            <a:chOff x="0" y="0"/>
            <a:chExt cx="9144000" cy="4754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144000" cy="475488"/>
            </a:xfrm>
            <a:custGeom>
              <a:avLst/>
              <a:gdLst/>
              <a:ahLst/>
              <a:cxnLst/>
              <a:rect r="r" b="b" t="t" l="l"/>
              <a:pathLst>
                <a:path h="475488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4712" r="0" b="-32471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9144000" cy="4850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b="true" sz="1125" spc="300">
                  <a:solidFill>
                    <a:srgbClr val="78716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AIOSCOUT · EDGE AI VISION WORKSHOP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964212" y="2572366"/>
            <a:ext cx="14359118" cy="6410321"/>
          </a:xfrm>
          <a:custGeom>
            <a:avLst/>
            <a:gdLst/>
            <a:ahLst/>
            <a:cxnLst/>
            <a:rect r="r" b="b" t="t" l="l"/>
            <a:pathLst>
              <a:path h="6410321" w="14359118">
                <a:moveTo>
                  <a:pt x="0" y="0"/>
                </a:moveTo>
                <a:lnTo>
                  <a:pt x="14359119" y="0"/>
                </a:lnTo>
                <a:lnTo>
                  <a:pt x="14359119" y="6410321"/>
                </a:lnTo>
                <a:lnTo>
                  <a:pt x="0" y="64103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960120" y="1207008"/>
            <a:ext cx="16367303" cy="932762"/>
            <a:chOff x="0" y="0"/>
            <a:chExt cx="21823070" cy="124368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823069" cy="1243682"/>
            </a:xfrm>
            <a:custGeom>
              <a:avLst/>
              <a:gdLst/>
              <a:ahLst/>
              <a:cxnLst/>
              <a:rect r="r" b="b" t="t" l="l"/>
              <a:pathLst>
                <a:path h="1243682" w="21823069">
                  <a:moveTo>
                    <a:pt x="0" y="0"/>
                  </a:moveTo>
                  <a:lnTo>
                    <a:pt x="21823069" y="0"/>
                  </a:lnTo>
                  <a:lnTo>
                    <a:pt x="21823069" y="1243682"/>
                  </a:lnTo>
                  <a:lnTo>
                    <a:pt x="0" y="124368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7792" r="0" b="-28602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21823070" cy="12722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A1C1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How is the model trained?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60120" y="685800"/>
            <a:ext cx="16367303" cy="411480"/>
            <a:chOff x="0" y="0"/>
            <a:chExt cx="21823070" cy="5486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823069" cy="548640"/>
            </a:xfrm>
            <a:custGeom>
              <a:avLst/>
              <a:gdLst/>
              <a:ahLst/>
              <a:cxnLst/>
              <a:rect r="r" b="b" t="t" l="l"/>
              <a:pathLst>
                <a:path h="548640" w="21823069">
                  <a:moveTo>
                    <a:pt x="0" y="0"/>
                  </a:moveTo>
                  <a:lnTo>
                    <a:pt x="21823069" y="0"/>
                  </a:lnTo>
                  <a:lnTo>
                    <a:pt x="21823069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5049" r="0" b="-725049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2182307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b="true" sz="1725" spc="225">
                  <a:solidFill>
                    <a:srgbClr val="5B5BA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</a:t>
              </a:r>
              <a:r>
                <a:rPr lang="en-US" b="true" sz="1725" spc="225">
                  <a:solidFill>
                    <a:srgbClr val="5B5BA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· INTRO LECTURE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583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9710928"/>
            <a:ext cx="6858000" cy="356616"/>
            <a:chOff x="0" y="0"/>
            <a:chExt cx="9144000" cy="4754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144000" cy="475488"/>
            </a:xfrm>
            <a:custGeom>
              <a:avLst/>
              <a:gdLst/>
              <a:ahLst/>
              <a:cxnLst/>
              <a:rect r="r" b="b" t="t" l="l"/>
              <a:pathLst>
                <a:path h="475488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4712" r="0" b="-32471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9144000" cy="4850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b="true" sz="1125" spc="300">
                  <a:solidFill>
                    <a:srgbClr val="78716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AIOSCOUT · EDGE AI VISION WORKSHOP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1207008"/>
            <a:ext cx="16367303" cy="932762"/>
            <a:chOff x="0" y="0"/>
            <a:chExt cx="21823070" cy="124368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823069" cy="1243682"/>
            </a:xfrm>
            <a:custGeom>
              <a:avLst/>
              <a:gdLst/>
              <a:ahLst/>
              <a:cxnLst/>
              <a:rect r="r" b="b" t="t" l="l"/>
              <a:pathLst>
                <a:path h="1243682" w="21823069">
                  <a:moveTo>
                    <a:pt x="0" y="0"/>
                  </a:moveTo>
                  <a:lnTo>
                    <a:pt x="21823069" y="0"/>
                  </a:lnTo>
                  <a:lnTo>
                    <a:pt x="21823069" y="1243682"/>
                  </a:lnTo>
                  <a:lnTo>
                    <a:pt x="0" y="124368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7792" r="0" b="-28602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1823070" cy="12722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A1C1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How is the model trained?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50595" y="2596515"/>
            <a:ext cx="8111490" cy="5916930"/>
            <a:chOff x="0" y="0"/>
            <a:chExt cx="10815320" cy="78892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815320" cy="7889240"/>
            </a:xfrm>
            <a:custGeom>
              <a:avLst/>
              <a:gdLst/>
              <a:ahLst/>
              <a:cxnLst/>
              <a:rect r="r" b="b" t="t" l="l"/>
              <a:pathLst>
                <a:path h="7889240" w="10815320">
                  <a:moveTo>
                    <a:pt x="0" y="128397"/>
                  </a:moveTo>
                  <a:cubicBezTo>
                    <a:pt x="0" y="57531"/>
                    <a:pt x="57531" y="0"/>
                    <a:pt x="128397" y="0"/>
                  </a:cubicBezTo>
                  <a:lnTo>
                    <a:pt x="10686923" y="0"/>
                  </a:lnTo>
                  <a:cubicBezTo>
                    <a:pt x="10757916" y="0"/>
                    <a:pt x="10815320" y="57531"/>
                    <a:pt x="10815320" y="128397"/>
                  </a:cubicBezTo>
                  <a:lnTo>
                    <a:pt x="10815320" y="7760843"/>
                  </a:lnTo>
                  <a:cubicBezTo>
                    <a:pt x="10815320" y="7831837"/>
                    <a:pt x="10757789" y="7889240"/>
                    <a:pt x="10686923" y="7889240"/>
                  </a:cubicBezTo>
                  <a:lnTo>
                    <a:pt x="128397" y="7889240"/>
                  </a:lnTo>
                  <a:cubicBezTo>
                    <a:pt x="57531" y="7889240"/>
                    <a:pt x="0" y="7831709"/>
                    <a:pt x="0" y="7760843"/>
                  </a:cubicBezTo>
                  <a:close/>
                </a:path>
              </a:pathLst>
            </a:custGeom>
            <a:solidFill>
              <a:srgbClr val="F1F1F0"/>
            </a:solidFill>
            <a:ln w="19050" cap="sq">
              <a:solidFill>
                <a:srgbClr val="F1F1F0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289304" y="2852928"/>
            <a:ext cx="7434072" cy="356616"/>
            <a:chOff x="0" y="0"/>
            <a:chExt cx="9912096" cy="47548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912096" cy="475488"/>
            </a:xfrm>
            <a:custGeom>
              <a:avLst/>
              <a:gdLst/>
              <a:ahLst/>
              <a:cxnLst/>
              <a:rect r="r" b="b" t="t" l="l"/>
              <a:pathLst>
                <a:path h="475488" w="9912096">
                  <a:moveTo>
                    <a:pt x="0" y="0"/>
                  </a:moveTo>
                  <a:lnTo>
                    <a:pt x="9912096" y="0"/>
                  </a:lnTo>
                  <a:lnTo>
                    <a:pt x="9912096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6188" r="0" b="-356188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9912096" cy="4945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225">
                  <a:solidFill>
                    <a:srgbClr val="78716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WAY 1 · RULE-BASED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89304" y="3236976"/>
            <a:ext cx="7434072" cy="548640"/>
            <a:chOff x="0" y="0"/>
            <a:chExt cx="9912096" cy="7315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912096" cy="731520"/>
            </a:xfrm>
            <a:custGeom>
              <a:avLst/>
              <a:gdLst/>
              <a:ahLst/>
              <a:cxnLst/>
              <a:rect r="r" b="b" t="t" l="l"/>
              <a:pathLst>
                <a:path h="731520" w="9912096">
                  <a:moveTo>
                    <a:pt x="0" y="0"/>
                  </a:moveTo>
                  <a:lnTo>
                    <a:pt x="9912096" y="0"/>
                  </a:lnTo>
                  <a:lnTo>
                    <a:pt x="9912096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022" r="0" b="-214022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9912096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 b="true">
                  <a:solidFill>
                    <a:srgbClr val="1A1C1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 human writes every rule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591675" y="2596515"/>
            <a:ext cx="8111490" cy="5916930"/>
            <a:chOff x="0" y="0"/>
            <a:chExt cx="10815320" cy="78892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815320" cy="7889240"/>
            </a:xfrm>
            <a:custGeom>
              <a:avLst/>
              <a:gdLst/>
              <a:ahLst/>
              <a:cxnLst/>
              <a:rect r="r" b="b" t="t" l="l"/>
              <a:pathLst>
                <a:path h="7889240" w="10815320">
                  <a:moveTo>
                    <a:pt x="0" y="128397"/>
                  </a:moveTo>
                  <a:cubicBezTo>
                    <a:pt x="0" y="57531"/>
                    <a:pt x="57531" y="0"/>
                    <a:pt x="128397" y="0"/>
                  </a:cubicBezTo>
                  <a:lnTo>
                    <a:pt x="10686923" y="0"/>
                  </a:lnTo>
                  <a:cubicBezTo>
                    <a:pt x="10757916" y="0"/>
                    <a:pt x="10815320" y="57531"/>
                    <a:pt x="10815320" y="128397"/>
                  </a:cubicBezTo>
                  <a:lnTo>
                    <a:pt x="10815320" y="7760843"/>
                  </a:lnTo>
                  <a:cubicBezTo>
                    <a:pt x="10815320" y="7831837"/>
                    <a:pt x="10757789" y="7889240"/>
                    <a:pt x="10686923" y="7889240"/>
                  </a:cubicBezTo>
                  <a:lnTo>
                    <a:pt x="128397" y="7889240"/>
                  </a:lnTo>
                  <a:cubicBezTo>
                    <a:pt x="57531" y="7889240"/>
                    <a:pt x="0" y="7831709"/>
                    <a:pt x="0" y="7760843"/>
                  </a:cubicBezTo>
                  <a:close/>
                </a:path>
              </a:pathLst>
            </a:custGeom>
            <a:solidFill>
              <a:srgbClr val="F1F1F0"/>
            </a:solidFill>
            <a:ln w="19050" cap="sq">
              <a:solidFill>
                <a:srgbClr val="F1F1F0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9930384" y="2852928"/>
            <a:ext cx="7434072" cy="356616"/>
            <a:chOff x="0" y="0"/>
            <a:chExt cx="9912096" cy="47548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912096" cy="475488"/>
            </a:xfrm>
            <a:custGeom>
              <a:avLst/>
              <a:gdLst/>
              <a:ahLst/>
              <a:cxnLst/>
              <a:rect r="r" b="b" t="t" l="l"/>
              <a:pathLst>
                <a:path h="475488" w="9912096">
                  <a:moveTo>
                    <a:pt x="0" y="0"/>
                  </a:moveTo>
                  <a:lnTo>
                    <a:pt x="9912096" y="0"/>
                  </a:lnTo>
                  <a:lnTo>
                    <a:pt x="9912096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6188" r="0" b="-356188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9912096" cy="4945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225">
                  <a:solidFill>
                    <a:srgbClr val="78716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WAY 2 · MACHINE LEARNING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930384" y="3236976"/>
            <a:ext cx="7434072" cy="548640"/>
            <a:chOff x="0" y="0"/>
            <a:chExt cx="9912096" cy="7315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912096" cy="731520"/>
            </a:xfrm>
            <a:custGeom>
              <a:avLst/>
              <a:gdLst/>
              <a:ahLst/>
              <a:cxnLst/>
              <a:rect r="r" b="b" t="t" l="l"/>
              <a:pathLst>
                <a:path h="731520" w="9912096">
                  <a:moveTo>
                    <a:pt x="0" y="0"/>
                  </a:moveTo>
                  <a:lnTo>
                    <a:pt x="9912096" y="0"/>
                  </a:lnTo>
                  <a:lnTo>
                    <a:pt x="9912096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022" r="0" b="-214022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9912096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 b="true">
                  <a:solidFill>
                    <a:srgbClr val="1A1C1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Show it examples with answers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60120" y="685800"/>
            <a:ext cx="16367303" cy="411480"/>
            <a:chOff x="0" y="0"/>
            <a:chExt cx="21823070" cy="5486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1823069" cy="548640"/>
            </a:xfrm>
            <a:custGeom>
              <a:avLst/>
              <a:gdLst/>
              <a:ahLst/>
              <a:cxnLst/>
              <a:rect r="r" b="b" t="t" l="l"/>
              <a:pathLst>
                <a:path h="548640" w="21823069">
                  <a:moveTo>
                    <a:pt x="0" y="0"/>
                  </a:moveTo>
                  <a:lnTo>
                    <a:pt x="21823069" y="0"/>
                  </a:lnTo>
                  <a:lnTo>
                    <a:pt x="21823069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5049" r="0" b="-725049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2182307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b="true" sz="1725" spc="225">
                  <a:solidFill>
                    <a:srgbClr val="5B5BA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</a:t>
              </a:r>
              <a:r>
                <a:rPr lang="en-US" b="true" sz="1725" spc="225">
                  <a:solidFill>
                    <a:srgbClr val="5B5BA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· INTRO LECTURE</a:t>
              </a: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11223632" y="5321425"/>
            <a:ext cx="4847576" cy="2462569"/>
          </a:xfrm>
          <a:custGeom>
            <a:avLst/>
            <a:gdLst/>
            <a:ahLst/>
            <a:cxnLst/>
            <a:rect r="r" b="b" t="t" l="l"/>
            <a:pathLst>
              <a:path h="2462569" w="4847576">
                <a:moveTo>
                  <a:pt x="0" y="0"/>
                </a:moveTo>
                <a:lnTo>
                  <a:pt x="4847576" y="0"/>
                </a:lnTo>
                <a:lnTo>
                  <a:pt x="4847576" y="2462569"/>
                </a:lnTo>
                <a:lnTo>
                  <a:pt x="0" y="24625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2621603" y="4962885"/>
            <a:ext cx="4769474" cy="3179649"/>
          </a:xfrm>
          <a:custGeom>
            <a:avLst/>
            <a:gdLst/>
            <a:ahLst/>
            <a:cxnLst/>
            <a:rect r="r" b="b" t="t" l="l"/>
            <a:pathLst>
              <a:path h="3179649" w="4769474">
                <a:moveTo>
                  <a:pt x="0" y="0"/>
                </a:moveTo>
                <a:lnTo>
                  <a:pt x="4769474" y="0"/>
                </a:lnTo>
                <a:lnTo>
                  <a:pt x="4769474" y="3179649"/>
                </a:lnTo>
                <a:lnTo>
                  <a:pt x="0" y="31796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289304" y="3810762"/>
            <a:ext cx="7434072" cy="619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2"/>
              </a:lnSpc>
            </a:pPr>
            <a:r>
              <a:rPr lang="en-US" sz="1725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“Red stop and Green go for traffic lights”</a:t>
            </a:r>
          </a:p>
          <a:p>
            <a:pPr algn="l">
              <a:lnSpc>
                <a:spcPts val="2442"/>
              </a:lnSpc>
            </a:pPr>
            <a:r>
              <a:rPr lang="en-US" sz="1725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Works for simple, fixed jobs.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930384" y="3810762"/>
            <a:ext cx="7434072" cy="619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2"/>
              </a:lnSpc>
            </a:pPr>
            <a:r>
              <a:rPr lang="en-US" sz="1725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How to tell apart cat and dog pictures, or other any animals or objects?</a:t>
            </a:r>
          </a:p>
          <a:p>
            <a:pPr algn="l">
              <a:lnSpc>
                <a:spcPts val="2442"/>
              </a:lnSpc>
            </a:pPr>
            <a:r>
              <a:rPr lang="en-US" sz="1725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Can’t write rules for all possible images.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583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9710928"/>
            <a:ext cx="6858000" cy="356616"/>
            <a:chOff x="0" y="0"/>
            <a:chExt cx="9144000" cy="4754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144000" cy="475488"/>
            </a:xfrm>
            <a:custGeom>
              <a:avLst/>
              <a:gdLst/>
              <a:ahLst/>
              <a:cxnLst/>
              <a:rect r="r" b="b" t="t" l="l"/>
              <a:pathLst>
                <a:path h="475488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4712" r="0" b="-32471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9144000" cy="4850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b="true" sz="1125" spc="300">
                  <a:solidFill>
                    <a:srgbClr val="78716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AIOSCOUT · EDGE AI VISION WORKSHOP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1207008"/>
            <a:ext cx="16367303" cy="932762"/>
            <a:chOff x="0" y="0"/>
            <a:chExt cx="21823070" cy="124368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823069" cy="1243682"/>
            </a:xfrm>
            <a:custGeom>
              <a:avLst/>
              <a:gdLst/>
              <a:ahLst/>
              <a:cxnLst/>
              <a:rect r="r" b="b" t="t" l="l"/>
              <a:pathLst>
                <a:path h="1243682" w="21823069">
                  <a:moveTo>
                    <a:pt x="0" y="0"/>
                  </a:moveTo>
                  <a:lnTo>
                    <a:pt x="21823069" y="0"/>
                  </a:lnTo>
                  <a:lnTo>
                    <a:pt x="21823069" y="1243682"/>
                  </a:lnTo>
                  <a:lnTo>
                    <a:pt x="0" y="124368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7792" r="0" b="-28602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1823070" cy="12722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A1C1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Model Training Process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72712" y="2660333"/>
            <a:ext cx="7023735" cy="4692015"/>
            <a:chOff x="0" y="0"/>
            <a:chExt cx="9364980" cy="62560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364980" cy="6256020"/>
            </a:xfrm>
            <a:custGeom>
              <a:avLst/>
              <a:gdLst/>
              <a:ahLst/>
              <a:cxnLst/>
              <a:rect r="r" b="b" t="t" l="l"/>
              <a:pathLst>
                <a:path h="6256020" w="9364980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9217787" y="0"/>
                  </a:lnTo>
                  <a:cubicBezTo>
                    <a:pt x="9299067" y="0"/>
                    <a:pt x="9364980" y="65913"/>
                    <a:pt x="9364980" y="147193"/>
                  </a:cubicBezTo>
                  <a:lnTo>
                    <a:pt x="9364980" y="6108827"/>
                  </a:lnTo>
                  <a:cubicBezTo>
                    <a:pt x="9364980" y="6190107"/>
                    <a:pt x="9299067" y="6256020"/>
                    <a:pt x="9217787" y="6256020"/>
                  </a:cubicBezTo>
                  <a:lnTo>
                    <a:pt x="147193" y="6256020"/>
                  </a:lnTo>
                  <a:cubicBezTo>
                    <a:pt x="65913" y="6256020"/>
                    <a:pt x="0" y="6190107"/>
                    <a:pt x="0" y="6108827"/>
                  </a:cubicBezTo>
                  <a:close/>
                </a:path>
              </a:pathLst>
            </a:custGeom>
            <a:blipFill>
              <a:blip r:embed="rId4"/>
              <a:stretch>
                <a:fillRect l="-101" t="0" r="-101" b="0"/>
              </a:stretch>
            </a:blipFill>
            <a:ln w="28575" cap="sq">
              <a:solidFill>
                <a:srgbClr val="78716C"/>
              </a:solidFill>
              <a:prstDash val="dash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0277475" y="7671435"/>
            <a:ext cx="7014210" cy="1596390"/>
            <a:chOff x="0" y="0"/>
            <a:chExt cx="9352280" cy="21285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352280" cy="2128520"/>
            </a:xfrm>
            <a:custGeom>
              <a:avLst/>
              <a:gdLst/>
              <a:ahLst/>
              <a:cxnLst/>
              <a:rect r="r" b="b" t="t" l="l"/>
              <a:pathLst>
                <a:path h="2128520" w="9352280">
                  <a:moveTo>
                    <a:pt x="0" y="129540"/>
                  </a:moveTo>
                  <a:cubicBezTo>
                    <a:pt x="0" y="58039"/>
                    <a:pt x="58039" y="0"/>
                    <a:pt x="129540" y="0"/>
                  </a:cubicBezTo>
                  <a:lnTo>
                    <a:pt x="9222740" y="0"/>
                  </a:lnTo>
                  <a:cubicBezTo>
                    <a:pt x="9294241" y="0"/>
                    <a:pt x="9352280" y="58039"/>
                    <a:pt x="9352280" y="129540"/>
                  </a:cubicBezTo>
                  <a:lnTo>
                    <a:pt x="9352280" y="1998980"/>
                  </a:lnTo>
                  <a:cubicBezTo>
                    <a:pt x="9352280" y="2070481"/>
                    <a:pt x="9294241" y="2128520"/>
                    <a:pt x="9222740" y="2128520"/>
                  </a:cubicBezTo>
                  <a:lnTo>
                    <a:pt x="129540" y="2128520"/>
                  </a:lnTo>
                  <a:cubicBezTo>
                    <a:pt x="58039" y="2128520"/>
                    <a:pt x="0" y="2070481"/>
                    <a:pt x="0" y="1998980"/>
                  </a:cubicBezTo>
                  <a:close/>
                </a:path>
              </a:pathLst>
            </a:custGeom>
            <a:solidFill>
              <a:srgbClr val="F1F1F0"/>
            </a:solidFill>
            <a:ln w="19050" cap="sq">
              <a:solidFill>
                <a:srgbClr val="F1F1F0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0588752" y="7680960"/>
            <a:ext cx="6446520" cy="1577340"/>
            <a:chOff x="0" y="0"/>
            <a:chExt cx="8595360" cy="21031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595360" cy="2103120"/>
            </a:xfrm>
            <a:custGeom>
              <a:avLst/>
              <a:gdLst/>
              <a:ahLst/>
              <a:cxnLst/>
              <a:rect r="r" b="b" t="t" l="l"/>
              <a:pathLst>
                <a:path h="2103120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2103120"/>
                  </a:lnTo>
                  <a:lnTo>
                    <a:pt x="0" y="2103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634" r="0" b="-29634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76200"/>
              <a:ext cx="8595360" cy="21793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1875" b="true">
                  <a:solidFill>
                    <a:srgbClr val="1A1C1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Remember — </a:t>
              </a:r>
              <a:r>
                <a:rPr lang="en-US" sz="1875">
                  <a:solidFill>
                    <a:srgbClr val="525252"/>
                  </a:solidFill>
                  <a:latin typeface="Arial"/>
                  <a:ea typeface="Arial"/>
                  <a:cs typeface="Arial"/>
                  <a:sym typeface="Arial"/>
                </a:rPr>
                <a:t>no rules written, AI </a:t>
              </a:r>
              <a:r>
                <a:rPr lang="en-US" sz="1875" b="true">
                  <a:solidFill>
                    <a:srgbClr val="52525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learns</a:t>
              </a:r>
              <a:r>
                <a:rPr lang="en-US" sz="1875">
                  <a:solidFill>
                    <a:srgbClr val="525252"/>
                  </a:solidFill>
                  <a:latin typeface="Arial"/>
                  <a:ea typeface="Arial"/>
                  <a:cs typeface="Arial"/>
                  <a:sym typeface="Arial"/>
                </a:rPr>
                <a:t> through </a:t>
              </a:r>
              <a:r>
                <a:rPr lang="en-US" sz="1875" b="true">
                  <a:solidFill>
                    <a:srgbClr val="52525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data</a:t>
              </a:r>
            </a:p>
            <a:p>
              <a:pPr algn="l">
                <a:lnSpc>
                  <a:spcPts val="2700"/>
                </a:lnSpc>
              </a:pPr>
              <a:r>
                <a:rPr lang="en-US" sz="1875">
                  <a:solidFill>
                    <a:srgbClr val="525252"/>
                  </a:solidFill>
                  <a:latin typeface="Arial"/>
                  <a:ea typeface="Arial"/>
                  <a:cs typeface="Arial"/>
                  <a:sym typeface="Arial"/>
                </a:rPr>
                <a:t>The smart brain after learning is called the </a:t>
              </a:r>
              <a:r>
                <a:rPr lang="en-US" sz="1875" b="true">
                  <a:solidFill>
                    <a:srgbClr val="52525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Trained Model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960120" y="2579370"/>
            <a:ext cx="8778240" cy="918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744"/>
              </a:lnSpc>
              <a:buAutoNum type="arabicPeriod" startAt="1"/>
            </a:pPr>
            <a:r>
              <a:rPr lang="en-US" sz="2400">
                <a:solidFill>
                  <a:srgbClr val="1A1C1C"/>
                </a:solidFill>
                <a:latin typeface="Arial"/>
                <a:ea typeface="Arial"/>
                <a:cs typeface="Arial"/>
                <a:sym typeface="Arial"/>
              </a:rPr>
              <a:t>Showing the AI many labelled examples - </a:t>
            </a:r>
            <a:r>
              <a:rPr lang="en-US" b="true" sz="2400">
                <a:solidFill>
                  <a:srgbClr val="1A1C1C"/>
                </a:solidFill>
                <a:latin typeface="Arial Bold"/>
                <a:ea typeface="Arial Bold"/>
                <a:cs typeface="Arial Bold"/>
                <a:sym typeface="Arial Bold"/>
              </a:rPr>
              <a:t>Data</a:t>
            </a:r>
          </a:p>
          <a:p>
            <a:pPr algn="l">
              <a:lnSpc>
                <a:spcPts val="3744"/>
              </a:lnSpc>
            </a:pPr>
            <a:r>
              <a:rPr lang="en-US" sz="2400">
                <a:solidFill>
                  <a:srgbClr val="1A1C1C"/>
                </a:solidFill>
                <a:latin typeface="Arial"/>
                <a:ea typeface="Arial"/>
                <a:cs typeface="Arial"/>
                <a:sym typeface="Arial"/>
              </a:rPr>
              <a:t>e.g. one photo + its correct answer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167458" y="3837839"/>
            <a:ext cx="6650662" cy="4065217"/>
          </a:xfrm>
          <a:custGeom>
            <a:avLst/>
            <a:gdLst/>
            <a:ahLst/>
            <a:cxnLst/>
            <a:rect r="r" b="b" t="t" l="l"/>
            <a:pathLst>
              <a:path h="4065217" w="6650662">
                <a:moveTo>
                  <a:pt x="0" y="0"/>
                </a:moveTo>
                <a:lnTo>
                  <a:pt x="6650662" y="0"/>
                </a:lnTo>
                <a:lnTo>
                  <a:pt x="6650662" y="4065218"/>
                </a:lnTo>
                <a:lnTo>
                  <a:pt x="0" y="406521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960120" y="8339328"/>
            <a:ext cx="8778240" cy="918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744"/>
              </a:lnSpc>
              <a:buAutoNum type="arabicPeriod" startAt="1"/>
            </a:pPr>
            <a:r>
              <a:rPr lang="en-US" sz="2400">
                <a:solidFill>
                  <a:srgbClr val="1A1C1C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2400">
                <a:solidFill>
                  <a:srgbClr val="1A1C1C"/>
                </a:solidFill>
                <a:latin typeface="Arial"/>
                <a:ea typeface="Arial"/>
                <a:cs typeface="Arial"/>
                <a:sym typeface="Arial"/>
              </a:rPr>
              <a:t>he AI guesses → checks </a:t>
            </a:r>
            <a:r>
              <a:rPr lang="en-US" sz="2400">
                <a:solidFill>
                  <a:srgbClr val="1A1C1C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2400">
                <a:solidFill>
                  <a:srgbClr val="1A1C1C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lang="en-US" sz="2400">
                <a:solidFill>
                  <a:srgbClr val="1A1C1C"/>
                </a:solidFill>
                <a:latin typeface="Arial"/>
                <a:ea typeface="Arial"/>
                <a:cs typeface="Arial"/>
                <a:sym typeface="Arial"/>
              </a:rPr>
              <a:t>e answer → adjusts itself a little</a:t>
            </a:r>
          </a:p>
          <a:p>
            <a:pPr algn="l" marL="518160" indent="-259080" lvl="1">
              <a:lnSpc>
                <a:spcPts val="3744"/>
              </a:lnSpc>
              <a:buAutoNum type="arabicPeriod" startAt="1"/>
            </a:pPr>
            <a:r>
              <a:rPr lang="en-US" sz="2400">
                <a:solidFill>
                  <a:srgbClr val="1A1C1C"/>
                </a:solidFill>
                <a:latin typeface="Arial"/>
                <a:ea typeface="Arial"/>
                <a:cs typeface="Arial"/>
                <a:sym typeface="Arial"/>
              </a:rPr>
              <a:t>Repeat hundreds of times → guesses get better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60120" y="685800"/>
            <a:ext cx="16367303" cy="411480"/>
            <a:chOff x="0" y="0"/>
            <a:chExt cx="21823070" cy="5486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823069" cy="548640"/>
            </a:xfrm>
            <a:custGeom>
              <a:avLst/>
              <a:gdLst/>
              <a:ahLst/>
              <a:cxnLst/>
              <a:rect r="r" b="b" t="t" l="l"/>
              <a:pathLst>
                <a:path h="548640" w="21823069">
                  <a:moveTo>
                    <a:pt x="0" y="0"/>
                  </a:moveTo>
                  <a:lnTo>
                    <a:pt x="21823069" y="0"/>
                  </a:lnTo>
                  <a:lnTo>
                    <a:pt x="21823069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5049" r="0" b="-725049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2182307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b="true" sz="1725" spc="225">
                  <a:solidFill>
                    <a:srgbClr val="5B5BA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</a:t>
              </a:r>
              <a:r>
                <a:rPr lang="en-US" b="true" sz="1725" spc="225">
                  <a:solidFill>
                    <a:srgbClr val="5B5BA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· INTRO LECTURE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583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9710928"/>
            <a:ext cx="6858000" cy="356616"/>
            <a:chOff x="0" y="0"/>
            <a:chExt cx="9144000" cy="4754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144000" cy="475488"/>
            </a:xfrm>
            <a:custGeom>
              <a:avLst/>
              <a:gdLst/>
              <a:ahLst/>
              <a:cxnLst/>
              <a:rect r="r" b="b" t="t" l="l"/>
              <a:pathLst>
                <a:path h="475488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4712" r="0" b="-32471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9144000" cy="4850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b="true" sz="1125" spc="300">
                  <a:solidFill>
                    <a:srgbClr val="78716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AIOSCOUT · EDGE AI VISION WORKSHOP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1207008"/>
            <a:ext cx="16367303" cy="932762"/>
            <a:chOff x="0" y="0"/>
            <a:chExt cx="21823070" cy="124368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823069" cy="1243682"/>
            </a:xfrm>
            <a:custGeom>
              <a:avLst/>
              <a:gdLst/>
              <a:ahLst/>
              <a:cxnLst/>
              <a:rect r="r" b="b" t="t" l="l"/>
              <a:pathLst>
                <a:path h="1243682" w="21823069">
                  <a:moveTo>
                    <a:pt x="0" y="0"/>
                  </a:moveTo>
                  <a:lnTo>
                    <a:pt x="21823069" y="0"/>
                  </a:lnTo>
                  <a:lnTo>
                    <a:pt x="21823069" y="1243682"/>
                  </a:lnTo>
                  <a:lnTo>
                    <a:pt x="0" y="124368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7792" r="0" b="-28602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1823070" cy="12722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A1C1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Two datasets: training and test datasets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50595" y="2665095"/>
            <a:ext cx="8111490" cy="1381880"/>
            <a:chOff x="0" y="0"/>
            <a:chExt cx="10815320" cy="1842507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10815320" cy="1842507"/>
              <a:chOff x="0" y="0"/>
              <a:chExt cx="10815320" cy="1842507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0815320" cy="1842507"/>
              </a:xfrm>
              <a:custGeom>
                <a:avLst/>
                <a:gdLst/>
                <a:ahLst/>
                <a:cxnLst/>
                <a:rect r="r" b="b" t="t" l="l"/>
                <a:pathLst>
                  <a:path h="1842507" w="10815320">
                    <a:moveTo>
                      <a:pt x="0" y="35830"/>
                    </a:moveTo>
                    <a:cubicBezTo>
                      <a:pt x="0" y="16039"/>
                      <a:pt x="57531" y="0"/>
                      <a:pt x="128524" y="0"/>
                    </a:cubicBezTo>
                    <a:lnTo>
                      <a:pt x="10686796" y="0"/>
                    </a:lnTo>
                    <a:cubicBezTo>
                      <a:pt x="10757789" y="0"/>
                      <a:pt x="10815320" y="16039"/>
                      <a:pt x="10815320" y="35830"/>
                    </a:cubicBezTo>
                    <a:lnTo>
                      <a:pt x="10815320" y="1806677"/>
                    </a:lnTo>
                    <a:cubicBezTo>
                      <a:pt x="10815320" y="1826468"/>
                      <a:pt x="10757789" y="1842507"/>
                      <a:pt x="10686796" y="1842507"/>
                    </a:cubicBezTo>
                    <a:lnTo>
                      <a:pt x="128524" y="1842507"/>
                    </a:lnTo>
                    <a:cubicBezTo>
                      <a:pt x="57531" y="1842507"/>
                      <a:pt x="0" y="1826468"/>
                      <a:pt x="0" y="1806677"/>
                    </a:cubicBezTo>
                    <a:close/>
                  </a:path>
                </a:pathLst>
              </a:custGeom>
              <a:solidFill>
                <a:srgbClr val="F1F1F0"/>
              </a:solidFill>
              <a:ln w="19050" cap="sq">
                <a:solidFill>
                  <a:srgbClr val="F1F1F0"/>
                </a:solidFill>
                <a:prstDash val="solid"/>
                <a:miter/>
              </a:ln>
            </p:spPr>
          </p:sp>
        </p:grpSp>
        <p:grpSp>
          <p:nvGrpSpPr>
            <p:cNvPr name="Group 11" id="11"/>
            <p:cNvGrpSpPr/>
            <p:nvPr/>
          </p:nvGrpSpPr>
          <p:grpSpPr>
            <a:xfrm rot="0">
              <a:off x="451612" y="341884"/>
              <a:ext cx="9912096" cy="475488"/>
              <a:chOff x="0" y="0"/>
              <a:chExt cx="9912096" cy="475488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9912096" cy="475488"/>
              </a:xfrm>
              <a:custGeom>
                <a:avLst/>
                <a:gdLst/>
                <a:ahLst/>
                <a:cxnLst/>
                <a:rect r="r" b="b" t="t" l="l"/>
                <a:pathLst>
                  <a:path h="475488" w="9912096">
                    <a:moveTo>
                      <a:pt x="0" y="0"/>
                    </a:moveTo>
                    <a:lnTo>
                      <a:pt x="9912096" y="0"/>
                    </a:lnTo>
                    <a:lnTo>
                      <a:pt x="9912096" y="475488"/>
                    </a:lnTo>
                    <a:lnTo>
                      <a:pt x="0" y="475488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356188" r="0" b="-356188"/>
                </a:stretch>
              </a:blip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19050"/>
                <a:ext cx="9912096" cy="49453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1620"/>
                  </a:lnSpc>
                </a:pPr>
                <a:r>
                  <a:rPr lang="en-US" b="true" sz="1350" spc="225">
                    <a:solidFill>
                      <a:srgbClr val="78716C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TRAINING DATA</a:t>
                </a: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0">
              <a:off x="451612" y="853948"/>
              <a:ext cx="9912096" cy="731520"/>
              <a:chOff x="0" y="0"/>
              <a:chExt cx="9912096" cy="73152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9912096" cy="731520"/>
              </a:xfrm>
              <a:custGeom>
                <a:avLst/>
                <a:gdLst/>
                <a:ahLst/>
                <a:cxnLst/>
                <a:rect r="r" b="b" t="t" l="l"/>
                <a:pathLst>
                  <a:path h="731520" w="9912096">
                    <a:moveTo>
                      <a:pt x="0" y="0"/>
                    </a:moveTo>
                    <a:lnTo>
                      <a:pt x="9912096" y="0"/>
                    </a:lnTo>
                    <a:lnTo>
                      <a:pt x="9912096" y="731520"/>
                    </a:lnTo>
                    <a:lnTo>
                      <a:pt x="0" y="73152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14022" r="0" b="-214022"/>
                </a:stretch>
              </a:blip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19050"/>
                <a:ext cx="9912096" cy="75057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610"/>
                  </a:lnSpc>
                </a:pPr>
                <a:r>
                  <a:rPr lang="en-US" sz="2175" b="true">
                    <a:solidFill>
                      <a:srgbClr val="1A1C1C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Homework — with answers (correct label)</a:t>
                </a:r>
              </a:p>
            </p:txBody>
          </p:sp>
        </p:grpSp>
      </p:grpSp>
      <p:grpSp>
        <p:nvGrpSpPr>
          <p:cNvPr name="Group 17" id="17"/>
          <p:cNvGrpSpPr/>
          <p:nvPr/>
        </p:nvGrpSpPr>
        <p:grpSpPr>
          <a:xfrm rot="0">
            <a:off x="950595" y="4452560"/>
            <a:ext cx="8111490" cy="1381880"/>
            <a:chOff x="0" y="0"/>
            <a:chExt cx="10815320" cy="1842507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10815320" cy="1842507"/>
              <a:chOff x="0" y="0"/>
              <a:chExt cx="10815320" cy="1842507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0815320" cy="1842507"/>
              </a:xfrm>
              <a:custGeom>
                <a:avLst/>
                <a:gdLst/>
                <a:ahLst/>
                <a:cxnLst/>
                <a:rect r="r" b="b" t="t" l="l"/>
                <a:pathLst>
                  <a:path h="1842507" w="10815320">
                    <a:moveTo>
                      <a:pt x="0" y="35830"/>
                    </a:moveTo>
                    <a:cubicBezTo>
                      <a:pt x="0" y="16039"/>
                      <a:pt x="57531" y="0"/>
                      <a:pt x="128524" y="0"/>
                    </a:cubicBezTo>
                    <a:lnTo>
                      <a:pt x="10686796" y="0"/>
                    </a:lnTo>
                    <a:cubicBezTo>
                      <a:pt x="10757789" y="0"/>
                      <a:pt x="10815320" y="16039"/>
                      <a:pt x="10815320" y="35830"/>
                    </a:cubicBezTo>
                    <a:lnTo>
                      <a:pt x="10815320" y="1806677"/>
                    </a:lnTo>
                    <a:cubicBezTo>
                      <a:pt x="10815320" y="1826468"/>
                      <a:pt x="10757789" y="1842507"/>
                      <a:pt x="10686796" y="1842507"/>
                    </a:cubicBezTo>
                    <a:lnTo>
                      <a:pt x="128524" y="1842507"/>
                    </a:lnTo>
                    <a:cubicBezTo>
                      <a:pt x="57531" y="1842507"/>
                      <a:pt x="0" y="1826468"/>
                      <a:pt x="0" y="1806677"/>
                    </a:cubicBezTo>
                    <a:close/>
                  </a:path>
                </a:pathLst>
              </a:custGeom>
              <a:solidFill>
                <a:srgbClr val="F1F1F0"/>
              </a:solidFill>
              <a:ln w="19050" cap="sq">
                <a:solidFill>
                  <a:srgbClr val="F1F1F0"/>
                </a:solidFill>
                <a:prstDash val="solid"/>
                <a:miter/>
              </a:ln>
            </p:spPr>
          </p:sp>
        </p:grpSp>
        <p:grpSp>
          <p:nvGrpSpPr>
            <p:cNvPr name="Group 20" id="20"/>
            <p:cNvGrpSpPr/>
            <p:nvPr/>
          </p:nvGrpSpPr>
          <p:grpSpPr>
            <a:xfrm rot="0">
              <a:off x="451612" y="341884"/>
              <a:ext cx="9912096" cy="475488"/>
              <a:chOff x="0" y="0"/>
              <a:chExt cx="9912096" cy="475488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9912096" cy="475488"/>
              </a:xfrm>
              <a:custGeom>
                <a:avLst/>
                <a:gdLst/>
                <a:ahLst/>
                <a:cxnLst/>
                <a:rect r="r" b="b" t="t" l="l"/>
                <a:pathLst>
                  <a:path h="475488" w="9912096">
                    <a:moveTo>
                      <a:pt x="0" y="0"/>
                    </a:moveTo>
                    <a:lnTo>
                      <a:pt x="9912096" y="0"/>
                    </a:lnTo>
                    <a:lnTo>
                      <a:pt x="9912096" y="475488"/>
                    </a:lnTo>
                    <a:lnTo>
                      <a:pt x="0" y="475488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356188" r="0" b="-356188"/>
                </a:stretch>
              </a:blip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19050"/>
                <a:ext cx="9912096" cy="49453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1620"/>
                  </a:lnSpc>
                </a:pPr>
                <a:r>
                  <a:rPr lang="en-US" b="true" sz="1350" spc="225">
                    <a:solidFill>
                      <a:srgbClr val="78716C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TESTING DATA</a:t>
                </a:r>
              </a:p>
            </p:txBody>
          </p:sp>
        </p:grpSp>
        <p:grpSp>
          <p:nvGrpSpPr>
            <p:cNvPr name="Group 23" id="23"/>
            <p:cNvGrpSpPr/>
            <p:nvPr/>
          </p:nvGrpSpPr>
          <p:grpSpPr>
            <a:xfrm rot="0">
              <a:off x="451612" y="853948"/>
              <a:ext cx="9912096" cy="731520"/>
              <a:chOff x="0" y="0"/>
              <a:chExt cx="9912096" cy="73152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9912096" cy="731520"/>
              </a:xfrm>
              <a:custGeom>
                <a:avLst/>
                <a:gdLst/>
                <a:ahLst/>
                <a:cxnLst/>
                <a:rect r="r" b="b" t="t" l="l"/>
                <a:pathLst>
                  <a:path h="731520" w="9912096">
                    <a:moveTo>
                      <a:pt x="0" y="0"/>
                    </a:moveTo>
                    <a:lnTo>
                      <a:pt x="9912096" y="0"/>
                    </a:lnTo>
                    <a:lnTo>
                      <a:pt x="9912096" y="731520"/>
                    </a:lnTo>
                    <a:lnTo>
                      <a:pt x="0" y="73152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14022" r="0" b="-214022"/>
                </a:stretch>
              </a:blip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19050"/>
                <a:ext cx="9912096" cy="75057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610"/>
                  </a:lnSpc>
                </a:pPr>
                <a:r>
                  <a:rPr lang="en-US" sz="2175" b="true">
                    <a:solidFill>
                      <a:srgbClr val="1A1C1C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Exam — answers hidden (no label, just image)</a:t>
                </a:r>
              </a:p>
            </p:txBody>
          </p:sp>
        </p:grpSp>
      </p:grpSp>
      <p:grpSp>
        <p:nvGrpSpPr>
          <p:cNvPr name="Group 26" id="26"/>
          <p:cNvGrpSpPr/>
          <p:nvPr/>
        </p:nvGrpSpPr>
        <p:grpSpPr>
          <a:xfrm rot="0">
            <a:off x="14741908" y="4157016"/>
            <a:ext cx="1879189" cy="2799279"/>
            <a:chOff x="0" y="0"/>
            <a:chExt cx="5795744" cy="86334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795744" cy="8633460"/>
            </a:xfrm>
            <a:custGeom>
              <a:avLst/>
              <a:gdLst/>
              <a:ahLst/>
              <a:cxnLst/>
              <a:rect r="r" b="b" t="t" l="l"/>
              <a:pathLst>
                <a:path h="8633460" w="5795744">
                  <a:moveTo>
                    <a:pt x="0" y="146939"/>
                  </a:moveTo>
                  <a:cubicBezTo>
                    <a:pt x="0" y="65786"/>
                    <a:pt x="40713" y="0"/>
                    <a:pt x="90937" y="0"/>
                  </a:cubicBezTo>
                  <a:lnTo>
                    <a:pt x="5704807" y="0"/>
                  </a:lnTo>
                  <a:cubicBezTo>
                    <a:pt x="5755031" y="0"/>
                    <a:pt x="5795744" y="65786"/>
                    <a:pt x="5795744" y="146939"/>
                  </a:cubicBezTo>
                  <a:lnTo>
                    <a:pt x="5795744" y="8486521"/>
                  </a:lnTo>
                  <a:cubicBezTo>
                    <a:pt x="5795744" y="8567674"/>
                    <a:pt x="5755031" y="8633460"/>
                    <a:pt x="5704807" y="8633460"/>
                  </a:cubicBezTo>
                  <a:lnTo>
                    <a:pt x="90937" y="8633460"/>
                  </a:lnTo>
                  <a:cubicBezTo>
                    <a:pt x="40713" y="8633460"/>
                    <a:pt x="0" y="8567674"/>
                    <a:pt x="0" y="8486521"/>
                  </a:cubicBezTo>
                  <a:close/>
                </a:path>
              </a:pathLst>
            </a:custGeom>
            <a:blipFill>
              <a:blip r:embed="rId4"/>
              <a:stretch>
                <a:fillRect l="0" t="-8340" r="-279430" b="-15766"/>
              </a:stretch>
            </a:blipFill>
            <a:ln w="28575" cap="sq">
              <a:solidFill>
                <a:srgbClr val="78716C"/>
              </a:solidFill>
              <a:prstDash val="dash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14741908" y="1097280"/>
            <a:ext cx="1879189" cy="2799279"/>
            <a:chOff x="0" y="0"/>
            <a:chExt cx="5795744" cy="863346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795744" cy="8633460"/>
            </a:xfrm>
            <a:custGeom>
              <a:avLst/>
              <a:gdLst/>
              <a:ahLst/>
              <a:cxnLst/>
              <a:rect r="r" b="b" t="t" l="l"/>
              <a:pathLst>
                <a:path h="8633460" w="5795744">
                  <a:moveTo>
                    <a:pt x="0" y="146939"/>
                  </a:moveTo>
                  <a:cubicBezTo>
                    <a:pt x="0" y="65786"/>
                    <a:pt x="40713" y="0"/>
                    <a:pt x="90937" y="0"/>
                  </a:cubicBezTo>
                  <a:lnTo>
                    <a:pt x="5704807" y="0"/>
                  </a:lnTo>
                  <a:cubicBezTo>
                    <a:pt x="5755031" y="0"/>
                    <a:pt x="5795744" y="65786"/>
                    <a:pt x="5795744" y="146939"/>
                  </a:cubicBezTo>
                  <a:lnTo>
                    <a:pt x="5795744" y="8486521"/>
                  </a:lnTo>
                  <a:cubicBezTo>
                    <a:pt x="5795744" y="8567674"/>
                    <a:pt x="5755031" y="8633460"/>
                    <a:pt x="5704807" y="8633460"/>
                  </a:cubicBezTo>
                  <a:lnTo>
                    <a:pt x="90937" y="8633460"/>
                  </a:lnTo>
                  <a:cubicBezTo>
                    <a:pt x="40713" y="8633460"/>
                    <a:pt x="0" y="8567674"/>
                    <a:pt x="0" y="8486521"/>
                  </a:cubicBezTo>
                  <a:close/>
                </a:path>
              </a:pathLst>
            </a:custGeom>
            <a:blipFill>
              <a:blip r:embed="rId4"/>
              <a:stretch>
                <a:fillRect l="-136660" t="-7818" r="-142769" b="-16288"/>
              </a:stretch>
            </a:blipFill>
            <a:ln w="28575" cap="sq">
              <a:solidFill>
                <a:srgbClr val="78716C"/>
              </a:solidFill>
              <a:prstDash val="dash"/>
              <a:miter/>
            </a:ln>
          </p:spPr>
        </p:sp>
      </p:grpSp>
      <p:sp>
        <p:nvSpPr>
          <p:cNvPr name="Freeform 30" id="30"/>
          <p:cNvSpPr/>
          <p:nvPr/>
        </p:nvSpPr>
        <p:spPr>
          <a:xfrm flipH="false" flipV="false" rot="0">
            <a:off x="9541115" y="2934701"/>
            <a:ext cx="4813057" cy="2782342"/>
          </a:xfrm>
          <a:custGeom>
            <a:avLst/>
            <a:gdLst/>
            <a:ahLst/>
            <a:cxnLst/>
            <a:rect r="r" b="b" t="t" l="l"/>
            <a:pathLst>
              <a:path h="2782342" w="4813057">
                <a:moveTo>
                  <a:pt x="0" y="0"/>
                </a:moveTo>
                <a:lnTo>
                  <a:pt x="4813057" y="0"/>
                </a:lnTo>
                <a:lnTo>
                  <a:pt x="4813057" y="2782343"/>
                </a:lnTo>
                <a:lnTo>
                  <a:pt x="0" y="27823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950595" y="6186865"/>
            <a:ext cx="8193405" cy="769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1"/>
              </a:lnSpc>
            </a:pPr>
            <a:r>
              <a:rPr lang="en-US" sz="2175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Never test on your training photos, that is like grading yourself on questions you already memorized.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264640" y="7484501"/>
            <a:ext cx="6010390" cy="769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1"/>
              </a:lnSpc>
            </a:pPr>
            <a:r>
              <a:rPr lang="en-US" sz="2175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We usually use more training data (practice more) and less test data to verify the performace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960120" y="685800"/>
            <a:ext cx="16367303" cy="411480"/>
            <a:chOff x="0" y="0"/>
            <a:chExt cx="21823070" cy="5486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1823069" cy="548640"/>
            </a:xfrm>
            <a:custGeom>
              <a:avLst/>
              <a:gdLst/>
              <a:ahLst/>
              <a:cxnLst/>
              <a:rect r="r" b="b" t="t" l="l"/>
              <a:pathLst>
                <a:path h="548640" w="21823069">
                  <a:moveTo>
                    <a:pt x="0" y="0"/>
                  </a:moveTo>
                  <a:lnTo>
                    <a:pt x="21823069" y="0"/>
                  </a:lnTo>
                  <a:lnTo>
                    <a:pt x="21823069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5049" r="0" b="-725049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9050"/>
              <a:ext cx="2182307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b="true" sz="1725" spc="225">
                  <a:solidFill>
                    <a:srgbClr val="5B5BA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</a:t>
              </a:r>
              <a:r>
                <a:rPr lang="en-US" b="true" sz="1725" spc="225">
                  <a:solidFill>
                    <a:srgbClr val="5B5BA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· INTRO LECTURE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583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9710928"/>
            <a:ext cx="6858000" cy="356616"/>
            <a:chOff x="0" y="0"/>
            <a:chExt cx="9144000" cy="4754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144000" cy="475488"/>
            </a:xfrm>
            <a:custGeom>
              <a:avLst/>
              <a:gdLst/>
              <a:ahLst/>
              <a:cxnLst/>
              <a:rect r="r" b="b" t="t" l="l"/>
              <a:pathLst>
                <a:path h="475488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4712" r="0" b="-32471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9144000" cy="4850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b="true" sz="1125" spc="300">
                  <a:solidFill>
                    <a:srgbClr val="78716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AIOSCOUT · EDGE AI VISION WORKSHOP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1207008"/>
            <a:ext cx="16367303" cy="932762"/>
            <a:chOff x="0" y="0"/>
            <a:chExt cx="21823070" cy="124368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823069" cy="1243682"/>
            </a:xfrm>
            <a:custGeom>
              <a:avLst/>
              <a:gdLst/>
              <a:ahLst/>
              <a:cxnLst/>
              <a:rect r="r" b="b" t="t" l="l"/>
              <a:pathLst>
                <a:path h="1243682" w="21823069">
                  <a:moveTo>
                    <a:pt x="0" y="0"/>
                  </a:moveTo>
                  <a:lnTo>
                    <a:pt x="21823069" y="0"/>
                  </a:lnTo>
                  <a:lnTo>
                    <a:pt x="21823069" y="1243682"/>
                  </a:lnTo>
                  <a:lnTo>
                    <a:pt x="0" y="124368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7792" r="0" b="-28602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1823070" cy="12722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A1C1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Pixels into Digits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54656" y="4971251"/>
            <a:ext cx="5816679" cy="4287049"/>
            <a:chOff x="0" y="0"/>
            <a:chExt cx="7755572" cy="571606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755572" cy="5716065"/>
            </a:xfrm>
            <a:custGeom>
              <a:avLst/>
              <a:gdLst/>
              <a:ahLst/>
              <a:cxnLst/>
              <a:rect r="r" b="b" t="t" l="l"/>
              <a:pathLst>
                <a:path h="5716065" w="7755572">
                  <a:moveTo>
                    <a:pt x="0" y="101590"/>
                  </a:moveTo>
                  <a:cubicBezTo>
                    <a:pt x="0" y="45483"/>
                    <a:pt x="53437" y="0"/>
                    <a:pt x="119356" y="0"/>
                  </a:cubicBezTo>
                  <a:lnTo>
                    <a:pt x="7636216" y="0"/>
                  </a:lnTo>
                  <a:cubicBezTo>
                    <a:pt x="7702135" y="0"/>
                    <a:pt x="7755572" y="45483"/>
                    <a:pt x="7755572" y="101590"/>
                  </a:cubicBezTo>
                  <a:lnTo>
                    <a:pt x="7755572" y="5614476"/>
                  </a:lnTo>
                  <a:cubicBezTo>
                    <a:pt x="7755572" y="5670583"/>
                    <a:pt x="7702135" y="5716065"/>
                    <a:pt x="7636216" y="5716065"/>
                  </a:cubicBezTo>
                  <a:lnTo>
                    <a:pt x="119356" y="5716065"/>
                  </a:lnTo>
                  <a:cubicBezTo>
                    <a:pt x="53437" y="5716065"/>
                    <a:pt x="0" y="5670583"/>
                    <a:pt x="0" y="5614476"/>
                  </a:cubicBezTo>
                  <a:close/>
                </a:path>
              </a:pathLst>
            </a:custGeom>
            <a:blipFill>
              <a:blip r:embed="rId4"/>
              <a:stretch>
                <a:fillRect l="0" t="-981" r="0" b="-981"/>
              </a:stretch>
            </a:blipFill>
            <a:ln w="28575" cap="sq">
              <a:solidFill>
                <a:srgbClr val="78716C"/>
              </a:solidFill>
              <a:prstDash val="dash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7150656" y="4971251"/>
            <a:ext cx="7378779" cy="4287049"/>
            <a:chOff x="0" y="0"/>
            <a:chExt cx="9838372" cy="571606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838372" cy="5716065"/>
            </a:xfrm>
            <a:custGeom>
              <a:avLst/>
              <a:gdLst/>
              <a:ahLst/>
              <a:cxnLst/>
              <a:rect r="r" b="b" t="t" l="l"/>
              <a:pathLst>
                <a:path h="5716065" w="9838372">
                  <a:moveTo>
                    <a:pt x="0" y="101590"/>
                  </a:moveTo>
                  <a:cubicBezTo>
                    <a:pt x="0" y="45483"/>
                    <a:pt x="67788" y="0"/>
                    <a:pt x="151410" y="0"/>
                  </a:cubicBezTo>
                  <a:lnTo>
                    <a:pt x="9686962" y="0"/>
                  </a:lnTo>
                  <a:cubicBezTo>
                    <a:pt x="9770585" y="0"/>
                    <a:pt x="9838372" y="45483"/>
                    <a:pt x="9838372" y="101590"/>
                  </a:cubicBezTo>
                  <a:lnTo>
                    <a:pt x="9838372" y="5614476"/>
                  </a:lnTo>
                  <a:cubicBezTo>
                    <a:pt x="9838372" y="5670583"/>
                    <a:pt x="9770585" y="5716065"/>
                    <a:pt x="9686962" y="5716065"/>
                  </a:cubicBezTo>
                  <a:lnTo>
                    <a:pt x="151410" y="5716065"/>
                  </a:lnTo>
                  <a:cubicBezTo>
                    <a:pt x="67788" y="5716065"/>
                    <a:pt x="0" y="5670583"/>
                    <a:pt x="0" y="5614476"/>
                  </a:cubicBezTo>
                  <a:close/>
                </a:path>
              </a:pathLst>
            </a:custGeom>
            <a:blipFill>
              <a:blip r:embed="rId5"/>
              <a:stretch>
                <a:fillRect l="-990" t="0" r="-990" b="0"/>
              </a:stretch>
            </a:blipFill>
            <a:ln w="28575" cap="sq">
              <a:solidFill>
                <a:srgbClr val="78716C"/>
              </a:solidFill>
              <a:prstDash val="dash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960120" y="2686050"/>
            <a:ext cx="11822430" cy="1531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93621" indent="-196810" lvl="1">
              <a:lnSpc>
                <a:spcPts val="3001"/>
              </a:lnSpc>
              <a:buFont typeface="Arial"/>
              <a:buChar char="•"/>
            </a:pPr>
            <a:r>
              <a:rPr lang="en-US" sz="2175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A camera image is a grid of tiny squares — pixels</a:t>
            </a:r>
          </a:p>
          <a:p>
            <a:pPr algn="l" marL="393621" indent="-196810" lvl="1">
              <a:lnSpc>
                <a:spcPts val="3001"/>
              </a:lnSpc>
              <a:buFont typeface="Arial"/>
              <a:buChar char="•"/>
            </a:pPr>
            <a:r>
              <a:rPr lang="en-US" sz="2175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Each pixel is one number: 0 = black, 255 = white, in between = different gray values</a:t>
            </a:r>
          </a:p>
          <a:p>
            <a:pPr algn="l" marL="393621" indent="-196810" lvl="1">
              <a:lnSpc>
                <a:spcPts val="3001"/>
              </a:lnSpc>
              <a:buFont typeface="Arial"/>
              <a:buChar char="•"/>
            </a:pPr>
            <a:r>
              <a:rPr lang="en-US" sz="2175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Our model uses small 96×96 grayscale images — that is still 9,216 numbers</a:t>
            </a:r>
          </a:p>
          <a:p>
            <a:pPr algn="l" marL="393621" indent="-196810" lvl="1">
              <a:lnSpc>
                <a:spcPts val="3001"/>
              </a:lnSpc>
              <a:buFont typeface="Arial"/>
              <a:buChar char="•"/>
            </a:pPr>
            <a:r>
              <a:rPr lang="en-US" sz="2175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Image recognition = finding patterns in those numbers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60120" y="685800"/>
            <a:ext cx="16367303" cy="411480"/>
            <a:chOff x="0" y="0"/>
            <a:chExt cx="21823070" cy="548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823069" cy="548640"/>
            </a:xfrm>
            <a:custGeom>
              <a:avLst/>
              <a:gdLst/>
              <a:ahLst/>
              <a:cxnLst/>
              <a:rect r="r" b="b" t="t" l="l"/>
              <a:pathLst>
                <a:path h="548640" w="21823069">
                  <a:moveTo>
                    <a:pt x="0" y="0"/>
                  </a:moveTo>
                  <a:lnTo>
                    <a:pt x="21823069" y="0"/>
                  </a:lnTo>
                  <a:lnTo>
                    <a:pt x="21823069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5049" r="0" b="-725049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2182307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b="true" sz="1725" spc="225">
                  <a:solidFill>
                    <a:srgbClr val="5B5BA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</a:t>
              </a:r>
              <a:r>
                <a:rPr lang="en-US" b="true" sz="1725" spc="225">
                  <a:solidFill>
                    <a:srgbClr val="5B5BA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· INTRO LECTURE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583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9710928"/>
            <a:ext cx="6858000" cy="356616"/>
            <a:chOff x="0" y="0"/>
            <a:chExt cx="9144000" cy="4754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144000" cy="475488"/>
            </a:xfrm>
            <a:custGeom>
              <a:avLst/>
              <a:gdLst/>
              <a:ahLst/>
              <a:cxnLst/>
              <a:rect r="r" b="b" t="t" l="l"/>
              <a:pathLst>
                <a:path h="475488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4712" r="0" b="-32471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9144000" cy="4850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b="true" sz="1125" spc="300">
                  <a:solidFill>
                    <a:srgbClr val="78716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AIOSCOUT · EDGE AI VISION WORKSHOP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1207008"/>
            <a:ext cx="16367303" cy="932762"/>
            <a:chOff x="0" y="0"/>
            <a:chExt cx="21823070" cy="124368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823069" cy="1243682"/>
            </a:xfrm>
            <a:custGeom>
              <a:avLst/>
              <a:gdLst/>
              <a:ahLst/>
              <a:cxnLst/>
              <a:rect r="r" b="b" t="t" l="l"/>
              <a:pathLst>
                <a:path h="1243682" w="21823069">
                  <a:moveTo>
                    <a:pt x="0" y="0"/>
                  </a:moveTo>
                  <a:lnTo>
                    <a:pt x="21823069" y="0"/>
                  </a:lnTo>
                  <a:lnTo>
                    <a:pt x="21823069" y="1243682"/>
                  </a:lnTo>
                  <a:lnTo>
                    <a:pt x="0" y="124368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7792" r="0" b="-28602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1823070" cy="12722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A1C1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CNN (Convolutional Neural Network)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503709" y="2259096"/>
            <a:ext cx="11280581" cy="7332506"/>
            <a:chOff x="0" y="0"/>
            <a:chExt cx="21855684" cy="1420644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855683" cy="14206443"/>
            </a:xfrm>
            <a:custGeom>
              <a:avLst/>
              <a:gdLst/>
              <a:ahLst/>
              <a:cxnLst/>
              <a:rect r="r" b="b" t="t" l="l"/>
              <a:pathLst>
                <a:path h="14206443" w="21855683">
                  <a:moveTo>
                    <a:pt x="0" y="391809"/>
                  </a:moveTo>
                  <a:cubicBezTo>
                    <a:pt x="0" y="175638"/>
                    <a:pt x="66040" y="0"/>
                    <a:pt x="147320" y="0"/>
                  </a:cubicBezTo>
                  <a:lnTo>
                    <a:pt x="21708363" y="0"/>
                  </a:lnTo>
                  <a:cubicBezTo>
                    <a:pt x="21789771" y="0"/>
                    <a:pt x="21855683" y="175638"/>
                    <a:pt x="21855683" y="391809"/>
                  </a:cubicBezTo>
                  <a:lnTo>
                    <a:pt x="21855683" y="13814634"/>
                  </a:lnTo>
                  <a:cubicBezTo>
                    <a:pt x="21855683" y="14031142"/>
                    <a:pt x="21789644" y="14206443"/>
                    <a:pt x="21708363" y="14206443"/>
                  </a:cubicBezTo>
                  <a:lnTo>
                    <a:pt x="147320" y="14206443"/>
                  </a:lnTo>
                  <a:cubicBezTo>
                    <a:pt x="66040" y="14206443"/>
                    <a:pt x="0" y="14030804"/>
                    <a:pt x="0" y="13814634"/>
                  </a:cubicBezTo>
                  <a:close/>
                </a:path>
              </a:pathLst>
            </a:custGeom>
            <a:blipFill>
              <a:blip r:embed="rId4"/>
              <a:stretch>
                <a:fillRect l="0" t="-1281" r="0" b="-1281"/>
              </a:stretch>
            </a:blipFill>
            <a:ln w="28575" cap="sq">
              <a:solidFill>
                <a:srgbClr val="78716C"/>
              </a:solidFill>
              <a:prstDash val="dash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960120" y="685800"/>
            <a:ext cx="16367303" cy="411480"/>
            <a:chOff x="0" y="0"/>
            <a:chExt cx="2182307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823069" cy="548640"/>
            </a:xfrm>
            <a:custGeom>
              <a:avLst/>
              <a:gdLst/>
              <a:ahLst/>
              <a:cxnLst/>
              <a:rect r="r" b="b" t="t" l="l"/>
              <a:pathLst>
                <a:path h="548640" w="21823069">
                  <a:moveTo>
                    <a:pt x="0" y="0"/>
                  </a:moveTo>
                  <a:lnTo>
                    <a:pt x="21823069" y="0"/>
                  </a:lnTo>
                  <a:lnTo>
                    <a:pt x="21823069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5049" r="0" b="-725049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2182307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b="true" sz="1725" spc="225">
                  <a:solidFill>
                    <a:srgbClr val="5B5BA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</a:t>
              </a:r>
              <a:r>
                <a:rPr lang="en-US" b="true" sz="1725" spc="225">
                  <a:solidFill>
                    <a:srgbClr val="5B5BA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· INTRO LECTURE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583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9710928"/>
            <a:ext cx="6858000" cy="356616"/>
            <a:chOff x="0" y="0"/>
            <a:chExt cx="9144000" cy="4754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144000" cy="475488"/>
            </a:xfrm>
            <a:custGeom>
              <a:avLst/>
              <a:gdLst/>
              <a:ahLst/>
              <a:cxnLst/>
              <a:rect r="r" b="b" t="t" l="l"/>
              <a:pathLst>
                <a:path h="475488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4712" r="0" b="-32471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9144000" cy="4850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b="true" sz="1125" spc="300">
                  <a:solidFill>
                    <a:srgbClr val="78716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AIOSCOUT · EDGE AI VISION WORKSHOP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1207008"/>
            <a:ext cx="16367303" cy="932762"/>
            <a:chOff x="0" y="0"/>
            <a:chExt cx="21823070" cy="124368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823069" cy="1243682"/>
            </a:xfrm>
            <a:custGeom>
              <a:avLst/>
              <a:gdLst/>
              <a:ahLst/>
              <a:cxnLst/>
              <a:rect r="r" b="b" t="t" l="l"/>
              <a:pathLst>
                <a:path h="1243682" w="21823069">
                  <a:moveTo>
                    <a:pt x="0" y="0"/>
                  </a:moveTo>
                  <a:lnTo>
                    <a:pt x="21823069" y="0"/>
                  </a:lnTo>
                  <a:lnTo>
                    <a:pt x="21823069" y="1243682"/>
                  </a:lnTo>
                  <a:lnTo>
                    <a:pt x="0" y="124368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7792" r="0" b="-28602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1823070" cy="12722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A1C1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CNN (Convolutional Neural Network) 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034853" y="2673413"/>
            <a:ext cx="12217836" cy="6321261"/>
            <a:chOff x="0" y="0"/>
            <a:chExt cx="21855684" cy="1130768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855683" cy="11307687"/>
            </a:xfrm>
            <a:custGeom>
              <a:avLst/>
              <a:gdLst/>
              <a:ahLst/>
              <a:cxnLst/>
              <a:rect r="r" b="b" t="t" l="l"/>
              <a:pathLst>
                <a:path h="11307687" w="21855683">
                  <a:moveTo>
                    <a:pt x="0" y="311862"/>
                  </a:moveTo>
                  <a:cubicBezTo>
                    <a:pt x="0" y="139800"/>
                    <a:pt x="66040" y="0"/>
                    <a:pt x="147320" y="0"/>
                  </a:cubicBezTo>
                  <a:lnTo>
                    <a:pt x="21708363" y="0"/>
                  </a:lnTo>
                  <a:cubicBezTo>
                    <a:pt x="21789771" y="0"/>
                    <a:pt x="21855683" y="139800"/>
                    <a:pt x="21855683" y="311862"/>
                  </a:cubicBezTo>
                  <a:lnTo>
                    <a:pt x="21855683" y="10995826"/>
                  </a:lnTo>
                  <a:cubicBezTo>
                    <a:pt x="21855683" y="11168156"/>
                    <a:pt x="21789644" y="11307687"/>
                    <a:pt x="21708363" y="11307687"/>
                  </a:cubicBezTo>
                  <a:lnTo>
                    <a:pt x="147320" y="11307687"/>
                  </a:lnTo>
                  <a:cubicBezTo>
                    <a:pt x="66040" y="11307687"/>
                    <a:pt x="0" y="11167887"/>
                    <a:pt x="0" y="10995826"/>
                  </a:cubicBezTo>
                  <a:close/>
                </a:path>
              </a:pathLst>
            </a:custGeom>
            <a:blipFill>
              <a:blip r:embed="rId4"/>
              <a:stretch>
                <a:fillRect l="0" t="-1702" r="0" b="-1702"/>
              </a:stretch>
            </a:blipFill>
            <a:ln w="28575" cap="sq">
              <a:solidFill>
                <a:srgbClr val="78716C"/>
              </a:solidFill>
              <a:prstDash val="dash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960120" y="685800"/>
            <a:ext cx="16367303" cy="411480"/>
            <a:chOff x="0" y="0"/>
            <a:chExt cx="2182307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823069" cy="548640"/>
            </a:xfrm>
            <a:custGeom>
              <a:avLst/>
              <a:gdLst/>
              <a:ahLst/>
              <a:cxnLst/>
              <a:rect r="r" b="b" t="t" l="l"/>
              <a:pathLst>
                <a:path h="548640" w="21823069">
                  <a:moveTo>
                    <a:pt x="0" y="0"/>
                  </a:moveTo>
                  <a:lnTo>
                    <a:pt x="21823069" y="0"/>
                  </a:lnTo>
                  <a:lnTo>
                    <a:pt x="21823069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5049" r="0" b="-725049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2182307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b="true" sz="1725" spc="225">
                  <a:solidFill>
                    <a:srgbClr val="5B5BA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</a:t>
              </a:r>
              <a:r>
                <a:rPr lang="en-US" b="true" sz="1725" spc="225">
                  <a:solidFill>
                    <a:srgbClr val="5B5BA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· INTRO LECTURE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583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9710928"/>
            <a:ext cx="6858000" cy="356616"/>
            <a:chOff x="0" y="0"/>
            <a:chExt cx="9144000" cy="4754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144000" cy="475488"/>
            </a:xfrm>
            <a:custGeom>
              <a:avLst/>
              <a:gdLst/>
              <a:ahLst/>
              <a:cxnLst/>
              <a:rect r="r" b="b" t="t" l="l"/>
              <a:pathLst>
                <a:path h="475488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4712" r="0" b="-32471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9144000" cy="4850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b="true" sz="1125" spc="300">
                  <a:solidFill>
                    <a:srgbClr val="78716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AIOSCOUT · EDGE AI VISION WORKSHOP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1371600"/>
            <a:ext cx="10394994" cy="1371600"/>
            <a:chOff x="0" y="0"/>
            <a:chExt cx="13859992" cy="1828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859993" cy="1828800"/>
            </a:xfrm>
            <a:custGeom>
              <a:avLst/>
              <a:gdLst/>
              <a:ahLst/>
              <a:cxnLst/>
              <a:rect r="r" b="b" t="t" l="l"/>
              <a:pathLst>
                <a:path h="1828800" w="13859993">
                  <a:moveTo>
                    <a:pt x="0" y="0"/>
                  </a:moveTo>
                  <a:lnTo>
                    <a:pt x="13859993" y="0"/>
                  </a:lnTo>
                  <a:lnTo>
                    <a:pt x="13859993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631" r="39303" b="-3963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3859992" cy="1857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1A1C1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Confidence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60120" y="2811780"/>
            <a:ext cx="6035040" cy="548640"/>
            <a:chOff x="0" y="0"/>
            <a:chExt cx="804672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046720" cy="731520"/>
            </a:xfrm>
            <a:custGeom>
              <a:avLst/>
              <a:gdLst/>
              <a:ahLst/>
              <a:cxnLst/>
              <a:rect r="r" b="b" t="t" l="l"/>
              <a:pathLst>
                <a:path h="73152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335" r="0" b="-16433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804672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i="true">
                  <a:solidFill>
                    <a:srgbClr val="78716C"/>
                  </a:solidFill>
                  <a:latin typeface="Arial Italics"/>
                  <a:ea typeface="Arial Italics"/>
                  <a:cs typeface="Arial Italics"/>
                  <a:sym typeface="Arial Italics"/>
                </a:rPr>
                <a:t>how sure the model is, 0–100%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768715" y="7534275"/>
            <a:ext cx="8248650" cy="1664970"/>
            <a:chOff x="0" y="0"/>
            <a:chExt cx="10998200" cy="22199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998200" cy="2219960"/>
            </a:xfrm>
            <a:custGeom>
              <a:avLst/>
              <a:gdLst/>
              <a:ahLst/>
              <a:cxnLst/>
              <a:rect r="r" b="b" t="t" l="l"/>
              <a:pathLst>
                <a:path h="2219960" w="10998200">
                  <a:moveTo>
                    <a:pt x="0" y="129540"/>
                  </a:moveTo>
                  <a:cubicBezTo>
                    <a:pt x="0" y="57912"/>
                    <a:pt x="57912" y="0"/>
                    <a:pt x="129540" y="0"/>
                  </a:cubicBezTo>
                  <a:lnTo>
                    <a:pt x="10868660" y="0"/>
                  </a:lnTo>
                  <a:cubicBezTo>
                    <a:pt x="10940288" y="0"/>
                    <a:pt x="10998200" y="57912"/>
                    <a:pt x="10998200" y="129540"/>
                  </a:cubicBezTo>
                  <a:lnTo>
                    <a:pt x="10998200" y="2090420"/>
                  </a:lnTo>
                  <a:cubicBezTo>
                    <a:pt x="10998200" y="2161921"/>
                    <a:pt x="10940288" y="2219960"/>
                    <a:pt x="10868660" y="2219960"/>
                  </a:cubicBezTo>
                  <a:lnTo>
                    <a:pt x="129540" y="2219960"/>
                  </a:lnTo>
                  <a:cubicBezTo>
                    <a:pt x="57912" y="2219960"/>
                    <a:pt x="0" y="2162048"/>
                    <a:pt x="0" y="209042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8D9D8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9079992" y="7543800"/>
            <a:ext cx="7680960" cy="1645920"/>
            <a:chOff x="0" y="0"/>
            <a:chExt cx="10241280" cy="21945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24128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930" r="0" b="-4093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76200"/>
              <a:ext cx="10241280" cy="2270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1875" b="true">
                  <a:solidFill>
                    <a:srgbClr val="1A1C1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Careful — </a:t>
              </a:r>
              <a:r>
                <a:rPr lang="en-US" sz="1875">
                  <a:solidFill>
                    <a:srgbClr val="525252"/>
                  </a:solidFill>
                  <a:latin typeface="Arial"/>
                  <a:ea typeface="Arial"/>
                  <a:cs typeface="Arial"/>
                  <a:sym typeface="Arial"/>
                </a:rPr>
                <a:t>high confidence does not guarantee correct. The model can be </a:t>
              </a:r>
              <a:r>
                <a:rPr lang="en-US" sz="1875" b="true">
                  <a:solidFill>
                    <a:srgbClr val="52525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confidently</a:t>
              </a:r>
              <a:r>
                <a:rPr lang="en-US" sz="1875">
                  <a:solidFill>
                    <a:srgbClr val="525252"/>
                  </a:solidFill>
                  <a:latin typeface="Arial"/>
                  <a:ea typeface="Arial"/>
                  <a:cs typeface="Arial"/>
                  <a:sym typeface="Arial"/>
                </a:rPr>
                <a:t> wrong !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214370" y="6014970"/>
            <a:ext cx="6349500" cy="3174750"/>
          </a:xfrm>
          <a:custGeom>
            <a:avLst/>
            <a:gdLst/>
            <a:ahLst/>
            <a:cxnLst/>
            <a:rect r="r" b="b" t="t" l="l"/>
            <a:pathLst>
              <a:path h="3174750" w="6349500">
                <a:moveTo>
                  <a:pt x="0" y="0"/>
                </a:moveTo>
                <a:lnTo>
                  <a:pt x="6349500" y="0"/>
                </a:lnTo>
                <a:lnTo>
                  <a:pt x="6349500" y="3174750"/>
                </a:lnTo>
                <a:lnTo>
                  <a:pt x="0" y="31747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0567499" y="2811780"/>
            <a:ext cx="4116573" cy="4360995"/>
          </a:xfrm>
          <a:custGeom>
            <a:avLst/>
            <a:gdLst/>
            <a:ahLst/>
            <a:cxnLst/>
            <a:rect r="r" b="b" t="t" l="l"/>
            <a:pathLst>
              <a:path h="4360995" w="4116573">
                <a:moveTo>
                  <a:pt x="0" y="0"/>
                </a:moveTo>
                <a:lnTo>
                  <a:pt x="4116573" y="0"/>
                </a:lnTo>
                <a:lnTo>
                  <a:pt x="4116573" y="4360995"/>
                </a:lnTo>
                <a:lnTo>
                  <a:pt x="0" y="436099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960120" y="3627120"/>
            <a:ext cx="6309360" cy="799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6"/>
              </a:lnSpc>
            </a:pPr>
            <a:r>
              <a:rPr lang="en-US" sz="2100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The CNN never outputs a plain yes or no. For every </a:t>
            </a:r>
          </a:p>
          <a:p>
            <a:pPr algn="l">
              <a:lnSpc>
                <a:spcPts val="3276"/>
              </a:lnSpc>
            </a:pPr>
            <a:r>
              <a:rPr lang="en-US" sz="2100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class/label it gives a confidence score.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34440" y="5086350"/>
            <a:ext cx="5760720" cy="619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2"/>
              </a:lnSpc>
            </a:pPr>
            <a:r>
              <a:rPr lang="en-US" sz="1725">
                <a:solidFill>
                  <a:srgbClr val="1A1C1C"/>
                </a:solidFill>
                <a:latin typeface="Arial"/>
                <a:ea typeface="Arial"/>
                <a:cs typeface="Arial"/>
                <a:sym typeface="Arial"/>
              </a:rPr>
              <a:t>For example:</a:t>
            </a:r>
          </a:p>
          <a:p>
            <a:pPr algn="l">
              <a:lnSpc>
                <a:spcPts val="2442"/>
              </a:lnSpc>
            </a:pPr>
            <a:r>
              <a:rPr lang="en-US" sz="1725">
                <a:solidFill>
                  <a:srgbClr val="1A1C1C"/>
                </a:solidFill>
                <a:latin typeface="Arial"/>
                <a:ea typeface="Arial"/>
                <a:cs typeface="Arial"/>
                <a:sym typeface="Arial"/>
              </a:rPr>
              <a:t>The labels could be: Dog / Car / Apple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745425" y="2135200"/>
            <a:ext cx="5760720" cy="314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42"/>
              </a:lnSpc>
            </a:pPr>
            <a:r>
              <a:rPr lang="en-US" sz="1725">
                <a:solidFill>
                  <a:srgbClr val="1A1C1C"/>
                </a:solidFill>
                <a:latin typeface="Arial"/>
                <a:ea typeface="Arial"/>
                <a:cs typeface="Arial"/>
                <a:sym typeface="Arial"/>
              </a:rPr>
              <a:t>Or labels could be 1/2/3/4/5...9, numbers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60120" y="685800"/>
            <a:ext cx="16367303" cy="411480"/>
            <a:chOff x="0" y="0"/>
            <a:chExt cx="21823070" cy="5486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823069" cy="548640"/>
            </a:xfrm>
            <a:custGeom>
              <a:avLst/>
              <a:gdLst/>
              <a:ahLst/>
              <a:cxnLst/>
              <a:rect r="r" b="b" t="t" l="l"/>
              <a:pathLst>
                <a:path h="548640" w="21823069">
                  <a:moveTo>
                    <a:pt x="0" y="0"/>
                  </a:moveTo>
                  <a:lnTo>
                    <a:pt x="21823069" y="0"/>
                  </a:lnTo>
                  <a:lnTo>
                    <a:pt x="21823069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5049" r="0" b="-725049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2182307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b="true" sz="1725" spc="225">
                  <a:solidFill>
                    <a:srgbClr val="5B5BA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</a:t>
              </a:r>
              <a:r>
                <a:rPr lang="en-US" b="true" sz="1725" spc="225">
                  <a:solidFill>
                    <a:srgbClr val="5B5BA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· INTRO LECTURE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583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9710928"/>
            <a:ext cx="6858000" cy="356616"/>
            <a:chOff x="0" y="0"/>
            <a:chExt cx="9144000" cy="4754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144000" cy="475488"/>
            </a:xfrm>
            <a:custGeom>
              <a:avLst/>
              <a:gdLst/>
              <a:ahLst/>
              <a:cxnLst/>
              <a:rect r="r" b="b" t="t" l="l"/>
              <a:pathLst>
                <a:path h="475488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4712" r="0" b="-32471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9144000" cy="4850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b="true" sz="1125" spc="300">
                  <a:solidFill>
                    <a:srgbClr val="78716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AIOSCOUT · EDGE AI VISION WORKSHOP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1371600"/>
            <a:ext cx="11328853" cy="1371600"/>
            <a:chOff x="0" y="0"/>
            <a:chExt cx="15105138" cy="1828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105138" cy="1828800"/>
            </a:xfrm>
            <a:custGeom>
              <a:avLst/>
              <a:gdLst/>
              <a:ahLst/>
              <a:cxnLst/>
              <a:rect r="r" b="b" t="t" l="l"/>
              <a:pathLst>
                <a:path h="1828800" w="15105138">
                  <a:moveTo>
                    <a:pt x="0" y="0"/>
                  </a:moveTo>
                  <a:lnTo>
                    <a:pt x="15105138" y="0"/>
                  </a:lnTo>
                  <a:lnTo>
                    <a:pt x="15105138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631" r="44307" b="-3963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5105138" cy="1857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1A1C1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Hyperparameters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114668" y="3240024"/>
            <a:ext cx="8058664" cy="5126780"/>
            <a:chOff x="0" y="0"/>
            <a:chExt cx="18070914" cy="1149639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070912" cy="11496397"/>
            </a:xfrm>
            <a:custGeom>
              <a:avLst/>
              <a:gdLst/>
              <a:ahLst/>
              <a:cxnLst/>
              <a:rect r="r" b="b" t="t" l="l"/>
              <a:pathLst>
                <a:path h="11496397" w="18070912">
                  <a:moveTo>
                    <a:pt x="0" y="317067"/>
                  </a:moveTo>
                  <a:cubicBezTo>
                    <a:pt x="0" y="142133"/>
                    <a:pt x="54604" y="0"/>
                    <a:pt x="121808" y="0"/>
                  </a:cubicBezTo>
                  <a:lnTo>
                    <a:pt x="17949104" y="0"/>
                  </a:lnTo>
                  <a:cubicBezTo>
                    <a:pt x="18016415" y="0"/>
                    <a:pt x="18070912" y="142133"/>
                    <a:pt x="18070912" y="317067"/>
                  </a:cubicBezTo>
                  <a:lnTo>
                    <a:pt x="18070912" y="11179330"/>
                  </a:lnTo>
                  <a:cubicBezTo>
                    <a:pt x="18070912" y="11354537"/>
                    <a:pt x="18016310" y="11496397"/>
                    <a:pt x="17949104" y="11496397"/>
                  </a:cubicBezTo>
                  <a:lnTo>
                    <a:pt x="121808" y="11496397"/>
                  </a:lnTo>
                  <a:cubicBezTo>
                    <a:pt x="54604" y="11496397"/>
                    <a:pt x="0" y="11354264"/>
                    <a:pt x="0" y="11179330"/>
                  </a:cubicBezTo>
                  <a:close/>
                </a:path>
              </a:pathLst>
            </a:custGeom>
            <a:blipFill>
              <a:blip r:embed="rId4"/>
              <a:stretch>
                <a:fillRect l="0" t="-3443" r="0" b="-3443"/>
              </a:stretch>
            </a:blipFill>
            <a:ln w="28575" cap="sq">
              <a:solidFill>
                <a:srgbClr val="78716C"/>
              </a:solidFill>
              <a:prstDash val="dash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028700" y="4730899"/>
            <a:ext cx="3658156" cy="2145030"/>
            <a:chOff x="0" y="0"/>
            <a:chExt cx="4877542" cy="28600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877541" cy="2860040"/>
            </a:xfrm>
            <a:custGeom>
              <a:avLst/>
              <a:gdLst/>
              <a:ahLst/>
              <a:cxnLst/>
              <a:rect r="r" b="b" t="t" l="l"/>
              <a:pathLst>
                <a:path h="2860040" w="4877541">
                  <a:moveTo>
                    <a:pt x="0" y="129159"/>
                  </a:moveTo>
                  <a:cubicBezTo>
                    <a:pt x="0" y="57785"/>
                    <a:pt x="33403" y="0"/>
                    <a:pt x="74661" y="0"/>
                  </a:cubicBezTo>
                  <a:lnTo>
                    <a:pt x="4802881" y="0"/>
                  </a:lnTo>
                  <a:cubicBezTo>
                    <a:pt x="4844139" y="0"/>
                    <a:pt x="4877541" y="57785"/>
                    <a:pt x="4877541" y="129159"/>
                  </a:cubicBezTo>
                  <a:lnTo>
                    <a:pt x="4877541" y="2730881"/>
                  </a:lnTo>
                  <a:cubicBezTo>
                    <a:pt x="4877541" y="2802255"/>
                    <a:pt x="4844139" y="2860040"/>
                    <a:pt x="4802881" y="2860040"/>
                  </a:cubicBezTo>
                  <a:lnTo>
                    <a:pt x="74661" y="2860040"/>
                  </a:lnTo>
                  <a:cubicBezTo>
                    <a:pt x="33403" y="2860040"/>
                    <a:pt x="0" y="2802255"/>
                    <a:pt x="0" y="2730881"/>
                  </a:cubicBezTo>
                  <a:close/>
                </a:path>
              </a:pathLst>
            </a:custGeom>
            <a:solidFill>
              <a:srgbClr val="F1F1F0"/>
            </a:solidFill>
            <a:ln w="19050" cap="sq">
              <a:solidFill>
                <a:srgbClr val="F1F1F0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208635" y="4987312"/>
            <a:ext cx="3330001" cy="414561"/>
            <a:chOff x="0" y="0"/>
            <a:chExt cx="4440002" cy="55274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40002" cy="552748"/>
            </a:xfrm>
            <a:custGeom>
              <a:avLst/>
              <a:gdLst/>
              <a:ahLst/>
              <a:cxnLst/>
              <a:rect r="r" b="b" t="t" l="l"/>
              <a:pathLst>
                <a:path h="552748" w="4440002">
                  <a:moveTo>
                    <a:pt x="0" y="0"/>
                  </a:moveTo>
                  <a:lnTo>
                    <a:pt x="4440002" y="0"/>
                  </a:lnTo>
                  <a:lnTo>
                    <a:pt x="4440002" y="552748"/>
                  </a:lnTo>
                  <a:lnTo>
                    <a:pt x="0" y="5527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7751" r="-72994" b="-213774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4440002" cy="5622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333">
                  <a:solidFill>
                    <a:srgbClr val="F5833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PARAMETERS 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208635" y="5337451"/>
            <a:ext cx="3330001" cy="1050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2"/>
              </a:lnSpc>
            </a:pPr>
            <a:r>
              <a:rPr lang="en-US" sz="2000">
                <a:solidFill>
                  <a:srgbClr val="1A1C1C"/>
                </a:solidFill>
                <a:latin typeface="Arial"/>
                <a:ea typeface="Arial"/>
                <a:cs typeface="Arial"/>
                <a:sym typeface="Arial"/>
              </a:rPr>
              <a:t>Parameters are learned by the model, which you cannot change.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3601144" y="4730899"/>
            <a:ext cx="3658156" cy="2145030"/>
            <a:chOff x="0" y="0"/>
            <a:chExt cx="4877542" cy="28600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877541" cy="2860040"/>
            </a:xfrm>
            <a:custGeom>
              <a:avLst/>
              <a:gdLst/>
              <a:ahLst/>
              <a:cxnLst/>
              <a:rect r="r" b="b" t="t" l="l"/>
              <a:pathLst>
                <a:path h="2860040" w="4877541">
                  <a:moveTo>
                    <a:pt x="0" y="129159"/>
                  </a:moveTo>
                  <a:cubicBezTo>
                    <a:pt x="0" y="57785"/>
                    <a:pt x="33403" y="0"/>
                    <a:pt x="74661" y="0"/>
                  </a:cubicBezTo>
                  <a:lnTo>
                    <a:pt x="4802881" y="0"/>
                  </a:lnTo>
                  <a:cubicBezTo>
                    <a:pt x="4844139" y="0"/>
                    <a:pt x="4877541" y="57785"/>
                    <a:pt x="4877541" y="129159"/>
                  </a:cubicBezTo>
                  <a:lnTo>
                    <a:pt x="4877541" y="2730881"/>
                  </a:lnTo>
                  <a:cubicBezTo>
                    <a:pt x="4877541" y="2802255"/>
                    <a:pt x="4844139" y="2860040"/>
                    <a:pt x="4802881" y="2860040"/>
                  </a:cubicBezTo>
                  <a:lnTo>
                    <a:pt x="74661" y="2860040"/>
                  </a:lnTo>
                  <a:cubicBezTo>
                    <a:pt x="33403" y="2860040"/>
                    <a:pt x="0" y="2802255"/>
                    <a:pt x="0" y="2730881"/>
                  </a:cubicBezTo>
                  <a:close/>
                </a:path>
              </a:pathLst>
            </a:custGeom>
            <a:solidFill>
              <a:srgbClr val="F1F1F0"/>
            </a:solidFill>
            <a:ln w="19050" cap="sq">
              <a:solidFill>
                <a:srgbClr val="F1F1F0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3781078" y="4987312"/>
            <a:ext cx="3330001" cy="414561"/>
            <a:chOff x="0" y="0"/>
            <a:chExt cx="4440002" cy="55274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440002" cy="552748"/>
            </a:xfrm>
            <a:custGeom>
              <a:avLst/>
              <a:gdLst/>
              <a:ahLst/>
              <a:cxnLst/>
              <a:rect r="r" b="b" t="t" l="l"/>
              <a:pathLst>
                <a:path h="552748" w="4440002">
                  <a:moveTo>
                    <a:pt x="0" y="0"/>
                  </a:moveTo>
                  <a:lnTo>
                    <a:pt x="4440002" y="0"/>
                  </a:lnTo>
                  <a:lnTo>
                    <a:pt x="4440002" y="552748"/>
                  </a:lnTo>
                  <a:lnTo>
                    <a:pt x="0" y="5527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7751" r="-72994" b="-213774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4440002" cy="5622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333">
                  <a:solidFill>
                    <a:srgbClr val="F5833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HYPERPARAMETERS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3781078" y="5337451"/>
            <a:ext cx="3330001" cy="1402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2"/>
              </a:lnSpc>
            </a:pPr>
            <a:r>
              <a:rPr lang="en-US" sz="2000">
                <a:solidFill>
                  <a:srgbClr val="1A1C1C"/>
                </a:solidFill>
                <a:latin typeface="Arial"/>
                <a:ea typeface="Arial"/>
                <a:cs typeface="Arial"/>
                <a:sym typeface="Arial"/>
              </a:rPr>
              <a:t>You choose the how it learns, the conditions: how long it studies, how fast it adjusts, etc.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60120" y="685800"/>
            <a:ext cx="16367303" cy="411480"/>
            <a:chOff x="0" y="0"/>
            <a:chExt cx="21823070" cy="5486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823069" cy="548640"/>
            </a:xfrm>
            <a:custGeom>
              <a:avLst/>
              <a:gdLst/>
              <a:ahLst/>
              <a:cxnLst/>
              <a:rect r="r" b="b" t="t" l="l"/>
              <a:pathLst>
                <a:path h="548640" w="21823069">
                  <a:moveTo>
                    <a:pt x="0" y="0"/>
                  </a:moveTo>
                  <a:lnTo>
                    <a:pt x="21823069" y="0"/>
                  </a:lnTo>
                  <a:lnTo>
                    <a:pt x="21823069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5049" r="0" b="-725049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2182307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b="true" sz="1725" spc="225">
                  <a:solidFill>
                    <a:srgbClr val="5B5BA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</a:t>
              </a:r>
              <a:r>
                <a:rPr lang="en-US" b="true" sz="1725" spc="225">
                  <a:solidFill>
                    <a:srgbClr val="5B5BA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· INTRO LECTURE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583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9710928"/>
            <a:ext cx="6858000" cy="356616"/>
            <a:chOff x="0" y="0"/>
            <a:chExt cx="9144000" cy="4754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144000" cy="475488"/>
            </a:xfrm>
            <a:custGeom>
              <a:avLst/>
              <a:gdLst/>
              <a:ahLst/>
              <a:cxnLst/>
              <a:rect r="r" b="b" t="t" l="l"/>
              <a:pathLst>
                <a:path h="475488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4712" r="0" b="-32471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9144000" cy="4850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b="true" sz="1125" spc="300">
                  <a:solidFill>
                    <a:srgbClr val="78716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AIOSCOUT · EDGE AI VISION WORKSHOP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1207008"/>
            <a:ext cx="16367303" cy="932762"/>
            <a:chOff x="0" y="0"/>
            <a:chExt cx="21823070" cy="124368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823069" cy="1243682"/>
            </a:xfrm>
            <a:custGeom>
              <a:avLst/>
              <a:gdLst/>
              <a:ahLst/>
              <a:cxnLst/>
              <a:rect r="r" b="b" t="t" l="l"/>
              <a:pathLst>
                <a:path h="1243682" w="21823069">
                  <a:moveTo>
                    <a:pt x="0" y="0"/>
                  </a:moveTo>
                  <a:lnTo>
                    <a:pt x="21823069" y="0"/>
                  </a:lnTo>
                  <a:lnTo>
                    <a:pt x="21823069" y="1243682"/>
                  </a:lnTo>
                  <a:lnTo>
                    <a:pt x="0" y="124368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7792" r="0" b="-28602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1823070" cy="12722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A1C1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Physical AI in the real world: the Tesla Cybercab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9189720" y="2636520"/>
            <a:ext cx="8092440" cy="1049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66474" indent="-183237" lvl="1">
              <a:lnSpc>
                <a:spcPts val="2794"/>
              </a:lnSpc>
              <a:buFont typeface="Arial"/>
              <a:buChar char="•"/>
            </a:pPr>
            <a:r>
              <a:rPr lang="en-US" sz="2025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No driver, no steering wheel — cameras + AI make every decision</a:t>
            </a:r>
          </a:p>
          <a:p>
            <a:pPr algn="l" marL="366474" indent="-183237" lvl="1">
              <a:lnSpc>
                <a:spcPts val="2794"/>
              </a:lnSpc>
              <a:buFont typeface="Arial"/>
              <a:buChar char="•"/>
            </a:pPr>
            <a:r>
              <a:rPr lang="en-US" sz="2025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Promised as a cheap robotaxi for everyone</a:t>
            </a:r>
          </a:p>
          <a:p>
            <a:pPr algn="l" marL="366474" indent="-183237" lvl="1">
              <a:lnSpc>
                <a:spcPts val="2794"/>
              </a:lnSpc>
              <a:buFont typeface="Arial"/>
              <a:buChar char="•"/>
            </a:pPr>
            <a:r>
              <a:rPr lang="en-US" sz="2025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Same core idea as our car: camera in → AI decides → wheels act.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189720" y="5966460"/>
            <a:ext cx="8092440" cy="480060"/>
            <a:chOff x="0" y="0"/>
            <a:chExt cx="10789920" cy="6400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789920" cy="640080"/>
            </a:xfrm>
            <a:custGeom>
              <a:avLst/>
              <a:gdLst/>
              <a:ahLst/>
              <a:cxnLst/>
              <a:rect r="r" b="b" t="t" l="l"/>
              <a:pathLst>
                <a:path h="640080" w="10789920">
                  <a:moveTo>
                    <a:pt x="0" y="0"/>
                  </a:moveTo>
                  <a:lnTo>
                    <a:pt x="10789920" y="0"/>
                  </a:lnTo>
                  <a:lnTo>
                    <a:pt x="107899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8462" r="0" b="-278462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1078992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A1C1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Questions every engineer must answer: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9189720" y="6477000"/>
            <a:ext cx="8092440" cy="2369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66474" indent="-183237" lvl="1">
              <a:lnSpc>
                <a:spcPts val="2794"/>
              </a:lnSpc>
              <a:buFont typeface="Arial"/>
              <a:buChar char="•"/>
            </a:pPr>
            <a:r>
              <a:rPr lang="en-US" sz="2025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How safe is “safe enough” to drive without a driver?</a:t>
            </a:r>
          </a:p>
          <a:p>
            <a:pPr algn="l" marL="366474" indent="-183237" lvl="1">
              <a:lnSpc>
                <a:spcPts val="2794"/>
              </a:lnSpc>
              <a:buFont typeface="Arial"/>
              <a:buChar char="•"/>
            </a:pPr>
            <a:r>
              <a:rPr lang="en-US" sz="2025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If it crashes — who is responsible?</a:t>
            </a:r>
          </a:p>
          <a:p>
            <a:pPr algn="l" marL="366474" indent="-183237" lvl="1">
              <a:lnSpc>
                <a:spcPts val="2794"/>
              </a:lnSpc>
              <a:buFont typeface="Arial"/>
              <a:buChar char="•"/>
            </a:pPr>
            <a:r>
              <a:rPr lang="en-US" sz="2025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What happens to the jobs of drivers?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50595" y="7808595"/>
            <a:ext cx="7700010" cy="1390650"/>
            <a:chOff x="0" y="0"/>
            <a:chExt cx="10266680" cy="18542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266680" cy="1854200"/>
            </a:xfrm>
            <a:custGeom>
              <a:avLst/>
              <a:gdLst/>
              <a:ahLst/>
              <a:cxnLst/>
              <a:rect r="r" b="b" t="t" l="l"/>
              <a:pathLst>
                <a:path h="1854200" w="10266680">
                  <a:moveTo>
                    <a:pt x="0" y="129794"/>
                  </a:moveTo>
                  <a:cubicBezTo>
                    <a:pt x="0" y="58166"/>
                    <a:pt x="58166" y="0"/>
                    <a:pt x="129794" y="0"/>
                  </a:cubicBezTo>
                  <a:lnTo>
                    <a:pt x="10136886" y="0"/>
                  </a:lnTo>
                  <a:cubicBezTo>
                    <a:pt x="10208514" y="0"/>
                    <a:pt x="10266680" y="58166"/>
                    <a:pt x="10266680" y="129794"/>
                  </a:cubicBezTo>
                  <a:lnTo>
                    <a:pt x="10266680" y="1724406"/>
                  </a:lnTo>
                  <a:cubicBezTo>
                    <a:pt x="10266680" y="1796034"/>
                    <a:pt x="10208514" y="1854200"/>
                    <a:pt x="10136886" y="1854200"/>
                  </a:cubicBezTo>
                  <a:lnTo>
                    <a:pt x="129794" y="1854200"/>
                  </a:lnTo>
                  <a:cubicBezTo>
                    <a:pt x="58166" y="1854200"/>
                    <a:pt x="0" y="1796034"/>
                    <a:pt x="0" y="1724406"/>
                  </a:cubicBezTo>
                  <a:close/>
                </a:path>
              </a:pathLst>
            </a:custGeom>
            <a:solidFill>
              <a:srgbClr val="F1F1F0"/>
            </a:solidFill>
            <a:ln w="19050" cap="sq">
              <a:solidFill>
                <a:srgbClr val="F1F1F0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261872" y="7818120"/>
            <a:ext cx="7132320" cy="1371600"/>
            <a:chOff x="0" y="0"/>
            <a:chExt cx="9509760" cy="1828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509760" cy="1828800"/>
            </a:xfrm>
            <a:custGeom>
              <a:avLst/>
              <a:gdLst/>
              <a:ahLst/>
              <a:cxnLst/>
              <a:rect r="r" b="b" t="t" l="l"/>
              <a:pathLst>
                <a:path h="182880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322" r="0" b="-51322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76200"/>
              <a:ext cx="9509760" cy="1905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1875" b="true">
                  <a:solidFill>
                    <a:srgbClr val="1A1C1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Building Physical AI is not only an engineering question, but also a question of related to ethics.</a:t>
              </a:r>
            </a:p>
          </p:txBody>
        </p:sp>
      </p:grpSp>
      <p:pic>
        <p:nvPicPr>
          <p:cNvPr name="Picture 18" id="18">
            <a:hlinkClick r:id="rId5" tooltip="https://www.youtube.com/watch?v=Qfj4urMF8CU"/>
          </p:cNvPr>
          <p:cNvPicPr>
            <a:picLocks noChangeAspect="true"/>
          </p:cNvPicPr>
          <p:nvPr>
            <a:videoFile r:link="rId6"/>
          </p:nvPr>
        </p:nvPicPr>
        <p:blipFill>
          <a:blip r:embed="rId4"/>
          <a:stretch>
            <a:fillRect/>
          </a:stretch>
        </p:blipFill>
        <p:spPr>
          <a:xfrm rot="0">
            <a:off x="960120" y="2674620"/>
            <a:ext cx="7690485" cy="4322521"/>
          </a:xfrm>
          <a:prstGeom prst="rect">
            <a:avLst/>
          </a:prstGeom>
        </p:spPr>
      </p:pic>
      <p:grpSp>
        <p:nvGrpSpPr>
          <p:cNvPr name="Group 19" id="19"/>
          <p:cNvGrpSpPr/>
          <p:nvPr/>
        </p:nvGrpSpPr>
        <p:grpSpPr>
          <a:xfrm rot="0">
            <a:off x="960120" y="685800"/>
            <a:ext cx="16367303" cy="411480"/>
            <a:chOff x="0" y="0"/>
            <a:chExt cx="21823070" cy="5486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823069" cy="548640"/>
            </a:xfrm>
            <a:custGeom>
              <a:avLst/>
              <a:gdLst/>
              <a:ahLst/>
              <a:cxnLst/>
              <a:rect r="r" b="b" t="t" l="l"/>
              <a:pathLst>
                <a:path h="548640" w="21823069">
                  <a:moveTo>
                    <a:pt x="0" y="0"/>
                  </a:moveTo>
                  <a:lnTo>
                    <a:pt x="21823069" y="0"/>
                  </a:lnTo>
                  <a:lnTo>
                    <a:pt x="21823069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5049" r="0" b="-725049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2182307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b="true" sz="1725" spc="225">
                  <a:solidFill>
                    <a:srgbClr val="5B5BA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</a:t>
              </a:r>
              <a:r>
                <a:rPr lang="en-US" b="true" sz="1725" spc="225">
                  <a:solidFill>
                    <a:srgbClr val="5B5BA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· INTRO LECTURE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960120" y="7092391"/>
            <a:ext cx="3532287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530"/>
              </a:lnSpc>
            </a:pPr>
            <a:r>
              <a:rPr lang="en-US" sz="1275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Tesla Cybercab | The Future is Autonomous</a:t>
            </a:r>
          </a:p>
          <a:p>
            <a:pPr algn="just">
              <a:lnSpc>
                <a:spcPts val="1530"/>
              </a:lnSpc>
              <a:spcBef>
                <a:spcPct val="0"/>
              </a:spcBef>
            </a:pPr>
            <a:r>
              <a:rPr lang="en-US" sz="1275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7" tooltip="https://www.youtube.com/watch?v=Qfj4urMF8CU"/>
              </a:rPr>
              <a:t>https://www.youtube.com/watch?v=Qfj4urMF8CU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583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9710928"/>
            <a:ext cx="6858000" cy="356616"/>
            <a:chOff x="0" y="0"/>
            <a:chExt cx="9144000" cy="4754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144000" cy="475488"/>
            </a:xfrm>
            <a:custGeom>
              <a:avLst/>
              <a:gdLst/>
              <a:ahLst/>
              <a:cxnLst/>
              <a:rect r="r" b="b" t="t" l="l"/>
              <a:pathLst>
                <a:path h="475488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4712" r="0" b="-32471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9144000" cy="4850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b="true" sz="1125" spc="300">
                  <a:solidFill>
                    <a:srgbClr val="78716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AIOSCOUT · EDGE AI VISION WORKSHOP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2880360"/>
            <a:ext cx="12344400" cy="480060"/>
            <a:chOff x="0" y="0"/>
            <a:chExt cx="16459200" cy="6400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459200" cy="640080"/>
            </a:xfrm>
            <a:custGeom>
              <a:avLst/>
              <a:gdLst/>
              <a:ahLst/>
              <a:cxnLst/>
              <a:rect r="r" b="b" t="t" l="l"/>
              <a:pathLst>
                <a:path h="64008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1043" r="0" b="-45104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1645920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F5833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LAB</a:t>
              </a:r>
              <a:r>
                <a:rPr lang="en-US" b="true" sz="1800" spc="300">
                  <a:solidFill>
                    <a:srgbClr val="F5833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TUTORIAL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60120" y="3566160"/>
            <a:ext cx="14401800" cy="2057400"/>
            <a:chOff x="0" y="0"/>
            <a:chExt cx="19202400" cy="27432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202400" cy="2743200"/>
            </a:xfrm>
            <a:custGeom>
              <a:avLst/>
              <a:gdLst/>
              <a:ahLst/>
              <a:cxnLst/>
              <a:rect r="r" b="b" t="t" l="l"/>
              <a:pathLst>
                <a:path h="274320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2743200"/>
                  </a:lnTo>
                  <a:lnTo>
                    <a:pt x="0" y="2743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0"/>
              <a:ext cx="19202400" cy="2838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28"/>
                </a:lnSpc>
              </a:pPr>
              <a:r>
                <a:rPr lang="en-US" sz="54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</a:t>
              </a:r>
              <a:r>
                <a:rPr lang="en-US" sz="54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oad-sign recognizer.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50595" y="6299835"/>
            <a:ext cx="1767840" cy="622554"/>
            <a:chOff x="0" y="0"/>
            <a:chExt cx="2357120" cy="83007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357120" cy="830072"/>
            </a:xfrm>
            <a:custGeom>
              <a:avLst/>
              <a:gdLst/>
              <a:ahLst/>
              <a:cxnLst/>
              <a:rect r="r" b="b" t="t" l="l"/>
              <a:pathLst>
                <a:path h="830072" w="2357120">
                  <a:moveTo>
                    <a:pt x="0" y="94361"/>
                  </a:moveTo>
                  <a:cubicBezTo>
                    <a:pt x="0" y="42291"/>
                    <a:pt x="42291" y="0"/>
                    <a:pt x="94361" y="0"/>
                  </a:cubicBezTo>
                  <a:lnTo>
                    <a:pt x="2262759" y="0"/>
                  </a:lnTo>
                  <a:cubicBezTo>
                    <a:pt x="2314829" y="0"/>
                    <a:pt x="2357120" y="42291"/>
                    <a:pt x="2357120" y="94361"/>
                  </a:cubicBezTo>
                  <a:lnTo>
                    <a:pt x="2357120" y="735711"/>
                  </a:lnTo>
                  <a:cubicBezTo>
                    <a:pt x="2357120" y="787781"/>
                    <a:pt x="2314829" y="830072"/>
                    <a:pt x="2262759" y="830072"/>
                  </a:cubicBezTo>
                  <a:lnTo>
                    <a:pt x="94361" y="830072"/>
                  </a:lnTo>
                  <a:cubicBezTo>
                    <a:pt x="42291" y="830072"/>
                    <a:pt x="0" y="787781"/>
                    <a:pt x="0" y="735711"/>
                  </a:cubicBezTo>
                  <a:close/>
                </a:path>
              </a:pathLst>
            </a:custGeom>
            <a:solidFill>
              <a:srgbClr val="141414"/>
            </a:solidFill>
            <a:ln w="19050" cap="sq">
              <a:solidFill>
                <a:srgbClr val="3A3A3A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960120" y="6329934"/>
            <a:ext cx="1748790" cy="562356"/>
            <a:chOff x="0" y="0"/>
            <a:chExt cx="2331720" cy="74980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331720" cy="749808"/>
            </a:xfrm>
            <a:custGeom>
              <a:avLst/>
              <a:gdLst/>
              <a:ahLst/>
              <a:cxnLst/>
              <a:rect r="r" b="b" t="t" l="l"/>
              <a:pathLst>
                <a:path h="749808" w="2331720">
                  <a:moveTo>
                    <a:pt x="0" y="0"/>
                  </a:moveTo>
                  <a:lnTo>
                    <a:pt x="2331720" y="0"/>
                  </a:lnTo>
                  <a:lnTo>
                    <a:pt x="2331720" y="749808"/>
                  </a:lnTo>
                  <a:lnTo>
                    <a:pt x="0" y="749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93" r="0" b="-10593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2331720" cy="7688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0"/>
                </a:lnSpc>
              </a:pPr>
              <a:r>
                <a:rPr lang="en-US" b="true" sz="1275" spc="149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 · COLLECT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3083433" y="6299835"/>
            <a:ext cx="2117598" cy="622554"/>
            <a:chOff x="0" y="0"/>
            <a:chExt cx="2823464" cy="83007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823464" cy="830072"/>
            </a:xfrm>
            <a:custGeom>
              <a:avLst/>
              <a:gdLst/>
              <a:ahLst/>
              <a:cxnLst/>
              <a:rect r="r" b="b" t="t" l="l"/>
              <a:pathLst>
                <a:path h="830072" w="2823464">
                  <a:moveTo>
                    <a:pt x="0" y="94361"/>
                  </a:moveTo>
                  <a:cubicBezTo>
                    <a:pt x="0" y="42291"/>
                    <a:pt x="42291" y="0"/>
                    <a:pt x="94361" y="0"/>
                  </a:cubicBezTo>
                  <a:lnTo>
                    <a:pt x="2729103" y="0"/>
                  </a:lnTo>
                  <a:cubicBezTo>
                    <a:pt x="2781173" y="0"/>
                    <a:pt x="2823464" y="42291"/>
                    <a:pt x="2823464" y="94361"/>
                  </a:cubicBezTo>
                  <a:lnTo>
                    <a:pt x="2823464" y="735711"/>
                  </a:lnTo>
                  <a:cubicBezTo>
                    <a:pt x="2823464" y="787781"/>
                    <a:pt x="2781173" y="830072"/>
                    <a:pt x="2729103" y="830072"/>
                  </a:cubicBezTo>
                  <a:lnTo>
                    <a:pt x="94361" y="830072"/>
                  </a:lnTo>
                  <a:cubicBezTo>
                    <a:pt x="42291" y="830072"/>
                    <a:pt x="0" y="787781"/>
                    <a:pt x="0" y="735711"/>
                  </a:cubicBezTo>
                  <a:close/>
                </a:path>
              </a:pathLst>
            </a:custGeom>
            <a:solidFill>
              <a:srgbClr val="141414"/>
            </a:solidFill>
            <a:ln w="19050" cap="sq">
              <a:solidFill>
                <a:srgbClr val="3A3A3A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3092958" y="6329934"/>
            <a:ext cx="2098548" cy="562356"/>
            <a:chOff x="0" y="0"/>
            <a:chExt cx="2798064" cy="74980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798064" cy="749808"/>
            </a:xfrm>
            <a:custGeom>
              <a:avLst/>
              <a:gdLst/>
              <a:ahLst/>
              <a:cxnLst/>
              <a:rect r="r" b="b" t="t" l="l"/>
              <a:pathLst>
                <a:path h="749808" w="2798064">
                  <a:moveTo>
                    <a:pt x="0" y="0"/>
                  </a:moveTo>
                  <a:lnTo>
                    <a:pt x="2798064" y="0"/>
                  </a:lnTo>
                  <a:lnTo>
                    <a:pt x="2798064" y="749808"/>
                  </a:lnTo>
                  <a:lnTo>
                    <a:pt x="0" y="749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712" r="0" b="-22712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2798064" cy="7688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0"/>
                </a:lnSpc>
              </a:pPr>
              <a:r>
                <a:rPr lang="en-US" b="true" sz="1275" spc="149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 · PREPROCESS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5566029" y="6299835"/>
            <a:ext cx="1534668" cy="622554"/>
            <a:chOff x="0" y="0"/>
            <a:chExt cx="2046224" cy="83007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046224" cy="830072"/>
            </a:xfrm>
            <a:custGeom>
              <a:avLst/>
              <a:gdLst/>
              <a:ahLst/>
              <a:cxnLst/>
              <a:rect r="r" b="b" t="t" l="l"/>
              <a:pathLst>
                <a:path h="830072" w="2046224">
                  <a:moveTo>
                    <a:pt x="0" y="94361"/>
                  </a:moveTo>
                  <a:cubicBezTo>
                    <a:pt x="0" y="42291"/>
                    <a:pt x="42291" y="0"/>
                    <a:pt x="94361" y="0"/>
                  </a:cubicBezTo>
                  <a:lnTo>
                    <a:pt x="1951863" y="0"/>
                  </a:lnTo>
                  <a:cubicBezTo>
                    <a:pt x="2003933" y="0"/>
                    <a:pt x="2046224" y="42291"/>
                    <a:pt x="2046224" y="94361"/>
                  </a:cubicBezTo>
                  <a:lnTo>
                    <a:pt x="2046224" y="735711"/>
                  </a:lnTo>
                  <a:cubicBezTo>
                    <a:pt x="2046224" y="787781"/>
                    <a:pt x="2003933" y="830072"/>
                    <a:pt x="1951863" y="830072"/>
                  </a:cubicBezTo>
                  <a:lnTo>
                    <a:pt x="94361" y="830072"/>
                  </a:lnTo>
                  <a:cubicBezTo>
                    <a:pt x="42291" y="830072"/>
                    <a:pt x="0" y="787781"/>
                    <a:pt x="0" y="735711"/>
                  </a:cubicBezTo>
                  <a:close/>
                </a:path>
              </a:pathLst>
            </a:custGeom>
            <a:solidFill>
              <a:srgbClr val="141414"/>
            </a:solidFill>
            <a:ln w="19050" cap="sq">
              <a:solidFill>
                <a:srgbClr val="3A3A3A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5575554" y="6329934"/>
            <a:ext cx="1515618" cy="562356"/>
            <a:chOff x="0" y="0"/>
            <a:chExt cx="2020824" cy="74980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020824" cy="749808"/>
            </a:xfrm>
            <a:custGeom>
              <a:avLst/>
              <a:gdLst/>
              <a:ahLst/>
              <a:cxnLst/>
              <a:rect r="r" b="b" t="t" l="l"/>
              <a:pathLst>
                <a:path h="749808" w="2020824">
                  <a:moveTo>
                    <a:pt x="0" y="0"/>
                  </a:moveTo>
                  <a:lnTo>
                    <a:pt x="2020824" y="0"/>
                  </a:lnTo>
                  <a:lnTo>
                    <a:pt x="2020824" y="749808"/>
                  </a:lnTo>
                  <a:lnTo>
                    <a:pt x="0" y="749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14" r="0" b="-2514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2020824" cy="7688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0"/>
                </a:lnSpc>
              </a:pPr>
              <a:r>
                <a:rPr lang="en-US" b="true" sz="1275" spc="149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 · TRAIN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7465695" y="6299835"/>
            <a:ext cx="2001012" cy="622554"/>
            <a:chOff x="0" y="0"/>
            <a:chExt cx="2668016" cy="83007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668016" cy="830072"/>
            </a:xfrm>
            <a:custGeom>
              <a:avLst/>
              <a:gdLst/>
              <a:ahLst/>
              <a:cxnLst/>
              <a:rect r="r" b="b" t="t" l="l"/>
              <a:pathLst>
                <a:path h="830072" w="2668016">
                  <a:moveTo>
                    <a:pt x="0" y="94361"/>
                  </a:moveTo>
                  <a:cubicBezTo>
                    <a:pt x="0" y="42291"/>
                    <a:pt x="42291" y="0"/>
                    <a:pt x="94361" y="0"/>
                  </a:cubicBezTo>
                  <a:lnTo>
                    <a:pt x="2573655" y="0"/>
                  </a:lnTo>
                  <a:cubicBezTo>
                    <a:pt x="2625725" y="0"/>
                    <a:pt x="2668016" y="42291"/>
                    <a:pt x="2668016" y="94361"/>
                  </a:cubicBezTo>
                  <a:lnTo>
                    <a:pt x="2668016" y="735711"/>
                  </a:lnTo>
                  <a:cubicBezTo>
                    <a:pt x="2668016" y="787781"/>
                    <a:pt x="2625725" y="830072"/>
                    <a:pt x="2573655" y="830072"/>
                  </a:cubicBezTo>
                  <a:lnTo>
                    <a:pt x="94361" y="830072"/>
                  </a:lnTo>
                  <a:cubicBezTo>
                    <a:pt x="42291" y="830072"/>
                    <a:pt x="0" y="787781"/>
                    <a:pt x="0" y="735711"/>
                  </a:cubicBezTo>
                  <a:close/>
                </a:path>
              </a:pathLst>
            </a:custGeom>
            <a:solidFill>
              <a:srgbClr val="141414"/>
            </a:solidFill>
            <a:ln w="19050" cap="sq">
              <a:solidFill>
                <a:srgbClr val="3A3A3A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7475220" y="6329934"/>
            <a:ext cx="1981962" cy="562356"/>
            <a:chOff x="0" y="0"/>
            <a:chExt cx="2642616" cy="74980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642616" cy="749808"/>
            </a:xfrm>
            <a:custGeom>
              <a:avLst/>
              <a:gdLst/>
              <a:ahLst/>
              <a:cxnLst/>
              <a:rect r="r" b="b" t="t" l="l"/>
              <a:pathLst>
                <a:path h="749808" w="2642616">
                  <a:moveTo>
                    <a:pt x="0" y="0"/>
                  </a:moveTo>
                  <a:lnTo>
                    <a:pt x="2642616" y="0"/>
                  </a:lnTo>
                  <a:lnTo>
                    <a:pt x="2642616" y="749808"/>
                  </a:lnTo>
                  <a:lnTo>
                    <a:pt x="0" y="749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672" r="0" b="-18672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2642616" cy="7688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0"/>
                </a:lnSpc>
              </a:pPr>
              <a:r>
                <a:rPr lang="en-US" b="true" sz="1275" spc="149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4 · TEST LIVE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831705" y="6299835"/>
            <a:ext cx="1651254" cy="622554"/>
            <a:chOff x="0" y="0"/>
            <a:chExt cx="2201672" cy="83007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201672" cy="830072"/>
            </a:xfrm>
            <a:custGeom>
              <a:avLst/>
              <a:gdLst/>
              <a:ahLst/>
              <a:cxnLst/>
              <a:rect r="r" b="b" t="t" l="l"/>
              <a:pathLst>
                <a:path h="830072" w="2201672">
                  <a:moveTo>
                    <a:pt x="0" y="94361"/>
                  </a:moveTo>
                  <a:cubicBezTo>
                    <a:pt x="0" y="42291"/>
                    <a:pt x="42291" y="0"/>
                    <a:pt x="94361" y="0"/>
                  </a:cubicBezTo>
                  <a:lnTo>
                    <a:pt x="2107311" y="0"/>
                  </a:lnTo>
                  <a:cubicBezTo>
                    <a:pt x="2159381" y="0"/>
                    <a:pt x="2201672" y="42291"/>
                    <a:pt x="2201672" y="94361"/>
                  </a:cubicBezTo>
                  <a:lnTo>
                    <a:pt x="2201672" y="735711"/>
                  </a:lnTo>
                  <a:cubicBezTo>
                    <a:pt x="2201672" y="787781"/>
                    <a:pt x="2159381" y="830072"/>
                    <a:pt x="2107311" y="830072"/>
                  </a:cubicBezTo>
                  <a:lnTo>
                    <a:pt x="94361" y="830072"/>
                  </a:lnTo>
                  <a:cubicBezTo>
                    <a:pt x="42291" y="830072"/>
                    <a:pt x="0" y="787781"/>
                    <a:pt x="0" y="735711"/>
                  </a:cubicBezTo>
                  <a:close/>
                </a:path>
              </a:pathLst>
            </a:custGeom>
            <a:solidFill>
              <a:srgbClr val="141414"/>
            </a:solidFill>
            <a:ln w="19050" cap="sq">
              <a:solidFill>
                <a:srgbClr val="3A3A3A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9841230" y="6329934"/>
            <a:ext cx="1632204" cy="562356"/>
            <a:chOff x="0" y="0"/>
            <a:chExt cx="2176272" cy="74980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176272" cy="749808"/>
            </a:xfrm>
            <a:custGeom>
              <a:avLst/>
              <a:gdLst/>
              <a:ahLst/>
              <a:cxnLst/>
              <a:rect r="r" b="b" t="t" l="l"/>
              <a:pathLst>
                <a:path h="749808" w="2176272">
                  <a:moveTo>
                    <a:pt x="0" y="0"/>
                  </a:moveTo>
                  <a:lnTo>
                    <a:pt x="2176272" y="0"/>
                  </a:lnTo>
                  <a:lnTo>
                    <a:pt x="2176272" y="749808"/>
                  </a:lnTo>
                  <a:lnTo>
                    <a:pt x="0" y="749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54" r="0" b="-6554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9050"/>
              <a:ext cx="2176272" cy="7688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0"/>
                </a:lnSpc>
              </a:pPr>
              <a:r>
                <a:rPr lang="en-US" b="true" sz="1275" spc="149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5 · EXPORT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1847957" y="6299835"/>
            <a:ext cx="2117598" cy="622554"/>
            <a:chOff x="0" y="0"/>
            <a:chExt cx="2823464" cy="83007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823464" cy="830072"/>
            </a:xfrm>
            <a:custGeom>
              <a:avLst/>
              <a:gdLst/>
              <a:ahLst/>
              <a:cxnLst/>
              <a:rect r="r" b="b" t="t" l="l"/>
              <a:pathLst>
                <a:path h="830072" w="2823464">
                  <a:moveTo>
                    <a:pt x="0" y="94361"/>
                  </a:moveTo>
                  <a:cubicBezTo>
                    <a:pt x="0" y="42291"/>
                    <a:pt x="42291" y="0"/>
                    <a:pt x="94361" y="0"/>
                  </a:cubicBezTo>
                  <a:lnTo>
                    <a:pt x="2729103" y="0"/>
                  </a:lnTo>
                  <a:cubicBezTo>
                    <a:pt x="2781173" y="0"/>
                    <a:pt x="2823464" y="42291"/>
                    <a:pt x="2823464" y="94361"/>
                  </a:cubicBezTo>
                  <a:lnTo>
                    <a:pt x="2823464" y="735711"/>
                  </a:lnTo>
                  <a:cubicBezTo>
                    <a:pt x="2823464" y="787781"/>
                    <a:pt x="2781173" y="830072"/>
                    <a:pt x="2729103" y="830072"/>
                  </a:cubicBezTo>
                  <a:lnTo>
                    <a:pt x="94361" y="830072"/>
                  </a:lnTo>
                  <a:cubicBezTo>
                    <a:pt x="42291" y="830072"/>
                    <a:pt x="0" y="787781"/>
                    <a:pt x="0" y="735711"/>
                  </a:cubicBezTo>
                  <a:close/>
                </a:path>
              </a:pathLst>
            </a:custGeom>
            <a:solidFill>
              <a:srgbClr val="141414"/>
            </a:solidFill>
            <a:ln w="19050" cap="sq">
              <a:solidFill>
                <a:srgbClr val="3A3A3A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11857482" y="6329934"/>
            <a:ext cx="2098548" cy="562356"/>
            <a:chOff x="0" y="0"/>
            <a:chExt cx="2798064" cy="74980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798064" cy="749808"/>
            </a:xfrm>
            <a:custGeom>
              <a:avLst/>
              <a:gdLst/>
              <a:ahLst/>
              <a:cxnLst/>
              <a:rect r="r" b="b" t="t" l="l"/>
              <a:pathLst>
                <a:path h="749808" w="2798064">
                  <a:moveTo>
                    <a:pt x="0" y="0"/>
                  </a:moveTo>
                  <a:lnTo>
                    <a:pt x="2798064" y="0"/>
                  </a:lnTo>
                  <a:lnTo>
                    <a:pt x="2798064" y="749808"/>
                  </a:lnTo>
                  <a:lnTo>
                    <a:pt x="0" y="749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712" r="0" b="-22712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19050"/>
              <a:ext cx="2798064" cy="7688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0"/>
                </a:lnSpc>
              </a:pPr>
              <a:r>
                <a:rPr lang="en-US" b="true" sz="1275" spc="149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6 · RUN ON CAR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60120" y="7680960"/>
            <a:ext cx="13030200" cy="1097280"/>
            <a:chOff x="0" y="0"/>
            <a:chExt cx="17373600" cy="14630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7373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7373600">
                  <a:moveTo>
                    <a:pt x="0" y="0"/>
                  </a:moveTo>
                  <a:lnTo>
                    <a:pt x="17373600" y="0"/>
                  </a:lnTo>
                  <a:lnTo>
                    <a:pt x="17373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384" r="0" b="-181384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76200"/>
              <a:ext cx="17373600" cy="15392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75"/>
                </a:lnSpc>
              </a:pPr>
              <a:r>
                <a:rPr lang="en-US" sz="2250">
                  <a:solidFill>
                    <a:srgbClr val="BBBBBB"/>
                  </a:solidFill>
                  <a:latin typeface="Arial"/>
                  <a:ea typeface="Arial"/>
                  <a:cs typeface="Arial"/>
                  <a:sym typeface="Arial"/>
                </a:rPr>
                <a:t>Then you repeat the same steps with digits, in your lab time.</a:t>
              </a: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583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9710928"/>
            <a:ext cx="6858000" cy="356616"/>
            <a:chOff x="0" y="0"/>
            <a:chExt cx="9144000" cy="4754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144000" cy="475488"/>
            </a:xfrm>
            <a:custGeom>
              <a:avLst/>
              <a:gdLst/>
              <a:ahLst/>
              <a:cxnLst/>
              <a:rect r="r" b="b" t="t" l="l"/>
              <a:pathLst>
                <a:path h="475488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4712" r="0" b="-32471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9144000" cy="4850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b="true" sz="1125" spc="300">
                  <a:solidFill>
                    <a:srgbClr val="78716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AIOSCOUT · EDGE AI VISION WORKSHOP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685800"/>
            <a:ext cx="16367303" cy="411480"/>
            <a:chOff x="0" y="0"/>
            <a:chExt cx="21823070" cy="5486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823069" cy="548640"/>
            </a:xfrm>
            <a:custGeom>
              <a:avLst/>
              <a:gdLst/>
              <a:ahLst/>
              <a:cxnLst/>
              <a:rect r="r" b="b" t="t" l="l"/>
              <a:pathLst>
                <a:path h="548640" w="21823069">
                  <a:moveTo>
                    <a:pt x="0" y="0"/>
                  </a:moveTo>
                  <a:lnTo>
                    <a:pt x="21823069" y="0"/>
                  </a:lnTo>
                  <a:lnTo>
                    <a:pt x="21823069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5049" r="0" b="-725049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82307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b="true" sz="1725" spc="225">
                  <a:solidFill>
                    <a:srgbClr val="5B5BA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 · LAB </a:t>
              </a:r>
              <a:r>
                <a:rPr lang="en-US" b="true" sz="1725" spc="225">
                  <a:solidFill>
                    <a:srgbClr val="5B5BA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TUTORIAL · STEP 1 OF 5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60120" y="1207008"/>
            <a:ext cx="16367303" cy="822960"/>
            <a:chOff x="0" y="0"/>
            <a:chExt cx="21823070" cy="10972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823069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823069">
                  <a:moveTo>
                    <a:pt x="0" y="0"/>
                  </a:moveTo>
                  <a:lnTo>
                    <a:pt x="21823069" y="0"/>
                  </a:lnTo>
                  <a:lnTo>
                    <a:pt x="21823069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7524" r="0" b="-337524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21823070" cy="11258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A1C1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Collect the photos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960120" y="2705100"/>
            <a:ext cx="8092440" cy="4975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0048" indent="-190024" lvl="1">
              <a:lnSpc>
                <a:spcPts val="2897"/>
              </a:lnSpc>
              <a:buFont typeface="Arial"/>
              <a:buChar char="•"/>
            </a:pPr>
            <a:r>
              <a:rPr lang="en-US" sz="2100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Connect the car; in the app choose Device — photos come from the car’s camera</a:t>
            </a:r>
          </a:p>
          <a:p>
            <a:pPr algn="l" marL="380048" indent="-190024" lvl="1">
              <a:lnSpc>
                <a:spcPts val="2897"/>
              </a:lnSpc>
              <a:buFont typeface="Arial"/>
              <a:buChar char="•"/>
            </a:pPr>
            <a:r>
              <a:rPr lang="en-US" sz="2100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Three classes: left arrow · right arrow · stop</a:t>
            </a:r>
          </a:p>
          <a:p>
            <a:pPr algn="l" marL="380048" indent="-190024" lvl="1">
              <a:lnSpc>
                <a:spcPts val="2897"/>
              </a:lnSpc>
              <a:buFont typeface="Arial"/>
              <a:buChar char="•"/>
            </a:pPr>
            <a:r>
              <a:rPr lang="en-US" sz="2100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~40 photos per class, counts equal</a:t>
            </a:r>
          </a:p>
          <a:p>
            <a:pPr algn="l" marL="380048" indent="-190024" lvl="1">
              <a:lnSpc>
                <a:spcPts val="2897"/>
              </a:lnSpc>
              <a:buFont typeface="Arial"/>
              <a:buChar char="•"/>
            </a:pPr>
            <a:r>
              <a:rPr lang="en-US" sz="2100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Vary it while shooting: near / far, straight / tilted, different sides of the frame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601200" y="2537460"/>
            <a:ext cx="7680960" cy="4999606"/>
            <a:chOff x="0" y="0"/>
            <a:chExt cx="10241280" cy="6666141"/>
          </a:xfrm>
        </p:grpSpPr>
        <p:sp>
          <p:nvSpPr>
            <p:cNvPr name="Freeform 13" id="13" descr="/tmp/pptx_assets/img4.jpg"/>
            <p:cNvSpPr/>
            <p:nvPr/>
          </p:nvSpPr>
          <p:spPr>
            <a:xfrm flipH="false" flipV="false" rot="0">
              <a:off x="0" y="0"/>
              <a:ext cx="10241280" cy="6666103"/>
            </a:xfrm>
            <a:custGeom>
              <a:avLst/>
              <a:gdLst/>
              <a:ahLst/>
              <a:cxnLst/>
              <a:rect r="r" b="b" t="t" l="l"/>
              <a:pathLst>
                <a:path h="6666103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6666103"/>
                  </a:lnTo>
                  <a:lnTo>
                    <a:pt x="0" y="66661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591675" y="2527935"/>
            <a:ext cx="7700010" cy="5018656"/>
            <a:chOff x="0" y="0"/>
            <a:chExt cx="10266680" cy="669154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266680" cy="6691503"/>
            </a:xfrm>
            <a:custGeom>
              <a:avLst/>
              <a:gdLst/>
              <a:ahLst/>
              <a:cxnLst/>
              <a:rect r="r" b="b" t="t" l="l"/>
              <a:pathLst>
                <a:path h="6691503" w="10266680">
                  <a:moveTo>
                    <a:pt x="0" y="0"/>
                  </a:moveTo>
                  <a:lnTo>
                    <a:pt x="10266680" y="0"/>
                  </a:lnTo>
                  <a:lnTo>
                    <a:pt x="10266680" y="6691503"/>
                  </a:lnTo>
                  <a:lnTo>
                    <a:pt x="0" y="66915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3624" t="0" r="-33624" b="0"/>
              </a:stretch>
            </a:blipFill>
            <a:ln w="19050" cap="sq">
              <a:solidFill>
                <a:srgbClr val="D8D9D8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9601200" y="7674226"/>
            <a:ext cx="7680960" cy="411480"/>
            <a:chOff x="0" y="0"/>
            <a:chExt cx="10241280" cy="5486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241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3720" r="0" b="-31372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1024128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39"/>
                </a:lnSpc>
              </a:pPr>
              <a:r>
                <a:rPr lang="en-US" b="true" sz="1200" spc="150">
                  <a:solidFill>
                    <a:srgbClr val="78716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CAPTURING FROM THE CAR’S CAMERA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583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9710928"/>
            <a:ext cx="6858000" cy="356616"/>
            <a:chOff x="0" y="0"/>
            <a:chExt cx="9144000" cy="4754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144000" cy="475488"/>
            </a:xfrm>
            <a:custGeom>
              <a:avLst/>
              <a:gdLst/>
              <a:ahLst/>
              <a:cxnLst/>
              <a:rect r="r" b="b" t="t" l="l"/>
              <a:pathLst>
                <a:path h="475488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4712" r="0" b="-32471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9144000" cy="4850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b="true" sz="1125" spc="300">
                  <a:solidFill>
                    <a:srgbClr val="78716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AIOSCOUT · EDGE AI VISION WORKSHOP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685800"/>
            <a:ext cx="16329203" cy="411480"/>
            <a:chOff x="0" y="0"/>
            <a:chExt cx="21772270" cy="5486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772269" cy="548640"/>
            </a:xfrm>
            <a:custGeom>
              <a:avLst/>
              <a:gdLst/>
              <a:ahLst/>
              <a:cxnLst/>
              <a:rect r="r" b="b" t="t" l="l"/>
              <a:pathLst>
                <a:path h="548640" w="21772269">
                  <a:moveTo>
                    <a:pt x="0" y="0"/>
                  </a:moveTo>
                  <a:lnTo>
                    <a:pt x="21772269" y="0"/>
                  </a:lnTo>
                  <a:lnTo>
                    <a:pt x="21772269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5049" r="-233" b="-725049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77227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b="true" sz="1725" spc="225">
                  <a:solidFill>
                    <a:srgbClr val="5B5BA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 · LAB </a:t>
              </a:r>
              <a:r>
                <a:rPr lang="en-US" b="true" sz="1725" spc="225">
                  <a:solidFill>
                    <a:srgbClr val="5B5BA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TUTORIAL · STEP 2 OF 5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60120" y="1207008"/>
            <a:ext cx="16367303" cy="822960"/>
            <a:chOff x="0" y="0"/>
            <a:chExt cx="21823070" cy="10972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823069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823069">
                  <a:moveTo>
                    <a:pt x="0" y="0"/>
                  </a:moveTo>
                  <a:lnTo>
                    <a:pt x="21823069" y="0"/>
                  </a:lnTo>
                  <a:lnTo>
                    <a:pt x="21823069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7524" r="0" b="-337524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21823070" cy="11258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A1C1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Clean the photos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960120" y="2705100"/>
            <a:ext cx="8092440" cy="4975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0048" indent="-190024" lvl="1">
              <a:lnSpc>
                <a:spcPts val="2897"/>
              </a:lnSpc>
              <a:buFont typeface="Arial"/>
              <a:buChar char="•"/>
            </a:pPr>
            <a:r>
              <a:rPr lang="en-US" sz="2100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Crop tight around the sign (the ROI box) — throw away the background</a:t>
            </a:r>
          </a:p>
          <a:p>
            <a:pPr algn="l" marL="380048" indent="-190024" lvl="1">
              <a:lnSpc>
                <a:spcPts val="2897"/>
              </a:lnSpc>
              <a:buFont typeface="Arial"/>
              <a:buChar char="•"/>
            </a:pPr>
            <a:r>
              <a:rPr lang="en-US" sz="2100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Two thresholds clean the rest: too-dark pixels → white, too-bright pixels → white</a:t>
            </a:r>
          </a:p>
          <a:p>
            <a:pPr algn="l" marL="380048" indent="-190024" lvl="1">
              <a:lnSpc>
                <a:spcPts val="2897"/>
              </a:lnSpc>
              <a:buFont typeface="Arial"/>
              <a:buChar char="•"/>
            </a:pPr>
            <a:r>
              <a:rPr lang="en-US" sz="2100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Target: black sign on white background</a:t>
            </a:r>
          </a:p>
          <a:p>
            <a:pPr algn="l" marL="380048" indent="-190024" lvl="1">
              <a:lnSpc>
                <a:spcPts val="2897"/>
              </a:lnSpc>
              <a:buFont typeface="Arial"/>
              <a:buChar char="•"/>
            </a:pPr>
            <a:r>
              <a:rPr lang="en-US" sz="2100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Press S to save — every time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601200" y="2537460"/>
            <a:ext cx="7680960" cy="4992624"/>
            <a:chOff x="0" y="0"/>
            <a:chExt cx="10241280" cy="6656832"/>
          </a:xfrm>
        </p:grpSpPr>
        <p:sp>
          <p:nvSpPr>
            <p:cNvPr name="Freeform 13" id="13" descr="/tmp/pptx_assets/img5.jpg"/>
            <p:cNvSpPr/>
            <p:nvPr/>
          </p:nvSpPr>
          <p:spPr>
            <a:xfrm flipH="false" flipV="false" rot="0">
              <a:off x="0" y="0"/>
              <a:ext cx="10241280" cy="6656832"/>
            </a:xfrm>
            <a:custGeom>
              <a:avLst/>
              <a:gdLst/>
              <a:ahLst/>
              <a:cxnLst/>
              <a:rect r="r" b="b" t="t" l="l"/>
              <a:pathLst>
                <a:path h="665683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6656832"/>
                  </a:lnTo>
                  <a:lnTo>
                    <a:pt x="0" y="6656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591675" y="2527935"/>
            <a:ext cx="7700010" cy="5011674"/>
            <a:chOff x="0" y="0"/>
            <a:chExt cx="10266680" cy="668223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266680" cy="6682232"/>
            </a:xfrm>
            <a:custGeom>
              <a:avLst/>
              <a:gdLst/>
              <a:ahLst/>
              <a:cxnLst/>
              <a:rect r="r" b="b" t="t" l="l"/>
              <a:pathLst>
                <a:path h="6682232" w="10266680">
                  <a:moveTo>
                    <a:pt x="0" y="0"/>
                  </a:moveTo>
                  <a:lnTo>
                    <a:pt x="10266680" y="0"/>
                  </a:lnTo>
                  <a:lnTo>
                    <a:pt x="10266680" y="6682232"/>
                  </a:lnTo>
                  <a:lnTo>
                    <a:pt x="0" y="66822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3508" t="0" r="-33508" b="0"/>
              </a:stretch>
            </a:blipFill>
            <a:ln w="19050" cap="sq">
              <a:solidFill>
                <a:srgbClr val="D8D9D8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9601200" y="7667244"/>
            <a:ext cx="7680960" cy="411480"/>
            <a:chOff x="0" y="0"/>
            <a:chExt cx="10241280" cy="5486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241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3720" r="0" b="-31372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1024128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39"/>
                </a:lnSpc>
              </a:pPr>
              <a:r>
                <a:rPr lang="en-US" b="true" sz="1200" spc="150">
                  <a:solidFill>
                    <a:srgbClr val="78716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CROPPING AND THRESHOLDING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583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9710928"/>
            <a:ext cx="6858000" cy="356616"/>
            <a:chOff x="0" y="0"/>
            <a:chExt cx="9144000" cy="4754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144000" cy="475488"/>
            </a:xfrm>
            <a:custGeom>
              <a:avLst/>
              <a:gdLst/>
              <a:ahLst/>
              <a:cxnLst/>
              <a:rect r="r" b="b" t="t" l="l"/>
              <a:pathLst>
                <a:path h="475488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4712" r="0" b="-32471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9144000" cy="4850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b="true" sz="1125" spc="300">
                  <a:solidFill>
                    <a:srgbClr val="78716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AIOSCOUT · EDGE AI VISION WORKSHOP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685800"/>
            <a:ext cx="16367303" cy="411480"/>
            <a:chOff x="0" y="0"/>
            <a:chExt cx="21823070" cy="5486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823069" cy="548640"/>
            </a:xfrm>
            <a:custGeom>
              <a:avLst/>
              <a:gdLst/>
              <a:ahLst/>
              <a:cxnLst/>
              <a:rect r="r" b="b" t="t" l="l"/>
              <a:pathLst>
                <a:path h="548640" w="21823069">
                  <a:moveTo>
                    <a:pt x="0" y="0"/>
                  </a:moveTo>
                  <a:lnTo>
                    <a:pt x="21823069" y="0"/>
                  </a:lnTo>
                  <a:lnTo>
                    <a:pt x="21823069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5049" r="0" b="-725049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82307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b="true" sz="1725" spc="225">
                  <a:solidFill>
                    <a:srgbClr val="5B5BA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 · LAB </a:t>
              </a:r>
              <a:r>
                <a:rPr lang="en-US" b="true" sz="1725" spc="225">
                  <a:solidFill>
                    <a:srgbClr val="5B5BA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TUTORIAL · STEP 3 OF 5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60120" y="1207008"/>
            <a:ext cx="16367303" cy="822960"/>
            <a:chOff x="0" y="0"/>
            <a:chExt cx="21823070" cy="10972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823069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823069">
                  <a:moveTo>
                    <a:pt x="0" y="0"/>
                  </a:moveTo>
                  <a:lnTo>
                    <a:pt x="21823069" y="0"/>
                  </a:lnTo>
                  <a:lnTo>
                    <a:pt x="21823069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7524" r="0" b="-337524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21823070" cy="11258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A1C1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Train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960120" y="2705100"/>
            <a:ext cx="8092440" cy="4975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0048" indent="-190024" lvl="1">
              <a:lnSpc>
                <a:spcPts val="2897"/>
              </a:lnSpc>
              <a:buFont typeface="Arial"/>
              <a:buChar char="•"/>
            </a:pPr>
            <a:r>
              <a:rPr lang="en-US" sz="2100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Click “Use recommended” — the app fills in sensible settings</a:t>
            </a:r>
          </a:p>
          <a:p>
            <a:pPr algn="l" marL="380048" indent="-190024" lvl="1">
              <a:lnSpc>
                <a:spcPts val="2897"/>
              </a:lnSpc>
              <a:buFont typeface="Arial"/>
              <a:buChar char="•"/>
            </a:pPr>
            <a:r>
              <a:rPr lang="en-US" sz="2100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Click “Train Embedded Model” and watch the accuracy climb</a:t>
            </a:r>
          </a:p>
          <a:p>
            <a:pPr algn="l" marL="380048" indent="-190024" lvl="1">
              <a:lnSpc>
                <a:spcPts val="2897"/>
              </a:lnSpc>
              <a:buFont typeface="Arial"/>
              <a:buChar char="•"/>
            </a:pPr>
            <a:r>
              <a:rPr lang="en-US" sz="2100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Takes under a minute on this dataset</a:t>
            </a:r>
          </a:p>
          <a:p>
            <a:pPr algn="l" marL="380048" indent="-190024" lvl="1">
              <a:lnSpc>
                <a:spcPts val="2897"/>
              </a:lnSpc>
              <a:buFont typeface="Arial"/>
              <a:buChar char="•"/>
            </a:pPr>
            <a:r>
              <a:rPr lang="en-US" sz="2100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If live results turn out poor later — the fix is usually more varied photos, not more training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601200" y="2537460"/>
            <a:ext cx="7680960" cy="4999606"/>
            <a:chOff x="0" y="0"/>
            <a:chExt cx="10241280" cy="6666141"/>
          </a:xfrm>
        </p:grpSpPr>
        <p:sp>
          <p:nvSpPr>
            <p:cNvPr name="Freeform 13" id="13" descr="/tmp/pptx_assets/img6.jpg"/>
            <p:cNvSpPr/>
            <p:nvPr/>
          </p:nvSpPr>
          <p:spPr>
            <a:xfrm flipH="false" flipV="false" rot="0">
              <a:off x="0" y="0"/>
              <a:ext cx="10241280" cy="6666103"/>
            </a:xfrm>
            <a:custGeom>
              <a:avLst/>
              <a:gdLst/>
              <a:ahLst/>
              <a:cxnLst/>
              <a:rect r="r" b="b" t="t" l="l"/>
              <a:pathLst>
                <a:path h="6666103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6666103"/>
                  </a:lnTo>
                  <a:lnTo>
                    <a:pt x="0" y="66661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591675" y="2527935"/>
            <a:ext cx="7700010" cy="5018656"/>
            <a:chOff x="0" y="0"/>
            <a:chExt cx="10266680" cy="669154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266680" cy="6691503"/>
            </a:xfrm>
            <a:custGeom>
              <a:avLst/>
              <a:gdLst/>
              <a:ahLst/>
              <a:cxnLst/>
              <a:rect r="r" b="b" t="t" l="l"/>
              <a:pathLst>
                <a:path h="6691503" w="10266680">
                  <a:moveTo>
                    <a:pt x="0" y="0"/>
                  </a:moveTo>
                  <a:lnTo>
                    <a:pt x="10266680" y="0"/>
                  </a:lnTo>
                  <a:lnTo>
                    <a:pt x="10266680" y="6691503"/>
                  </a:lnTo>
                  <a:lnTo>
                    <a:pt x="0" y="66915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3624" t="0" r="-33624" b="0"/>
              </a:stretch>
            </a:blipFill>
            <a:ln w="19050" cap="sq">
              <a:solidFill>
                <a:srgbClr val="D8D9D8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9601200" y="7674226"/>
            <a:ext cx="7680960" cy="411480"/>
            <a:chOff x="0" y="0"/>
            <a:chExt cx="10241280" cy="5486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241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3720" r="0" b="-31372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1024128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39"/>
                </a:lnSpc>
              </a:pPr>
              <a:r>
                <a:rPr lang="en-US" b="true" sz="1200" spc="150">
                  <a:solidFill>
                    <a:srgbClr val="78716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THE TRAINING PANEL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583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9710928"/>
            <a:ext cx="6858000" cy="356616"/>
            <a:chOff x="0" y="0"/>
            <a:chExt cx="9144000" cy="4754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144000" cy="475488"/>
            </a:xfrm>
            <a:custGeom>
              <a:avLst/>
              <a:gdLst/>
              <a:ahLst/>
              <a:cxnLst/>
              <a:rect r="r" b="b" t="t" l="l"/>
              <a:pathLst>
                <a:path h="475488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4712" r="0" b="-32471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9144000" cy="4850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b="true" sz="1125" spc="300">
                  <a:solidFill>
                    <a:srgbClr val="78716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AIOSCOUT · EDGE AI VISION WORKSHOP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685800"/>
            <a:ext cx="16367303" cy="411480"/>
            <a:chOff x="0" y="0"/>
            <a:chExt cx="21823070" cy="5486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823069" cy="548640"/>
            </a:xfrm>
            <a:custGeom>
              <a:avLst/>
              <a:gdLst/>
              <a:ahLst/>
              <a:cxnLst/>
              <a:rect r="r" b="b" t="t" l="l"/>
              <a:pathLst>
                <a:path h="548640" w="21823069">
                  <a:moveTo>
                    <a:pt x="0" y="0"/>
                  </a:moveTo>
                  <a:lnTo>
                    <a:pt x="21823069" y="0"/>
                  </a:lnTo>
                  <a:lnTo>
                    <a:pt x="21823069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5049" r="0" b="-725049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82307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b="true" sz="1725" spc="225">
                  <a:solidFill>
                    <a:srgbClr val="5B5BA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 · LAB </a:t>
              </a:r>
              <a:r>
                <a:rPr lang="en-US" b="true" sz="1725" spc="225">
                  <a:solidFill>
                    <a:srgbClr val="5B5BA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TUTORIAL · STEP 4 OF 5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60120" y="1207008"/>
            <a:ext cx="16367303" cy="822960"/>
            <a:chOff x="0" y="0"/>
            <a:chExt cx="21823070" cy="10972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823069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823069">
                  <a:moveTo>
                    <a:pt x="0" y="0"/>
                  </a:moveTo>
                  <a:lnTo>
                    <a:pt x="21823069" y="0"/>
                  </a:lnTo>
                  <a:lnTo>
                    <a:pt x="21823069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7524" r="0" b="-337524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21823070" cy="11258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A1C1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Test it live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960120" y="2705100"/>
            <a:ext cx="8092440" cy="4701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0048" indent="-190024" lvl="1">
              <a:lnSpc>
                <a:spcPts val="2897"/>
              </a:lnSpc>
              <a:buFont typeface="Arial"/>
              <a:buChar char="•"/>
            </a:pPr>
            <a:r>
              <a:rPr lang="en-US" sz="2100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Point at a sign — read the confidence bar</a:t>
            </a:r>
          </a:p>
          <a:p>
            <a:pPr algn="l" marL="380048" indent="-190024" lvl="1">
              <a:lnSpc>
                <a:spcPts val="2897"/>
              </a:lnSpc>
              <a:buFont typeface="Arial"/>
              <a:buChar char="•"/>
            </a:pPr>
            <a:r>
              <a:rPr lang="en-US" sz="2100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Try a tilted sign, a far sign, a half-covered sign</a:t>
            </a:r>
          </a:p>
          <a:p>
            <a:pPr algn="l" marL="380048" indent="-190024" lvl="1">
              <a:lnSpc>
                <a:spcPts val="2897"/>
              </a:lnSpc>
              <a:buFont typeface="Arial"/>
              <a:buChar char="•"/>
            </a:pPr>
            <a:r>
              <a:rPr lang="en-US" sz="2100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Show an empty scene: the model answers “No Sign” — the OOD gate says “no target here”, instead of guessing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601200" y="2537460"/>
            <a:ext cx="7680960" cy="4999606"/>
            <a:chOff x="0" y="0"/>
            <a:chExt cx="10241280" cy="6666141"/>
          </a:xfrm>
        </p:grpSpPr>
        <p:sp>
          <p:nvSpPr>
            <p:cNvPr name="Freeform 13" id="13" descr="/tmp/pptx_assets/img7.jpg"/>
            <p:cNvSpPr/>
            <p:nvPr/>
          </p:nvSpPr>
          <p:spPr>
            <a:xfrm flipH="false" flipV="false" rot="0">
              <a:off x="0" y="0"/>
              <a:ext cx="10241280" cy="6666103"/>
            </a:xfrm>
            <a:custGeom>
              <a:avLst/>
              <a:gdLst/>
              <a:ahLst/>
              <a:cxnLst/>
              <a:rect r="r" b="b" t="t" l="l"/>
              <a:pathLst>
                <a:path h="6666103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6666103"/>
                  </a:lnTo>
                  <a:lnTo>
                    <a:pt x="0" y="66661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591675" y="2527935"/>
            <a:ext cx="7700010" cy="5018656"/>
            <a:chOff x="0" y="0"/>
            <a:chExt cx="10266680" cy="669154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266680" cy="6691503"/>
            </a:xfrm>
            <a:custGeom>
              <a:avLst/>
              <a:gdLst/>
              <a:ahLst/>
              <a:cxnLst/>
              <a:rect r="r" b="b" t="t" l="l"/>
              <a:pathLst>
                <a:path h="6691503" w="10266680">
                  <a:moveTo>
                    <a:pt x="0" y="0"/>
                  </a:moveTo>
                  <a:lnTo>
                    <a:pt x="10266680" y="0"/>
                  </a:lnTo>
                  <a:lnTo>
                    <a:pt x="10266680" y="6691503"/>
                  </a:lnTo>
                  <a:lnTo>
                    <a:pt x="0" y="66915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3624" t="0" r="-33624" b="0"/>
              </a:stretch>
            </a:blipFill>
            <a:ln w="19050" cap="sq">
              <a:solidFill>
                <a:srgbClr val="D8D9D8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9601200" y="7674226"/>
            <a:ext cx="7680960" cy="411480"/>
            <a:chOff x="0" y="0"/>
            <a:chExt cx="10241280" cy="5486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241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3720" r="0" b="-31372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1024128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39"/>
                </a:lnSpc>
              </a:pPr>
              <a:r>
                <a:rPr lang="en-US" b="true" sz="1200" spc="150">
                  <a:solidFill>
                    <a:srgbClr val="78716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LIVE CONFIDENCE + “NO SIGN”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583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9710928"/>
            <a:ext cx="6858000" cy="356616"/>
            <a:chOff x="0" y="0"/>
            <a:chExt cx="9144000" cy="4754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144000" cy="475488"/>
            </a:xfrm>
            <a:custGeom>
              <a:avLst/>
              <a:gdLst/>
              <a:ahLst/>
              <a:cxnLst/>
              <a:rect r="r" b="b" t="t" l="l"/>
              <a:pathLst>
                <a:path h="475488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4712" r="0" b="-32471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9144000" cy="4850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b="true" sz="1125" spc="300">
                  <a:solidFill>
                    <a:srgbClr val="78716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AIOSCOUT · EDGE AI VISION WORKSHOP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685800"/>
            <a:ext cx="16367303" cy="411480"/>
            <a:chOff x="0" y="0"/>
            <a:chExt cx="21823070" cy="5486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823069" cy="548640"/>
            </a:xfrm>
            <a:custGeom>
              <a:avLst/>
              <a:gdLst/>
              <a:ahLst/>
              <a:cxnLst/>
              <a:rect r="r" b="b" t="t" l="l"/>
              <a:pathLst>
                <a:path h="548640" w="21823069">
                  <a:moveTo>
                    <a:pt x="0" y="0"/>
                  </a:moveTo>
                  <a:lnTo>
                    <a:pt x="21823069" y="0"/>
                  </a:lnTo>
                  <a:lnTo>
                    <a:pt x="21823069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5049" r="0" b="-725049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82307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b="true" sz="1725" spc="225">
                  <a:solidFill>
                    <a:srgbClr val="5B5BA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 · LAB </a:t>
              </a:r>
              <a:r>
                <a:rPr lang="en-US" b="true" sz="1725" spc="225">
                  <a:solidFill>
                    <a:srgbClr val="5B5BA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TUTORIAL · STEP 5 OF 5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60120" y="1207008"/>
            <a:ext cx="16367303" cy="822960"/>
            <a:chOff x="0" y="0"/>
            <a:chExt cx="21823070" cy="10972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823069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823069">
                  <a:moveTo>
                    <a:pt x="0" y="0"/>
                  </a:moveTo>
                  <a:lnTo>
                    <a:pt x="21823069" y="0"/>
                  </a:lnTo>
                  <a:lnTo>
                    <a:pt x="21823069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7524" r="0" b="-337524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21823070" cy="11258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A1C1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Put it on the car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960120" y="2705100"/>
            <a:ext cx="8092440" cy="4701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0048" indent="-190024" lvl="1">
              <a:lnSpc>
                <a:spcPts val="2897"/>
              </a:lnSpc>
              <a:buFont typeface="Arial"/>
              <a:buChar char="•"/>
            </a:pPr>
            <a:r>
              <a:rPr lang="en-US" sz="2100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Export → five small files</a:t>
            </a:r>
          </a:p>
          <a:p>
            <a:pPr algn="l" marL="380048" indent="-190024" lvl="1">
              <a:lnSpc>
                <a:spcPts val="2897"/>
              </a:lnSpc>
              <a:buFont typeface="Arial"/>
              <a:buChar char="•"/>
            </a:pPr>
            <a:r>
              <a:rPr lang="en-US" sz="2100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Copy them into the project, check IMG_SIZE = 96</a:t>
            </a:r>
          </a:p>
          <a:p>
            <a:pPr algn="l" marL="380048" indent="-190024" lvl="1">
              <a:lnSpc>
                <a:spcPts val="2897"/>
              </a:lnSpc>
              <a:buFont typeface="Arial"/>
              <a:buChar char="•"/>
            </a:pPr>
            <a:r>
              <a:rPr lang="en-US" sz="2100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Upload — the car now recognizes signs by itself</a:t>
            </a:r>
          </a:p>
          <a:p>
            <a:pPr algn="l" marL="380048" indent="-190024" lvl="1">
              <a:lnSpc>
                <a:spcPts val="2897"/>
              </a:lnSpc>
              <a:buFont typeface="Arial"/>
              <a:buChar char="•"/>
            </a:pPr>
            <a:r>
              <a:rPr lang="en-US" sz="2100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Serial commands can adjust things later (get ood shows the settings)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0174548" y="2537460"/>
            <a:ext cx="6534264" cy="4251960"/>
            <a:chOff x="0" y="0"/>
            <a:chExt cx="8712352" cy="5669280"/>
          </a:xfrm>
        </p:grpSpPr>
        <p:sp>
          <p:nvSpPr>
            <p:cNvPr name="Freeform 13" id="13" descr="/tmp/pptx_assets/img9.jpg"/>
            <p:cNvSpPr/>
            <p:nvPr/>
          </p:nvSpPr>
          <p:spPr>
            <a:xfrm flipH="false" flipV="false" rot="0">
              <a:off x="0" y="0"/>
              <a:ext cx="8712327" cy="5669280"/>
            </a:xfrm>
            <a:custGeom>
              <a:avLst/>
              <a:gdLst/>
              <a:ahLst/>
              <a:cxnLst/>
              <a:rect r="r" b="b" t="t" l="l"/>
              <a:pathLst>
                <a:path h="5669280" w="8712327">
                  <a:moveTo>
                    <a:pt x="0" y="0"/>
                  </a:moveTo>
                  <a:lnTo>
                    <a:pt x="8712327" y="0"/>
                  </a:lnTo>
                  <a:lnTo>
                    <a:pt x="8712327" y="5669280"/>
                  </a:lnTo>
                  <a:lnTo>
                    <a:pt x="0" y="5669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165023" y="2527935"/>
            <a:ext cx="6553314" cy="4271010"/>
            <a:chOff x="0" y="0"/>
            <a:chExt cx="8737752" cy="56946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737727" cy="5694680"/>
            </a:xfrm>
            <a:custGeom>
              <a:avLst/>
              <a:gdLst/>
              <a:ahLst/>
              <a:cxnLst/>
              <a:rect r="r" b="b" t="t" l="l"/>
              <a:pathLst>
                <a:path h="5694680" w="8737727">
                  <a:moveTo>
                    <a:pt x="0" y="0"/>
                  </a:moveTo>
                  <a:lnTo>
                    <a:pt x="8737727" y="0"/>
                  </a:lnTo>
                  <a:lnTo>
                    <a:pt x="8737727" y="5694680"/>
                  </a:lnTo>
                  <a:lnTo>
                    <a:pt x="0" y="5694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3619" t="0" r="-33620" b="0"/>
              </a:stretch>
            </a:blipFill>
            <a:ln w="19050" cap="sq">
              <a:solidFill>
                <a:srgbClr val="D8D9D8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0174548" y="6926580"/>
            <a:ext cx="6534264" cy="411480"/>
            <a:chOff x="0" y="0"/>
            <a:chExt cx="8712352" cy="5486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712350" cy="548640"/>
            </a:xfrm>
            <a:custGeom>
              <a:avLst/>
              <a:gdLst/>
              <a:ahLst/>
              <a:cxnLst/>
              <a:rect r="r" b="b" t="t" l="l"/>
              <a:pathLst>
                <a:path h="548640" w="8712350">
                  <a:moveTo>
                    <a:pt x="0" y="0"/>
                  </a:moveTo>
                  <a:lnTo>
                    <a:pt x="8712350" y="0"/>
                  </a:lnTo>
                  <a:lnTo>
                    <a:pt x="871235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9420" r="0" b="-25942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8712352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39"/>
                </a:lnSpc>
              </a:pPr>
              <a:r>
                <a:rPr lang="en-US" b="true" sz="1200" spc="150">
                  <a:solidFill>
                    <a:srgbClr val="78716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THE MODEL RUNNING ON THE CAR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583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9710928"/>
            <a:ext cx="6858000" cy="356616"/>
            <a:chOff x="0" y="0"/>
            <a:chExt cx="9144000" cy="4754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144000" cy="475488"/>
            </a:xfrm>
            <a:custGeom>
              <a:avLst/>
              <a:gdLst/>
              <a:ahLst/>
              <a:cxnLst/>
              <a:rect r="r" b="b" t="t" l="l"/>
              <a:pathLst>
                <a:path h="475488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4712" r="0" b="-32471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9144000" cy="4850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b="true" sz="1125" spc="300">
                  <a:solidFill>
                    <a:srgbClr val="78716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AIOSCOUT · EDGE AI VISION WORKSHOP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1207008"/>
            <a:ext cx="16367303" cy="932762"/>
            <a:chOff x="0" y="0"/>
            <a:chExt cx="21823070" cy="124368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823069" cy="1243682"/>
            </a:xfrm>
            <a:custGeom>
              <a:avLst/>
              <a:gdLst/>
              <a:ahLst/>
              <a:cxnLst/>
              <a:rect r="r" b="b" t="t" l="l"/>
              <a:pathLst>
                <a:path h="1243682" w="21823069">
                  <a:moveTo>
                    <a:pt x="0" y="0"/>
                  </a:moveTo>
                  <a:lnTo>
                    <a:pt x="21823069" y="0"/>
                  </a:lnTo>
                  <a:lnTo>
                    <a:pt x="21823069" y="1243682"/>
                  </a:lnTo>
                  <a:lnTo>
                    <a:pt x="0" y="124368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7792" r="0" b="-28602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1823070" cy="12722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A1C1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Your task: a digit recognizer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960120" y="2510790"/>
            <a:ext cx="16322040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7"/>
              </a:lnSpc>
            </a:pPr>
            <a:r>
              <a:rPr lang="en-US" sz="2325">
                <a:solidFill>
                  <a:srgbClr val="1A1C1C"/>
                </a:solidFill>
                <a:latin typeface="Arial"/>
                <a:ea typeface="Arial"/>
                <a:cs typeface="Arial"/>
                <a:sym typeface="Arial"/>
              </a:rPr>
              <a:t>Train a model that reads handwritten digits 0–9 on paper, and runs live on the car.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50595" y="3762375"/>
            <a:ext cx="3914394" cy="3585210"/>
            <a:chOff x="0" y="0"/>
            <a:chExt cx="5219192" cy="47802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219192" cy="4780280"/>
            </a:xfrm>
            <a:custGeom>
              <a:avLst/>
              <a:gdLst/>
              <a:ahLst/>
              <a:cxnLst/>
              <a:rect r="r" b="b" t="t" l="l"/>
              <a:pathLst>
                <a:path h="4780280" w="5219192">
                  <a:moveTo>
                    <a:pt x="0" y="128651"/>
                  </a:moveTo>
                  <a:cubicBezTo>
                    <a:pt x="0" y="57658"/>
                    <a:pt x="57658" y="0"/>
                    <a:pt x="128651" y="0"/>
                  </a:cubicBezTo>
                  <a:lnTo>
                    <a:pt x="5090541" y="0"/>
                  </a:lnTo>
                  <a:cubicBezTo>
                    <a:pt x="5161661" y="0"/>
                    <a:pt x="5219192" y="57658"/>
                    <a:pt x="5219192" y="128651"/>
                  </a:cubicBezTo>
                  <a:lnTo>
                    <a:pt x="5219192" y="4651629"/>
                  </a:lnTo>
                  <a:cubicBezTo>
                    <a:pt x="5219192" y="4722749"/>
                    <a:pt x="5161534" y="4780280"/>
                    <a:pt x="5090541" y="4780280"/>
                  </a:cubicBezTo>
                  <a:lnTo>
                    <a:pt x="128651" y="4780280"/>
                  </a:lnTo>
                  <a:cubicBezTo>
                    <a:pt x="57658" y="4780280"/>
                    <a:pt x="0" y="4722622"/>
                    <a:pt x="0" y="465162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8D9D8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261872" y="4046220"/>
            <a:ext cx="3429000" cy="356616"/>
            <a:chOff x="0" y="0"/>
            <a:chExt cx="4572000" cy="47548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572000" cy="475488"/>
            </a:xfrm>
            <a:custGeom>
              <a:avLst/>
              <a:gdLst/>
              <a:ahLst/>
              <a:cxnLst/>
              <a:rect r="r" b="b" t="t" l="l"/>
              <a:pathLst>
                <a:path h="475488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356" r="0" b="-137356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4572000" cy="4945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225">
                  <a:solidFill>
                    <a:srgbClr val="F5833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RULE 1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61872" y="4416552"/>
            <a:ext cx="3429000" cy="822960"/>
            <a:chOff x="0" y="0"/>
            <a:chExt cx="4572000" cy="10972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5720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457200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A1C1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Trained today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261872" y="5233035"/>
            <a:ext cx="3429000" cy="710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2000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by your team, with photos you take here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5106543" y="3762375"/>
            <a:ext cx="3914394" cy="3585210"/>
            <a:chOff x="0" y="0"/>
            <a:chExt cx="5219192" cy="47802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219192" cy="4780280"/>
            </a:xfrm>
            <a:custGeom>
              <a:avLst/>
              <a:gdLst/>
              <a:ahLst/>
              <a:cxnLst/>
              <a:rect r="r" b="b" t="t" l="l"/>
              <a:pathLst>
                <a:path h="4780280" w="5219192">
                  <a:moveTo>
                    <a:pt x="0" y="128651"/>
                  </a:moveTo>
                  <a:cubicBezTo>
                    <a:pt x="0" y="57658"/>
                    <a:pt x="57658" y="0"/>
                    <a:pt x="128651" y="0"/>
                  </a:cubicBezTo>
                  <a:lnTo>
                    <a:pt x="5090541" y="0"/>
                  </a:lnTo>
                  <a:cubicBezTo>
                    <a:pt x="5161661" y="0"/>
                    <a:pt x="5219192" y="57658"/>
                    <a:pt x="5219192" y="128651"/>
                  </a:cubicBezTo>
                  <a:lnTo>
                    <a:pt x="5219192" y="4651629"/>
                  </a:lnTo>
                  <a:cubicBezTo>
                    <a:pt x="5219192" y="4722749"/>
                    <a:pt x="5161534" y="4780280"/>
                    <a:pt x="5090541" y="4780280"/>
                  </a:cubicBezTo>
                  <a:lnTo>
                    <a:pt x="128651" y="4780280"/>
                  </a:lnTo>
                  <a:cubicBezTo>
                    <a:pt x="57658" y="4780280"/>
                    <a:pt x="0" y="4722622"/>
                    <a:pt x="0" y="465162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8D9D8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5417820" y="4046220"/>
            <a:ext cx="3429000" cy="356616"/>
            <a:chOff x="0" y="0"/>
            <a:chExt cx="4572000" cy="47548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572000" cy="475488"/>
            </a:xfrm>
            <a:custGeom>
              <a:avLst/>
              <a:gdLst/>
              <a:ahLst/>
              <a:cxnLst/>
              <a:rect r="r" b="b" t="t" l="l"/>
              <a:pathLst>
                <a:path h="475488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356" r="0" b="-137356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4572000" cy="4945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225">
                  <a:solidFill>
                    <a:srgbClr val="F5833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RULE 2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5417820" y="4416552"/>
            <a:ext cx="3429000" cy="822960"/>
            <a:chOff x="0" y="0"/>
            <a:chExt cx="4572000" cy="10972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5720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457200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A1C1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Fair test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5417820" y="5233035"/>
            <a:ext cx="3429000" cy="710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2000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10 unseen digits written by ANOTHER team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9262491" y="3762375"/>
            <a:ext cx="3914394" cy="3585210"/>
            <a:chOff x="0" y="0"/>
            <a:chExt cx="5219192" cy="478028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219192" cy="4780280"/>
            </a:xfrm>
            <a:custGeom>
              <a:avLst/>
              <a:gdLst/>
              <a:ahLst/>
              <a:cxnLst/>
              <a:rect r="r" b="b" t="t" l="l"/>
              <a:pathLst>
                <a:path h="4780280" w="5219192">
                  <a:moveTo>
                    <a:pt x="0" y="128651"/>
                  </a:moveTo>
                  <a:cubicBezTo>
                    <a:pt x="0" y="57658"/>
                    <a:pt x="57658" y="0"/>
                    <a:pt x="128651" y="0"/>
                  </a:cubicBezTo>
                  <a:lnTo>
                    <a:pt x="5090541" y="0"/>
                  </a:lnTo>
                  <a:cubicBezTo>
                    <a:pt x="5161661" y="0"/>
                    <a:pt x="5219192" y="57658"/>
                    <a:pt x="5219192" y="128651"/>
                  </a:cubicBezTo>
                  <a:lnTo>
                    <a:pt x="5219192" y="4651629"/>
                  </a:lnTo>
                  <a:cubicBezTo>
                    <a:pt x="5219192" y="4722749"/>
                    <a:pt x="5161534" y="4780280"/>
                    <a:pt x="5090541" y="4780280"/>
                  </a:cubicBezTo>
                  <a:lnTo>
                    <a:pt x="128651" y="4780280"/>
                  </a:lnTo>
                  <a:cubicBezTo>
                    <a:pt x="57658" y="4780280"/>
                    <a:pt x="0" y="4722622"/>
                    <a:pt x="0" y="465162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8D9D8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9573768" y="4046220"/>
            <a:ext cx="3429000" cy="356616"/>
            <a:chOff x="0" y="0"/>
            <a:chExt cx="4572000" cy="47548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572000" cy="475488"/>
            </a:xfrm>
            <a:custGeom>
              <a:avLst/>
              <a:gdLst/>
              <a:ahLst/>
              <a:cxnLst/>
              <a:rect r="r" b="b" t="t" l="l"/>
              <a:pathLst>
                <a:path h="475488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356" r="0" b="-137356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9050"/>
              <a:ext cx="4572000" cy="4945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225">
                  <a:solidFill>
                    <a:srgbClr val="F5833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RULE 3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573768" y="4416552"/>
            <a:ext cx="3429000" cy="822960"/>
            <a:chOff x="0" y="0"/>
            <a:chExt cx="4572000" cy="109728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5720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9050"/>
              <a:ext cx="457200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A1C1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Pass mark</a:t>
              </a: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9573768" y="5233035"/>
            <a:ext cx="3429000" cy="710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2000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8 of 10 correct = project complete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13418439" y="3762375"/>
            <a:ext cx="3914394" cy="3585210"/>
            <a:chOff x="0" y="0"/>
            <a:chExt cx="5219192" cy="478028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219192" cy="4780280"/>
            </a:xfrm>
            <a:custGeom>
              <a:avLst/>
              <a:gdLst/>
              <a:ahLst/>
              <a:cxnLst/>
              <a:rect r="r" b="b" t="t" l="l"/>
              <a:pathLst>
                <a:path h="4780280" w="5219192">
                  <a:moveTo>
                    <a:pt x="0" y="128651"/>
                  </a:moveTo>
                  <a:cubicBezTo>
                    <a:pt x="0" y="57658"/>
                    <a:pt x="57658" y="0"/>
                    <a:pt x="128651" y="0"/>
                  </a:cubicBezTo>
                  <a:lnTo>
                    <a:pt x="5090541" y="0"/>
                  </a:lnTo>
                  <a:cubicBezTo>
                    <a:pt x="5161661" y="0"/>
                    <a:pt x="5219192" y="57658"/>
                    <a:pt x="5219192" y="128651"/>
                  </a:cubicBezTo>
                  <a:lnTo>
                    <a:pt x="5219192" y="4651629"/>
                  </a:lnTo>
                  <a:cubicBezTo>
                    <a:pt x="5219192" y="4722749"/>
                    <a:pt x="5161534" y="4780280"/>
                    <a:pt x="5090541" y="4780280"/>
                  </a:cubicBezTo>
                  <a:lnTo>
                    <a:pt x="128651" y="4780280"/>
                  </a:lnTo>
                  <a:cubicBezTo>
                    <a:pt x="57658" y="4780280"/>
                    <a:pt x="0" y="4722622"/>
                    <a:pt x="0" y="4651629"/>
                  </a:cubicBezTo>
                  <a:close/>
                </a:path>
              </a:pathLst>
            </a:custGeom>
            <a:solidFill>
              <a:srgbClr val="F58331"/>
            </a:solidFill>
            <a:ln w="19050" cap="sq">
              <a:solidFill>
                <a:srgbClr val="F58331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13729716" y="4046220"/>
            <a:ext cx="3429000" cy="356616"/>
            <a:chOff x="0" y="0"/>
            <a:chExt cx="4572000" cy="47548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572000" cy="475488"/>
            </a:xfrm>
            <a:custGeom>
              <a:avLst/>
              <a:gdLst/>
              <a:ahLst/>
              <a:cxnLst/>
              <a:rect r="r" b="b" t="t" l="l"/>
              <a:pathLst>
                <a:path h="475488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356" r="0" b="-137356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19050"/>
              <a:ext cx="4572000" cy="4945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225">
                  <a:solidFill>
                    <a:srgbClr val="FFD9B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SHORTCUT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3729716" y="4416552"/>
            <a:ext cx="3429000" cy="822960"/>
            <a:chOff x="0" y="0"/>
            <a:chExt cx="4572000" cy="109728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5720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9050"/>
              <a:ext cx="457200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Short on time?</a:t>
              </a: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13729716" y="5233035"/>
            <a:ext cx="3429000" cy="710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start with digits 1, 2, 3, 7 — the most confusable ones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960120" y="7886700"/>
            <a:ext cx="16322040" cy="548640"/>
            <a:chOff x="0" y="0"/>
            <a:chExt cx="21762720" cy="73152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1762720" cy="731520"/>
            </a:xfrm>
            <a:custGeom>
              <a:avLst/>
              <a:gdLst/>
              <a:ahLst/>
              <a:cxnLst/>
              <a:rect r="r" b="b" t="t" l="l"/>
              <a:pathLst>
                <a:path h="73152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9679" r="0" b="-529679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19050"/>
              <a:ext cx="2176272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i="true">
                  <a:solidFill>
                    <a:srgbClr val="78716C"/>
                  </a:solidFill>
                  <a:latin typeface="Arial Italics"/>
                  <a:ea typeface="Arial Italics"/>
                  <a:cs typeface="Arial Italics"/>
                  <a:sym typeface="Arial Italics"/>
                </a:rPr>
                <a:t>Full instructions: check the lab manual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960120" y="685800"/>
            <a:ext cx="16367303" cy="411480"/>
            <a:chOff x="0" y="0"/>
            <a:chExt cx="21823070" cy="54864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1823069" cy="548640"/>
            </a:xfrm>
            <a:custGeom>
              <a:avLst/>
              <a:gdLst/>
              <a:ahLst/>
              <a:cxnLst/>
              <a:rect r="r" b="b" t="t" l="l"/>
              <a:pathLst>
                <a:path h="548640" w="21823069">
                  <a:moveTo>
                    <a:pt x="0" y="0"/>
                  </a:moveTo>
                  <a:lnTo>
                    <a:pt x="21823069" y="0"/>
                  </a:lnTo>
                  <a:lnTo>
                    <a:pt x="21823069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5049" r="0" b="-725049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19050"/>
              <a:ext cx="2182307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b="true" sz="1725" spc="225">
                  <a:solidFill>
                    <a:srgbClr val="5B5BA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 · LAB </a:t>
              </a:r>
              <a:r>
                <a:rPr lang="en-US" b="true" sz="1725" spc="225">
                  <a:solidFill>
                    <a:srgbClr val="5B5BA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TUTORIAL</a:t>
              </a:r>
            </a:p>
          </p:txBody>
        </p:sp>
      </p:grpSp>
      <p:sp>
        <p:nvSpPr>
          <p:cNvPr name="TextBox 51" id="51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583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9710928"/>
            <a:ext cx="6858000" cy="356616"/>
            <a:chOff x="0" y="0"/>
            <a:chExt cx="9144000" cy="4754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144000" cy="475488"/>
            </a:xfrm>
            <a:custGeom>
              <a:avLst/>
              <a:gdLst/>
              <a:ahLst/>
              <a:cxnLst/>
              <a:rect r="r" b="b" t="t" l="l"/>
              <a:pathLst>
                <a:path h="475488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4712" r="0" b="-32471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9144000" cy="4850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b="true" sz="1125" spc="300">
                  <a:solidFill>
                    <a:srgbClr val="78716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AIOSCOUT · EDGE AI VISION WORKSHOP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2057400"/>
            <a:ext cx="12344400" cy="480060"/>
            <a:chOff x="0" y="0"/>
            <a:chExt cx="16459200" cy="6400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459200" cy="640080"/>
            </a:xfrm>
            <a:custGeom>
              <a:avLst/>
              <a:gdLst/>
              <a:ahLst/>
              <a:cxnLst/>
              <a:rect r="r" b="b" t="t" l="l"/>
              <a:pathLst>
                <a:path h="64008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1043" r="0" b="-45104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1645920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F5833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 · HANDS-ON LAB </a:t>
              </a:r>
              <a:r>
                <a:rPr lang="en-US" b="true" sz="1800" spc="300">
                  <a:solidFill>
                    <a:srgbClr val="F5833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· ~60 MINUTES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60120" y="2743200"/>
            <a:ext cx="13716000" cy="1508760"/>
            <a:chOff x="0" y="0"/>
            <a:chExt cx="18288000" cy="20116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288000" cy="2011680"/>
            </a:xfrm>
            <a:custGeom>
              <a:avLst/>
              <a:gdLst/>
              <a:ahLst/>
              <a:cxnLst/>
              <a:rect r="r" b="b" t="t" l="l"/>
              <a:pathLst>
                <a:path h="20116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136" r="0" b="-127136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8288000" cy="2040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Build. Test. Ask.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50595" y="5065395"/>
            <a:ext cx="2282190" cy="773430"/>
            <a:chOff x="0" y="0"/>
            <a:chExt cx="3042920" cy="10312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042920" cy="1031240"/>
            </a:xfrm>
            <a:custGeom>
              <a:avLst/>
              <a:gdLst/>
              <a:ahLst/>
              <a:cxnLst/>
              <a:rect r="r" b="b" t="t" l="l"/>
              <a:pathLst>
                <a:path h="1031240" w="3042920">
                  <a:moveTo>
                    <a:pt x="0" y="112522"/>
                  </a:moveTo>
                  <a:cubicBezTo>
                    <a:pt x="0" y="50419"/>
                    <a:pt x="50419" y="0"/>
                    <a:pt x="112522" y="0"/>
                  </a:cubicBezTo>
                  <a:lnTo>
                    <a:pt x="2930398" y="0"/>
                  </a:lnTo>
                  <a:cubicBezTo>
                    <a:pt x="2992501" y="0"/>
                    <a:pt x="3042920" y="50419"/>
                    <a:pt x="3042920" y="112522"/>
                  </a:cubicBezTo>
                  <a:lnTo>
                    <a:pt x="3042920" y="918718"/>
                  </a:lnTo>
                  <a:cubicBezTo>
                    <a:pt x="3042920" y="980821"/>
                    <a:pt x="2992501" y="1031240"/>
                    <a:pt x="2930398" y="1031240"/>
                  </a:cubicBezTo>
                  <a:lnTo>
                    <a:pt x="112522" y="1031240"/>
                  </a:lnTo>
                  <a:cubicBezTo>
                    <a:pt x="50419" y="1031240"/>
                    <a:pt x="0" y="980821"/>
                    <a:pt x="0" y="918718"/>
                  </a:cubicBezTo>
                  <a:close/>
                </a:path>
              </a:pathLst>
            </a:custGeom>
            <a:solidFill>
              <a:srgbClr val="141414"/>
            </a:solidFill>
            <a:ln w="19050" cap="sq">
              <a:solidFill>
                <a:srgbClr val="3A3A3A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960120" y="5074920"/>
            <a:ext cx="2263140" cy="754380"/>
            <a:chOff x="0" y="0"/>
            <a:chExt cx="3017520" cy="10058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017520" cy="1005840"/>
            </a:xfrm>
            <a:custGeom>
              <a:avLst/>
              <a:gdLst/>
              <a:ahLst/>
              <a:cxnLst/>
              <a:rect r="r" b="b" t="t" l="l"/>
              <a:pathLst>
                <a:path h="1005840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3017520" cy="10153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Collect · 20 min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3515487" y="5065395"/>
            <a:ext cx="2734818" cy="773430"/>
            <a:chOff x="0" y="0"/>
            <a:chExt cx="3646424" cy="10312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46424" cy="1031240"/>
            </a:xfrm>
            <a:custGeom>
              <a:avLst/>
              <a:gdLst/>
              <a:ahLst/>
              <a:cxnLst/>
              <a:rect r="r" b="b" t="t" l="l"/>
              <a:pathLst>
                <a:path h="1031240" w="3646424">
                  <a:moveTo>
                    <a:pt x="0" y="112522"/>
                  </a:moveTo>
                  <a:cubicBezTo>
                    <a:pt x="0" y="50419"/>
                    <a:pt x="50419" y="0"/>
                    <a:pt x="112522" y="0"/>
                  </a:cubicBezTo>
                  <a:lnTo>
                    <a:pt x="3533902" y="0"/>
                  </a:lnTo>
                  <a:cubicBezTo>
                    <a:pt x="3596005" y="0"/>
                    <a:pt x="3646424" y="50419"/>
                    <a:pt x="3646424" y="112522"/>
                  </a:cubicBezTo>
                  <a:lnTo>
                    <a:pt x="3646424" y="918718"/>
                  </a:lnTo>
                  <a:cubicBezTo>
                    <a:pt x="3646424" y="980821"/>
                    <a:pt x="3596005" y="1031240"/>
                    <a:pt x="3533902" y="1031240"/>
                  </a:cubicBezTo>
                  <a:lnTo>
                    <a:pt x="112522" y="1031240"/>
                  </a:lnTo>
                  <a:cubicBezTo>
                    <a:pt x="50419" y="1031240"/>
                    <a:pt x="0" y="980821"/>
                    <a:pt x="0" y="918718"/>
                  </a:cubicBezTo>
                  <a:close/>
                </a:path>
              </a:pathLst>
            </a:custGeom>
            <a:solidFill>
              <a:srgbClr val="141414"/>
            </a:solidFill>
            <a:ln w="19050" cap="sq">
              <a:solidFill>
                <a:srgbClr val="3A3A3A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3525012" y="5074920"/>
            <a:ext cx="2715768" cy="754380"/>
            <a:chOff x="0" y="0"/>
            <a:chExt cx="3621024" cy="10058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621024" cy="1005840"/>
            </a:xfrm>
            <a:custGeom>
              <a:avLst/>
              <a:gdLst/>
              <a:ahLst/>
              <a:cxnLst/>
              <a:rect r="r" b="b" t="t" l="l"/>
              <a:pathLst>
                <a:path h="1005840" w="3621024">
                  <a:moveTo>
                    <a:pt x="0" y="0"/>
                  </a:moveTo>
                  <a:lnTo>
                    <a:pt x="3621024" y="0"/>
                  </a:lnTo>
                  <a:lnTo>
                    <a:pt x="3621024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146" r="0" b="-20146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3621024" cy="10153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Preprocess · 10 min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533007" y="5065395"/>
            <a:ext cx="1870710" cy="773430"/>
            <a:chOff x="0" y="0"/>
            <a:chExt cx="2494280" cy="10312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494280" cy="1031240"/>
            </a:xfrm>
            <a:custGeom>
              <a:avLst/>
              <a:gdLst/>
              <a:ahLst/>
              <a:cxnLst/>
              <a:rect r="r" b="b" t="t" l="l"/>
              <a:pathLst>
                <a:path h="1031240" w="2494280">
                  <a:moveTo>
                    <a:pt x="0" y="112522"/>
                  </a:moveTo>
                  <a:cubicBezTo>
                    <a:pt x="0" y="50419"/>
                    <a:pt x="50419" y="0"/>
                    <a:pt x="112522" y="0"/>
                  </a:cubicBezTo>
                  <a:lnTo>
                    <a:pt x="2381758" y="0"/>
                  </a:lnTo>
                  <a:cubicBezTo>
                    <a:pt x="2443861" y="0"/>
                    <a:pt x="2494280" y="50419"/>
                    <a:pt x="2494280" y="112522"/>
                  </a:cubicBezTo>
                  <a:lnTo>
                    <a:pt x="2494280" y="918718"/>
                  </a:lnTo>
                  <a:cubicBezTo>
                    <a:pt x="2494280" y="980821"/>
                    <a:pt x="2443861" y="1031240"/>
                    <a:pt x="2381758" y="1031240"/>
                  </a:cubicBezTo>
                  <a:lnTo>
                    <a:pt x="112522" y="1031240"/>
                  </a:lnTo>
                  <a:cubicBezTo>
                    <a:pt x="50419" y="1031240"/>
                    <a:pt x="0" y="980821"/>
                    <a:pt x="0" y="918718"/>
                  </a:cubicBezTo>
                  <a:close/>
                </a:path>
              </a:pathLst>
            </a:custGeom>
            <a:solidFill>
              <a:srgbClr val="141414"/>
            </a:solidFill>
            <a:ln w="19050" cap="sq">
              <a:solidFill>
                <a:srgbClr val="3A3A3A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6542532" y="5074920"/>
            <a:ext cx="1851660" cy="754380"/>
            <a:chOff x="0" y="0"/>
            <a:chExt cx="2468880" cy="10058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46888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468880">
                  <a:moveTo>
                    <a:pt x="0" y="0"/>
                  </a:moveTo>
                  <a:lnTo>
                    <a:pt x="2468880" y="0"/>
                  </a:lnTo>
                  <a:lnTo>
                    <a:pt x="246888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271" t="0" r="-2271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2468880" cy="10153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Train · 5 min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8686419" y="5065395"/>
            <a:ext cx="1829562" cy="773430"/>
            <a:chOff x="0" y="0"/>
            <a:chExt cx="2439416" cy="10312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439416" cy="1031240"/>
            </a:xfrm>
            <a:custGeom>
              <a:avLst/>
              <a:gdLst/>
              <a:ahLst/>
              <a:cxnLst/>
              <a:rect r="r" b="b" t="t" l="l"/>
              <a:pathLst>
                <a:path h="1031240" w="2439416">
                  <a:moveTo>
                    <a:pt x="0" y="112522"/>
                  </a:moveTo>
                  <a:cubicBezTo>
                    <a:pt x="0" y="50419"/>
                    <a:pt x="50419" y="0"/>
                    <a:pt x="112522" y="0"/>
                  </a:cubicBezTo>
                  <a:lnTo>
                    <a:pt x="2326894" y="0"/>
                  </a:lnTo>
                  <a:cubicBezTo>
                    <a:pt x="2388997" y="0"/>
                    <a:pt x="2439416" y="50419"/>
                    <a:pt x="2439416" y="112522"/>
                  </a:cubicBezTo>
                  <a:lnTo>
                    <a:pt x="2439416" y="918718"/>
                  </a:lnTo>
                  <a:cubicBezTo>
                    <a:pt x="2439416" y="980821"/>
                    <a:pt x="2388997" y="1031240"/>
                    <a:pt x="2326894" y="1031240"/>
                  </a:cubicBezTo>
                  <a:lnTo>
                    <a:pt x="112522" y="1031240"/>
                  </a:lnTo>
                  <a:cubicBezTo>
                    <a:pt x="50419" y="1031240"/>
                    <a:pt x="0" y="980821"/>
                    <a:pt x="0" y="918718"/>
                  </a:cubicBezTo>
                  <a:close/>
                </a:path>
              </a:pathLst>
            </a:custGeom>
            <a:solidFill>
              <a:srgbClr val="141414"/>
            </a:solidFill>
            <a:ln w="19050" cap="sq">
              <a:solidFill>
                <a:srgbClr val="3A3A3A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8695944" y="5074920"/>
            <a:ext cx="1810512" cy="754380"/>
            <a:chOff x="0" y="0"/>
            <a:chExt cx="2414016" cy="10058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414016" cy="1005840"/>
            </a:xfrm>
            <a:custGeom>
              <a:avLst/>
              <a:gdLst/>
              <a:ahLst/>
              <a:cxnLst/>
              <a:rect r="r" b="b" t="t" l="l"/>
              <a:pathLst>
                <a:path h="1005840" w="2414016">
                  <a:moveTo>
                    <a:pt x="0" y="0"/>
                  </a:moveTo>
                  <a:lnTo>
                    <a:pt x="2414016" y="0"/>
                  </a:lnTo>
                  <a:lnTo>
                    <a:pt x="2414016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459" t="0" r="-3459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"/>
              <a:ext cx="2414016" cy="10153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Test · 10 min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0798683" y="5065395"/>
            <a:ext cx="2131314" cy="773430"/>
            <a:chOff x="0" y="0"/>
            <a:chExt cx="2841752" cy="10312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841752" cy="1031240"/>
            </a:xfrm>
            <a:custGeom>
              <a:avLst/>
              <a:gdLst/>
              <a:ahLst/>
              <a:cxnLst/>
              <a:rect r="r" b="b" t="t" l="l"/>
              <a:pathLst>
                <a:path h="1031240" w="2841752">
                  <a:moveTo>
                    <a:pt x="0" y="112522"/>
                  </a:moveTo>
                  <a:cubicBezTo>
                    <a:pt x="0" y="50419"/>
                    <a:pt x="50419" y="0"/>
                    <a:pt x="112522" y="0"/>
                  </a:cubicBezTo>
                  <a:lnTo>
                    <a:pt x="2729230" y="0"/>
                  </a:lnTo>
                  <a:cubicBezTo>
                    <a:pt x="2791333" y="0"/>
                    <a:pt x="2841752" y="50419"/>
                    <a:pt x="2841752" y="112522"/>
                  </a:cubicBezTo>
                  <a:lnTo>
                    <a:pt x="2841752" y="918718"/>
                  </a:lnTo>
                  <a:cubicBezTo>
                    <a:pt x="2841752" y="980821"/>
                    <a:pt x="2791333" y="1031240"/>
                    <a:pt x="2729230" y="1031240"/>
                  </a:cubicBezTo>
                  <a:lnTo>
                    <a:pt x="112522" y="1031240"/>
                  </a:lnTo>
                  <a:cubicBezTo>
                    <a:pt x="50419" y="1031240"/>
                    <a:pt x="0" y="980821"/>
                    <a:pt x="0" y="918718"/>
                  </a:cubicBezTo>
                  <a:close/>
                </a:path>
              </a:pathLst>
            </a:custGeom>
            <a:solidFill>
              <a:srgbClr val="141414"/>
            </a:solidFill>
            <a:ln w="19050" cap="sq">
              <a:solidFill>
                <a:srgbClr val="3A3A3A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10808208" y="5074920"/>
            <a:ext cx="2112264" cy="754380"/>
            <a:chOff x="0" y="0"/>
            <a:chExt cx="2816352" cy="10058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816352" cy="1005840"/>
            </a:xfrm>
            <a:custGeom>
              <a:avLst/>
              <a:gdLst/>
              <a:ahLst/>
              <a:cxnLst/>
              <a:rect r="r" b="b" t="t" l="l"/>
              <a:pathLst>
                <a:path h="1005840" w="2816352">
                  <a:moveTo>
                    <a:pt x="0" y="0"/>
                  </a:moveTo>
                  <a:lnTo>
                    <a:pt x="2816352" y="0"/>
                  </a:lnTo>
                  <a:lnTo>
                    <a:pt x="2816352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58" r="0" b="-4558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9525"/>
              <a:ext cx="2816352" cy="10153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Deploy · 10 min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3212699" y="5065395"/>
            <a:ext cx="2433066" cy="773430"/>
            <a:chOff x="0" y="0"/>
            <a:chExt cx="3244088" cy="103124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244088" cy="1031240"/>
            </a:xfrm>
            <a:custGeom>
              <a:avLst/>
              <a:gdLst/>
              <a:ahLst/>
              <a:cxnLst/>
              <a:rect r="r" b="b" t="t" l="l"/>
              <a:pathLst>
                <a:path h="1031240" w="3244088">
                  <a:moveTo>
                    <a:pt x="0" y="112522"/>
                  </a:moveTo>
                  <a:cubicBezTo>
                    <a:pt x="0" y="50419"/>
                    <a:pt x="50419" y="0"/>
                    <a:pt x="112522" y="0"/>
                  </a:cubicBezTo>
                  <a:lnTo>
                    <a:pt x="3131566" y="0"/>
                  </a:lnTo>
                  <a:cubicBezTo>
                    <a:pt x="3193669" y="0"/>
                    <a:pt x="3244088" y="50419"/>
                    <a:pt x="3244088" y="112522"/>
                  </a:cubicBezTo>
                  <a:lnTo>
                    <a:pt x="3244088" y="918718"/>
                  </a:lnTo>
                  <a:cubicBezTo>
                    <a:pt x="3244088" y="980821"/>
                    <a:pt x="3193669" y="1031240"/>
                    <a:pt x="3131566" y="1031240"/>
                  </a:cubicBezTo>
                  <a:lnTo>
                    <a:pt x="112522" y="1031240"/>
                  </a:lnTo>
                  <a:cubicBezTo>
                    <a:pt x="50419" y="1031240"/>
                    <a:pt x="0" y="980821"/>
                    <a:pt x="0" y="918718"/>
                  </a:cubicBezTo>
                  <a:close/>
                </a:path>
              </a:pathLst>
            </a:custGeom>
            <a:solidFill>
              <a:srgbClr val="141414"/>
            </a:solidFill>
            <a:ln w="19050" cap="sq">
              <a:solidFill>
                <a:srgbClr val="3A3A3A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13222224" y="5074920"/>
            <a:ext cx="2414016" cy="754380"/>
            <a:chOff x="0" y="0"/>
            <a:chExt cx="3218688" cy="10058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218688" cy="1005840"/>
            </a:xfrm>
            <a:custGeom>
              <a:avLst/>
              <a:gdLst/>
              <a:ahLst/>
              <a:cxnLst/>
              <a:rect r="r" b="b" t="t" l="l"/>
              <a:pathLst>
                <a:path h="1005840" w="3218688">
                  <a:moveTo>
                    <a:pt x="0" y="0"/>
                  </a:moveTo>
                  <a:lnTo>
                    <a:pt x="3218688" y="0"/>
                  </a:lnTo>
                  <a:lnTo>
                    <a:pt x="3218688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52" r="0" b="-12352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9525"/>
              <a:ext cx="3218688" cy="10153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Evaluate · 5 min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50595" y="6436995"/>
            <a:ext cx="5368290" cy="2625090"/>
            <a:chOff x="0" y="0"/>
            <a:chExt cx="7157720" cy="350012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157720" cy="3500120"/>
            </a:xfrm>
            <a:custGeom>
              <a:avLst/>
              <a:gdLst/>
              <a:ahLst/>
              <a:cxnLst/>
              <a:rect r="r" b="b" t="t" l="l"/>
              <a:pathLst>
                <a:path h="3500120" w="7157720">
                  <a:moveTo>
                    <a:pt x="0" y="128905"/>
                  </a:moveTo>
                  <a:cubicBezTo>
                    <a:pt x="0" y="57785"/>
                    <a:pt x="57785" y="0"/>
                    <a:pt x="128905" y="0"/>
                  </a:cubicBezTo>
                  <a:lnTo>
                    <a:pt x="7028815" y="0"/>
                  </a:lnTo>
                  <a:cubicBezTo>
                    <a:pt x="7100062" y="0"/>
                    <a:pt x="7157720" y="57785"/>
                    <a:pt x="7157720" y="128905"/>
                  </a:cubicBezTo>
                  <a:lnTo>
                    <a:pt x="7157720" y="3371215"/>
                  </a:lnTo>
                  <a:cubicBezTo>
                    <a:pt x="7157720" y="3442462"/>
                    <a:pt x="7099935" y="3500120"/>
                    <a:pt x="7028815" y="3500120"/>
                  </a:cubicBezTo>
                  <a:lnTo>
                    <a:pt x="128905" y="3500120"/>
                  </a:lnTo>
                  <a:cubicBezTo>
                    <a:pt x="57785" y="3500120"/>
                    <a:pt x="0" y="3442335"/>
                    <a:pt x="0" y="3371215"/>
                  </a:cubicBezTo>
                  <a:close/>
                </a:path>
              </a:pathLst>
            </a:custGeom>
            <a:solidFill>
              <a:srgbClr val="141414"/>
            </a:solidFill>
            <a:ln w="19050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1261872" y="6720840"/>
            <a:ext cx="4800600" cy="480060"/>
            <a:chOff x="0" y="0"/>
            <a:chExt cx="6400800" cy="64008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6400800" cy="640080"/>
            </a:xfrm>
            <a:custGeom>
              <a:avLst/>
              <a:gdLst/>
              <a:ahLst/>
              <a:cxnLst/>
              <a:rect r="r" b="b" t="t" l="l"/>
              <a:pathLst>
                <a:path h="64008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9525"/>
              <a:ext cx="6400800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Stuck?</a:t>
              </a: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1261872" y="7221855"/>
            <a:ext cx="4800600" cy="1796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2000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The lab manual has a troubleshooting table — port busy, one-class collapse, upload errors.</a:t>
            </a:r>
          </a:p>
          <a:p>
            <a:pPr algn="l">
              <a:lnSpc>
                <a:spcPts val="2880"/>
              </a:lnSpc>
            </a:pPr>
            <a:r>
              <a:rPr lang="en-US" sz="2000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You can always ask the TA for help at anytime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6601587" y="6436995"/>
            <a:ext cx="5368290" cy="2625090"/>
            <a:chOff x="0" y="0"/>
            <a:chExt cx="7157720" cy="350012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7157720" cy="3500120"/>
            </a:xfrm>
            <a:custGeom>
              <a:avLst/>
              <a:gdLst/>
              <a:ahLst/>
              <a:cxnLst/>
              <a:rect r="r" b="b" t="t" l="l"/>
              <a:pathLst>
                <a:path h="3500120" w="7157720">
                  <a:moveTo>
                    <a:pt x="0" y="128905"/>
                  </a:moveTo>
                  <a:cubicBezTo>
                    <a:pt x="0" y="57785"/>
                    <a:pt x="57785" y="0"/>
                    <a:pt x="128905" y="0"/>
                  </a:cubicBezTo>
                  <a:lnTo>
                    <a:pt x="7028815" y="0"/>
                  </a:lnTo>
                  <a:cubicBezTo>
                    <a:pt x="7100062" y="0"/>
                    <a:pt x="7157720" y="57785"/>
                    <a:pt x="7157720" y="128905"/>
                  </a:cubicBezTo>
                  <a:lnTo>
                    <a:pt x="7157720" y="3371215"/>
                  </a:lnTo>
                  <a:cubicBezTo>
                    <a:pt x="7157720" y="3442462"/>
                    <a:pt x="7099935" y="3500120"/>
                    <a:pt x="7028815" y="3500120"/>
                  </a:cubicBezTo>
                  <a:lnTo>
                    <a:pt x="128905" y="3500120"/>
                  </a:lnTo>
                  <a:cubicBezTo>
                    <a:pt x="57785" y="3500120"/>
                    <a:pt x="0" y="3442335"/>
                    <a:pt x="0" y="3371215"/>
                  </a:cubicBezTo>
                  <a:close/>
                </a:path>
              </a:pathLst>
            </a:custGeom>
            <a:solidFill>
              <a:srgbClr val="141414"/>
            </a:solidFill>
            <a:ln w="19050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6912864" y="6720840"/>
            <a:ext cx="4800600" cy="480060"/>
            <a:chOff x="0" y="0"/>
            <a:chExt cx="6400800" cy="64008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6400800" cy="640080"/>
            </a:xfrm>
            <a:custGeom>
              <a:avLst/>
              <a:gdLst/>
              <a:ahLst/>
              <a:cxnLst/>
              <a:rect r="r" b="b" t="t" l="l"/>
              <a:pathLst>
                <a:path h="64008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9525"/>
              <a:ext cx="6400800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Better result?</a:t>
              </a:r>
            </a:p>
          </p:txBody>
        </p:sp>
      </p:grpSp>
      <p:sp>
        <p:nvSpPr>
          <p:cNvPr name="TextBox 52" id="52"/>
          <p:cNvSpPr txBox="true"/>
          <p:nvPr/>
        </p:nvSpPr>
        <p:spPr>
          <a:xfrm rot="0">
            <a:off x="6912864" y="7221855"/>
            <a:ext cx="4800600" cy="710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2000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Train → test → fix the photos → retrain. Two or three loops are normal.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12252579" y="6436995"/>
            <a:ext cx="5368290" cy="2625090"/>
            <a:chOff x="0" y="0"/>
            <a:chExt cx="7157720" cy="350012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7157720" cy="3500120"/>
            </a:xfrm>
            <a:custGeom>
              <a:avLst/>
              <a:gdLst/>
              <a:ahLst/>
              <a:cxnLst/>
              <a:rect r="r" b="b" t="t" l="l"/>
              <a:pathLst>
                <a:path h="3500120" w="7157720">
                  <a:moveTo>
                    <a:pt x="0" y="128905"/>
                  </a:moveTo>
                  <a:cubicBezTo>
                    <a:pt x="0" y="57785"/>
                    <a:pt x="57785" y="0"/>
                    <a:pt x="128905" y="0"/>
                  </a:cubicBezTo>
                  <a:lnTo>
                    <a:pt x="7028815" y="0"/>
                  </a:lnTo>
                  <a:cubicBezTo>
                    <a:pt x="7100062" y="0"/>
                    <a:pt x="7157720" y="57785"/>
                    <a:pt x="7157720" y="128905"/>
                  </a:cubicBezTo>
                  <a:lnTo>
                    <a:pt x="7157720" y="3371215"/>
                  </a:lnTo>
                  <a:cubicBezTo>
                    <a:pt x="7157720" y="3442462"/>
                    <a:pt x="7099935" y="3500120"/>
                    <a:pt x="7028815" y="3500120"/>
                  </a:cubicBezTo>
                  <a:lnTo>
                    <a:pt x="128905" y="3500120"/>
                  </a:lnTo>
                  <a:cubicBezTo>
                    <a:pt x="57785" y="3500120"/>
                    <a:pt x="0" y="3442335"/>
                    <a:pt x="0" y="3371215"/>
                  </a:cubicBezTo>
                  <a:close/>
                </a:path>
              </a:pathLst>
            </a:custGeom>
            <a:solidFill>
              <a:srgbClr val="141414"/>
            </a:solidFill>
            <a:ln w="19050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12563856" y="6720840"/>
            <a:ext cx="4800600" cy="480060"/>
            <a:chOff x="0" y="0"/>
            <a:chExt cx="6400800" cy="64008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6400800" cy="640080"/>
            </a:xfrm>
            <a:custGeom>
              <a:avLst/>
              <a:gdLst/>
              <a:ahLst/>
              <a:cxnLst/>
              <a:rect r="r" b="b" t="t" l="l"/>
              <a:pathLst>
                <a:path h="64008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9525"/>
              <a:ext cx="6400800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Finished early?</a:t>
              </a:r>
            </a:p>
          </p:txBody>
        </p:sp>
      </p:grpSp>
      <p:sp>
        <p:nvSpPr>
          <p:cNvPr name="TextBox 58" id="58"/>
          <p:cNvSpPr txBox="true"/>
          <p:nvPr/>
        </p:nvSpPr>
        <p:spPr>
          <a:xfrm rot="0">
            <a:off x="12563856" y="7221855"/>
            <a:ext cx="4800600" cy="710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2000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Extensions in the manual: fewer photos, bigger model, new handwriting.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583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9710928"/>
            <a:ext cx="6858000" cy="356616"/>
            <a:chOff x="0" y="0"/>
            <a:chExt cx="9144000" cy="4754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144000" cy="475488"/>
            </a:xfrm>
            <a:custGeom>
              <a:avLst/>
              <a:gdLst/>
              <a:ahLst/>
              <a:cxnLst/>
              <a:rect r="r" b="b" t="t" l="l"/>
              <a:pathLst>
                <a:path h="475488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4712" r="0" b="-32471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9144000" cy="4850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b="true" sz="1125" spc="300">
                  <a:solidFill>
                    <a:srgbClr val="78716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AIOSCOUT · EDGE AI VISION WORKSHOP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685800"/>
            <a:ext cx="16367303" cy="411480"/>
            <a:chOff x="0" y="0"/>
            <a:chExt cx="21823070" cy="5486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823069" cy="548640"/>
            </a:xfrm>
            <a:custGeom>
              <a:avLst/>
              <a:gdLst/>
              <a:ahLst/>
              <a:cxnLst/>
              <a:rect r="r" b="b" t="t" l="l"/>
              <a:pathLst>
                <a:path h="548640" w="21823069">
                  <a:moveTo>
                    <a:pt x="0" y="0"/>
                  </a:moveTo>
                  <a:lnTo>
                    <a:pt x="21823069" y="0"/>
                  </a:lnTo>
                  <a:lnTo>
                    <a:pt x="21823069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5049" r="0" b="-725049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82307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b="true" sz="1725" spc="225">
                  <a:solidFill>
                    <a:srgbClr val="5B5BA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4 · DEMO &amp; SHARING</a:t>
              </a:r>
              <a:r>
                <a:rPr lang="en-US" b="true" sz="1725" spc="225">
                  <a:solidFill>
                    <a:srgbClr val="5B5BA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· ~30 MINUTES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60120" y="1207008"/>
            <a:ext cx="16367303" cy="822960"/>
            <a:chOff x="0" y="0"/>
            <a:chExt cx="21823070" cy="10972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823069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823069">
                  <a:moveTo>
                    <a:pt x="0" y="0"/>
                  </a:moveTo>
                  <a:lnTo>
                    <a:pt x="21823069" y="0"/>
                  </a:lnTo>
                  <a:lnTo>
                    <a:pt x="21823069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7524" r="0" b="-337524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21823070" cy="11258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A1C1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Demo &amp; sharing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960120" y="2510790"/>
            <a:ext cx="137160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250">
                <a:solidFill>
                  <a:srgbClr val="1A1C1C"/>
                </a:solidFill>
                <a:latin typeface="Arial"/>
                <a:ea typeface="Arial"/>
                <a:cs typeface="Arial"/>
                <a:sym typeface="Arial"/>
              </a:rPr>
              <a:t>Every team shows what they built — 1 minutes each.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50595" y="3556635"/>
            <a:ext cx="1802130" cy="1047750"/>
            <a:chOff x="0" y="0"/>
            <a:chExt cx="2402840" cy="1397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402840" cy="1397000"/>
            </a:xfrm>
            <a:custGeom>
              <a:avLst/>
              <a:gdLst/>
              <a:ahLst/>
              <a:cxnLst/>
              <a:rect r="r" b="b" t="t" l="l"/>
              <a:pathLst>
                <a:path h="1397000" w="2402840">
                  <a:moveTo>
                    <a:pt x="0" y="111760"/>
                  </a:moveTo>
                  <a:cubicBezTo>
                    <a:pt x="0" y="50038"/>
                    <a:pt x="50038" y="0"/>
                    <a:pt x="111760" y="0"/>
                  </a:cubicBezTo>
                  <a:lnTo>
                    <a:pt x="2291080" y="0"/>
                  </a:lnTo>
                  <a:cubicBezTo>
                    <a:pt x="2352802" y="0"/>
                    <a:pt x="2402840" y="50038"/>
                    <a:pt x="2402840" y="111760"/>
                  </a:cubicBezTo>
                  <a:lnTo>
                    <a:pt x="2402840" y="1285240"/>
                  </a:lnTo>
                  <a:cubicBezTo>
                    <a:pt x="2402840" y="1346962"/>
                    <a:pt x="2352802" y="1397000"/>
                    <a:pt x="2291080" y="1397000"/>
                  </a:cubicBezTo>
                  <a:lnTo>
                    <a:pt x="111760" y="1397000"/>
                  </a:lnTo>
                  <a:cubicBezTo>
                    <a:pt x="50038" y="1397000"/>
                    <a:pt x="0" y="1346962"/>
                    <a:pt x="0" y="1285240"/>
                  </a:cubicBezTo>
                  <a:close/>
                </a:path>
              </a:pathLst>
            </a:custGeom>
            <a:solidFill>
              <a:srgbClr val="1A1C1C"/>
            </a:solidFill>
            <a:ln w="19050" cap="sq">
              <a:solidFill>
                <a:srgbClr val="1A1C1C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960120" y="3566160"/>
            <a:ext cx="1783080" cy="1028700"/>
            <a:chOff x="0" y="0"/>
            <a:chExt cx="2377440" cy="13716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377440" cy="1371600"/>
            </a:xfrm>
            <a:custGeom>
              <a:avLst/>
              <a:gdLst/>
              <a:ahLst/>
              <a:cxnLst/>
              <a:rect r="r" b="b" t="t" l="l"/>
              <a:pathLst>
                <a:path h="1371600" w="2377440">
                  <a:moveTo>
                    <a:pt x="0" y="0"/>
                  </a:moveTo>
                  <a:lnTo>
                    <a:pt x="2377440" y="0"/>
                  </a:lnTo>
                  <a:lnTo>
                    <a:pt x="237744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021" t="0" r="-24021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2377440" cy="1390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SHOW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3154680" y="3566160"/>
            <a:ext cx="13990320" cy="1028700"/>
            <a:chOff x="0" y="0"/>
            <a:chExt cx="18653760" cy="13716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8653761" cy="1371600"/>
            </a:xfrm>
            <a:custGeom>
              <a:avLst/>
              <a:gdLst/>
              <a:ahLst/>
              <a:cxnLst/>
              <a:rect r="r" b="b" t="t" l="l"/>
              <a:pathLst>
                <a:path h="1371600" w="18653761">
                  <a:moveTo>
                    <a:pt x="0" y="0"/>
                  </a:moveTo>
                  <a:lnTo>
                    <a:pt x="18653761" y="0"/>
                  </a:lnTo>
                  <a:lnTo>
                    <a:pt x="18653761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996" r="0" b="-214996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18653760" cy="1390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525252"/>
                  </a:solidFill>
                  <a:latin typeface="Arial"/>
                  <a:ea typeface="Arial"/>
                  <a:cs typeface="Arial"/>
                  <a:sym typeface="Arial"/>
                </a:rPr>
                <a:t>a live demo: your model reading digits on the car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50595" y="4996815"/>
            <a:ext cx="1802130" cy="1047750"/>
            <a:chOff x="0" y="0"/>
            <a:chExt cx="2402840" cy="1397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402840" cy="1397000"/>
            </a:xfrm>
            <a:custGeom>
              <a:avLst/>
              <a:gdLst/>
              <a:ahLst/>
              <a:cxnLst/>
              <a:rect r="r" b="b" t="t" l="l"/>
              <a:pathLst>
                <a:path h="1397000" w="2402840">
                  <a:moveTo>
                    <a:pt x="0" y="111760"/>
                  </a:moveTo>
                  <a:cubicBezTo>
                    <a:pt x="0" y="50038"/>
                    <a:pt x="50038" y="0"/>
                    <a:pt x="111760" y="0"/>
                  </a:cubicBezTo>
                  <a:lnTo>
                    <a:pt x="2291080" y="0"/>
                  </a:lnTo>
                  <a:cubicBezTo>
                    <a:pt x="2352802" y="0"/>
                    <a:pt x="2402840" y="50038"/>
                    <a:pt x="2402840" y="111760"/>
                  </a:cubicBezTo>
                  <a:lnTo>
                    <a:pt x="2402840" y="1285240"/>
                  </a:lnTo>
                  <a:cubicBezTo>
                    <a:pt x="2402840" y="1346962"/>
                    <a:pt x="2352802" y="1397000"/>
                    <a:pt x="2291080" y="1397000"/>
                  </a:cubicBezTo>
                  <a:lnTo>
                    <a:pt x="111760" y="1397000"/>
                  </a:lnTo>
                  <a:cubicBezTo>
                    <a:pt x="50038" y="1397000"/>
                    <a:pt x="0" y="1346962"/>
                    <a:pt x="0" y="1285240"/>
                  </a:cubicBezTo>
                  <a:close/>
                </a:path>
              </a:pathLst>
            </a:custGeom>
            <a:solidFill>
              <a:srgbClr val="1A1C1C"/>
            </a:solidFill>
            <a:ln w="19050" cap="sq">
              <a:solidFill>
                <a:srgbClr val="1A1C1C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960120" y="5006340"/>
            <a:ext cx="1783080" cy="1028700"/>
            <a:chOff x="0" y="0"/>
            <a:chExt cx="2377440" cy="13716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377440" cy="1371600"/>
            </a:xfrm>
            <a:custGeom>
              <a:avLst/>
              <a:gdLst/>
              <a:ahLst/>
              <a:cxnLst/>
              <a:rect r="r" b="b" t="t" l="l"/>
              <a:pathLst>
                <a:path h="1371600" w="2377440">
                  <a:moveTo>
                    <a:pt x="0" y="0"/>
                  </a:moveTo>
                  <a:lnTo>
                    <a:pt x="2377440" y="0"/>
                  </a:lnTo>
                  <a:lnTo>
                    <a:pt x="237744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021" t="0" r="-24021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2377440" cy="1390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SHOW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3154680" y="5006340"/>
            <a:ext cx="13990320" cy="1028700"/>
            <a:chOff x="0" y="0"/>
            <a:chExt cx="18653760" cy="13716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8653761" cy="1371600"/>
            </a:xfrm>
            <a:custGeom>
              <a:avLst/>
              <a:gdLst/>
              <a:ahLst/>
              <a:cxnLst/>
              <a:rect r="r" b="b" t="t" l="l"/>
              <a:pathLst>
                <a:path h="1371600" w="18653761">
                  <a:moveTo>
                    <a:pt x="0" y="0"/>
                  </a:moveTo>
                  <a:lnTo>
                    <a:pt x="18653761" y="0"/>
                  </a:lnTo>
                  <a:lnTo>
                    <a:pt x="18653761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996" r="0" b="-214996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18653760" cy="1390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525252"/>
                  </a:solidFill>
                  <a:latin typeface="Arial"/>
                  <a:ea typeface="Arial"/>
                  <a:cs typeface="Arial"/>
                  <a:sym typeface="Arial"/>
                </a:rPr>
                <a:t>your scorecard: the 10 unseen digits and your result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50595" y="6436995"/>
            <a:ext cx="1802130" cy="1047750"/>
            <a:chOff x="0" y="0"/>
            <a:chExt cx="2402840" cy="13970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402840" cy="1397000"/>
            </a:xfrm>
            <a:custGeom>
              <a:avLst/>
              <a:gdLst/>
              <a:ahLst/>
              <a:cxnLst/>
              <a:rect r="r" b="b" t="t" l="l"/>
              <a:pathLst>
                <a:path h="1397000" w="2402840">
                  <a:moveTo>
                    <a:pt x="0" y="111760"/>
                  </a:moveTo>
                  <a:cubicBezTo>
                    <a:pt x="0" y="50038"/>
                    <a:pt x="50038" y="0"/>
                    <a:pt x="111760" y="0"/>
                  </a:cubicBezTo>
                  <a:lnTo>
                    <a:pt x="2291080" y="0"/>
                  </a:lnTo>
                  <a:cubicBezTo>
                    <a:pt x="2352802" y="0"/>
                    <a:pt x="2402840" y="50038"/>
                    <a:pt x="2402840" y="111760"/>
                  </a:cubicBezTo>
                  <a:lnTo>
                    <a:pt x="2402840" y="1285240"/>
                  </a:lnTo>
                  <a:cubicBezTo>
                    <a:pt x="2402840" y="1346962"/>
                    <a:pt x="2352802" y="1397000"/>
                    <a:pt x="2291080" y="1397000"/>
                  </a:cubicBezTo>
                  <a:lnTo>
                    <a:pt x="111760" y="1397000"/>
                  </a:lnTo>
                  <a:cubicBezTo>
                    <a:pt x="50038" y="1397000"/>
                    <a:pt x="0" y="1346962"/>
                    <a:pt x="0" y="1285240"/>
                  </a:cubicBezTo>
                  <a:close/>
                </a:path>
              </a:pathLst>
            </a:custGeom>
            <a:solidFill>
              <a:srgbClr val="1A1C1C"/>
            </a:solidFill>
            <a:ln w="19050" cap="sq">
              <a:solidFill>
                <a:srgbClr val="1A1C1C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960120" y="6446520"/>
            <a:ext cx="1783080" cy="1028700"/>
            <a:chOff x="0" y="0"/>
            <a:chExt cx="2377440" cy="13716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377440" cy="1371600"/>
            </a:xfrm>
            <a:custGeom>
              <a:avLst/>
              <a:gdLst/>
              <a:ahLst/>
              <a:cxnLst/>
              <a:rect r="r" b="b" t="t" l="l"/>
              <a:pathLst>
                <a:path h="1371600" w="2377440">
                  <a:moveTo>
                    <a:pt x="0" y="0"/>
                  </a:moveTo>
                  <a:lnTo>
                    <a:pt x="2377440" y="0"/>
                  </a:lnTo>
                  <a:lnTo>
                    <a:pt x="237744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021" t="0" r="-24021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2377440" cy="1390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TELL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3154680" y="6446520"/>
            <a:ext cx="13990320" cy="1028700"/>
            <a:chOff x="0" y="0"/>
            <a:chExt cx="18653760" cy="13716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8653761" cy="1371600"/>
            </a:xfrm>
            <a:custGeom>
              <a:avLst/>
              <a:gdLst/>
              <a:ahLst/>
              <a:cxnLst/>
              <a:rect r="r" b="b" t="t" l="l"/>
              <a:pathLst>
                <a:path h="1371600" w="18653761">
                  <a:moveTo>
                    <a:pt x="0" y="0"/>
                  </a:moveTo>
                  <a:lnTo>
                    <a:pt x="18653761" y="0"/>
                  </a:lnTo>
                  <a:lnTo>
                    <a:pt x="18653761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996" r="0" b="-214996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9050"/>
              <a:ext cx="18653760" cy="1390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525252"/>
                  </a:solidFill>
                  <a:latin typeface="Arial"/>
                  <a:ea typeface="Arial"/>
                  <a:cs typeface="Arial"/>
                  <a:sym typeface="Arial"/>
                </a:rPr>
                <a:t>one change you made, and what happened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950595" y="7877175"/>
            <a:ext cx="1802130" cy="1047750"/>
            <a:chOff x="0" y="0"/>
            <a:chExt cx="2402840" cy="13970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402840" cy="1397000"/>
            </a:xfrm>
            <a:custGeom>
              <a:avLst/>
              <a:gdLst/>
              <a:ahLst/>
              <a:cxnLst/>
              <a:rect r="r" b="b" t="t" l="l"/>
              <a:pathLst>
                <a:path h="1397000" w="2402840">
                  <a:moveTo>
                    <a:pt x="0" y="111760"/>
                  </a:moveTo>
                  <a:cubicBezTo>
                    <a:pt x="0" y="50038"/>
                    <a:pt x="50038" y="0"/>
                    <a:pt x="111760" y="0"/>
                  </a:cubicBezTo>
                  <a:lnTo>
                    <a:pt x="2291080" y="0"/>
                  </a:lnTo>
                  <a:cubicBezTo>
                    <a:pt x="2352802" y="0"/>
                    <a:pt x="2402840" y="50038"/>
                    <a:pt x="2402840" y="111760"/>
                  </a:cubicBezTo>
                  <a:lnTo>
                    <a:pt x="2402840" y="1285240"/>
                  </a:lnTo>
                  <a:cubicBezTo>
                    <a:pt x="2402840" y="1346962"/>
                    <a:pt x="2352802" y="1397000"/>
                    <a:pt x="2291080" y="1397000"/>
                  </a:cubicBezTo>
                  <a:lnTo>
                    <a:pt x="111760" y="1397000"/>
                  </a:lnTo>
                  <a:cubicBezTo>
                    <a:pt x="50038" y="1397000"/>
                    <a:pt x="0" y="1346962"/>
                    <a:pt x="0" y="1285240"/>
                  </a:cubicBezTo>
                  <a:close/>
                </a:path>
              </a:pathLst>
            </a:custGeom>
            <a:solidFill>
              <a:srgbClr val="1A1C1C"/>
            </a:solidFill>
            <a:ln w="19050" cap="sq">
              <a:solidFill>
                <a:srgbClr val="1A1C1C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960120" y="7886700"/>
            <a:ext cx="1783080" cy="1028700"/>
            <a:chOff x="0" y="0"/>
            <a:chExt cx="2377440" cy="13716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377440" cy="1371600"/>
            </a:xfrm>
            <a:custGeom>
              <a:avLst/>
              <a:gdLst/>
              <a:ahLst/>
              <a:cxnLst/>
              <a:rect r="r" b="b" t="t" l="l"/>
              <a:pathLst>
                <a:path h="1371600" w="2377440">
                  <a:moveTo>
                    <a:pt x="0" y="0"/>
                  </a:moveTo>
                  <a:lnTo>
                    <a:pt x="2377440" y="0"/>
                  </a:lnTo>
                  <a:lnTo>
                    <a:pt x="237744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021" t="0" r="-24021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19050"/>
              <a:ext cx="2377440" cy="1390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ASK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3154680" y="7886700"/>
            <a:ext cx="13990320" cy="1028700"/>
            <a:chOff x="0" y="0"/>
            <a:chExt cx="18653760" cy="13716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8653761" cy="1371600"/>
            </a:xfrm>
            <a:custGeom>
              <a:avLst/>
              <a:gdLst/>
              <a:ahLst/>
              <a:cxnLst/>
              <a:rect r="r" b="b" t="t" l="l"/>
              <a:pathLst>
                <a:path h="1371600" w="18653761">
                  <a:moveTo>
                    <a:pt x="0" y="0"/>
                  </a:moveTo>
                  <a:lnTo>
                    <a:pt x="18653761" y="0"/>
                  </a:lnTo>
                  <a:lnTo>
                    <a:pt x="18653761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996" r="0" b="-214996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9050"/>
              <a:ext cx="18653760" cy="1390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525252"/>
                  </a:solidFill>
                  <a:latin typeface="Arial"/>
                  <a:ea typeface="Arial"/>
                  <a:cs typeface="Arial"/>
                  <a:sym typeface="Arial"/>
                </a:rPr>
                <a:t>what would you try with one more hour?</a:t>
              </a: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583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0392" y="9710928"/>
            <a:ext cx="6172200" cy="356616"/>
            <a:chOff x="0" y="0"/>
            <a:chExt cx="8229600" cy="4754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229600" cy="475488"/>
            </a:xfrm>
            <a:custGeom>
              <a:avLst/>
              <a:gdLst/>
              <a:ahLst/>
              <a:cxnLst/>
              <a:rect r="r" b="b" t="t" l="l"/>
              <a:pathLst>
                <a:path h="475488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7241" r="0" b="-28724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8229600" cy="4850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b="true" sz="1125" spc="300">
                  <a:solidFill>
                    <a:srgbClr val="78716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AIOSCOUT · EDGE AI VISION WORKSHOP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697480" y="3977640"/>
            <a:ext cx="12893040" cy="2331720"/>
            <a:chOff x="0" y="0"/>
            <a:chExt cx="17190720" cy="31089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190720" cy="3108960"/>
            </a:xfrm>
            <a:custGeom>
              <a:avLst/>
              <a:gdLst/>
              <a:ahLst/>
              <a:cxnLst/>
              <a:rect r="r" b="b" t="t" l="l"/>
              <a:pathLst>
                <a:path h="3108960" w="17190720">
                  <a:moveTo>
                    <a:pt x="0" y="0"/>
                  </a:moveTo>
                  <a:lnTo>
                    <a:pt x="17190720" y="0"/>
                  </a:lnTo>
                  <a:lnTo>
                    <a:pt x="17190720" y="3108960"/>
                  </a:lnTo>
                  <a:lnTo>
                    <a:pt x="0" y="3108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740" r="0" b="-5774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17190720" cy="31661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559"/>
                </a:lnSpc>
              </a:pPr>
              <a:r>
                <a:rPr lang="en-US" sz="6000" b="true">
                  <a:solidFill>
                    <a:srgbClr val="1A1C1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Thank You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60120" y="685800"/>
            <a:ext cx="16367303" cy="411480"/>
            <a:chOff x="0" y="0"/>
            <a:chExt cx="21823070" cy="548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823069" cy="548640"/>
            </a:xfrm>
            <a:custGeom>
              <a:avLst/>
              <a:gdLst/>
              <a:ahLst/>
              <a:cxnLst/>
              <a:rect r="r" b="b" t="t" l="l"/>
              <a:pathLst>
                <a:path h="548640" w="21823069">
                  <a:moveTo>
                    <a:pt x="0" y="0"/>
                  </a:moveTo>
                  <a:lnTo>
                    <a:pt x="21823069" y="0"/>
                  </a:lnTo>
                  <a:lnTo>
                    <a:pt x="21823069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5049" r="0" b="-725049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2182307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b="true" sz="1725" spc="225">
                  <a:solidFill>
                    <a:srgbClr val="5B5BA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AIOSCOUT WORKSHOP · PHYSICAL AI</a:t>
              </a:r>
            </a:p>
          </p:txBody>
        </p:sp>
      </p:grp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0392" y="9710928"/>
            <a:ext cx="6172200" cy="356616"/>
            <a:chOff x="0" y="0"/>
            <a:chExt cx="8229600" cy="4754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229600" cy="475488"/>
            </a:xfrm>
            <a:custGeom>
              <a:avLst/>
              <a:gdLst/>
              <a:ahLst/>
              <a:cxnLst/>
              <a:rect r="r" b="b" t="t" l="l"/>
              <a:pathLst>
                <a:path h="475488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7241" r="0" b="-28724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8229600" cy="4850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b="true" sz="1125" spc="300">
                  <a:solidFill>
                    <a:srgbClr val="78716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AIOSCOUT · EDGE AI VISION WORKSHOP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697480" y="3977640"/>
            <a:ext cx="12893040" cy="2331720"/>
            <a:chOff x="0" y="0"/>
            <a:chExt cx="17190720" cy="31089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190720" cy="3108960"/>
            </a:xfrm>
            <a:custGeom>
              <a:avLst/>
              <a:gdLst/>
              <a:ahLst/>
              <a:cxnLst/>
              <a:rect r="r" b="b" t="t" l="l"/>
              <a:pathLst>
                <a:path h="3108960" w="17190720">
                  <a:moveTo>
                    <a:pt x="0" y="0"/>
                  </a:moveTo>
                  <a:lnTo>
                    <a:pt x="17190720" y="0"/>
                  </a:lnTo>
                  <a:lnTo>
                    <a:pt x="17190720" y="3108960"/>
                  </a:lnTo>
                  <a:lnTo>
                    <a:pt x="0" y="3108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740" r="0" b="-5774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17190720" cy="31661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559"/>
                </a:lnSpc>
              </a:pPr>
              <a:r>
                <a:rPr lang="en-US" sz="6000" b="true">
                  <a:solidFill>
                    <a:srgbClr val="1A1C1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Q&amp;A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60120" y="685800"/>
            <a:ext cx="16367303" cy="411480"/>
            <a:chOff x="0" y="0"/>
            <a:chExt cx="21823070" cy="548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823069" cy="548640"/>
            </a:xfrm>
            <a:custGeom>
              <a:avLst/>
              <a:gdLst/>
              <a:ahLst/>
              <a:cxnLst/>
              <a:rect r="r" b="b" t="t" l="l"/>
              <a:pathLst>
                <a:path h="548640" w="21823069">
                  <a:moveTo>
                    <a:pt x="0" y="0"/>
                  </a:moveTo>
                  <a:lnTo>
                    <a:pt x="21823069" y="0"/>
                  </a:lnTo>
                  <a:lnTo>
                    <a:pt x="21823069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5049" r="0" b="-725049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2182307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b="true" sz="1725" spc="225">
                  <a:solidFill>
                    <a:srgbClr val="5B5BA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AIOSCOUT WORKSHOP · PHYSICAL AI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DAHUotuHGJw</dc:identifier>
  <dcterms:modified xsi:type="dcterms:W3CDTF">2011-08-01T06:04:30Z</dcterms:modified>
  <cp:revision>1</cp:revision>
  <dc:title>AI_Literacy_Workshop_Slides</dc:title>
</cp:coreProperties>
</file>